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61" r:id="rId5"/>
    <p:sldId id="260" r:id="rId6"/>
    <p:sldId id="262" r:id="rId7"/>
    <p:sldId id="264" r:id="rId8"/>
    <p:sldId id="263" r:id="rId9"/>
    <p:sldId id="265" r:id="rId10"/>
    <p:sldId id="266" r:id="rId11"/>
    <p:sldId id="256"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9" r:id="rId26"/>
    <p:sldId id="350" r:id="rId27"/>
    <p:sldId id="351" r:id="rId28"/>
    <p:sldId id="352" r:id="rId29"/>
    <p:sldId id="353" r:id="rId30"/>
    <p:sldId id="354" r:id="rId31"/>
    <p:sldId id="355" r:id="rId32"/>
    <p:sldId id="356" r:id="rId33"/>
    <p:sldId id="357" r:id="rId34"/>
    <p:sldId id="359" r:id="rId35"/>
    <p:sldId id="360" r:id="rId36"/>
    <p:sldId id="361" r:id="rId37"/>
    <p:sldId id="362" r:id="rId38"/>
    <p:sldId id="363" r:id="rId39"/>
    <p:sldId id="364" r:id="rId40"/>
    <p:sldId id="289" r:id="rId41"/>
    <p:sldId id="365" r:id="rId42"/>
    <p:sldId id="291" r:id="rId43"/>
    <p:sldId id="366" r:id="rId44"/>
    <p:sldId id="367" r:id="rId45"/>
    <p:sldId id="368" r:id="rId46"/>
    <p:sldId id="369" r:id="rId47"/>
    <p:sldId id="370" r:id="rId48"/>
    <p:sldId id="371" r:id="rId49"/>
    <p:sldId id="372" r:id="rId50"/>
    <p:sldId id="373" r:id="rId51"/>
    <p:sldId id="374" r:id="rId52"/>
    <p:sldId id="375" r:id="rId53"/>
    <p:sldId id="376" r:id="rId54"/>
    <p:sldId id="377" r:id="rId55"/>
    <p:sldId id="378" r:id="rId56"/>
    <p:sldId id="379" r:id="rId57"/>
    <p:sldId id="380" r:id="rId58"/>
    <p:sldId id="381" r:id="rId59"/>
    <p:sldId id="382" r:id="rId60"/>
    <p:sldId id="383"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948665-532B-474B-8F5C-AB5B6320F682}">
          <p14:sldIdLst>
            <p14:sldId id="259"/>
            <p14:sldId id="257"/>
            <p14:sldId id="258"/>
            <p14:sldId id="261"/>
            <p14:sldId id="260"/>
            <p14:sldId id="262"/>
            <p14:sldId id="264"/>
            <p14:sldId id="263"/>
            <p14:sldId id="265"/>
            <p14:sldId id="266"/>
            <p14:sldId id="256"/>
            <p14:sldId id="335"/>
            <p14:sldId id="336"/>
            <p14:sldId id="337"/>
            <p14:sldId id="338"/>
            <p14:sldId id="339"/>
            <p14:sldId id="340"/>
            <p14:sldId id="341"/>
            <p14:sldId id="342"/>
            <p14:sldId id="343"/>
            <p14:sldId id="344"/>
            <p14:sldId id="345"/>
            <p14:sldId id="346"/>
            <p14:sldId id="347"/>
            <p14:sldId id="349"/>
            <p14:sldId id="350"/>
            <p14:sldId id="351"/>
            <p14:sldId id="352"/>
            <p14:sldId id="353"/>
            <p14:sldId id="354"/>
            <p14:sldId id="355"/>
            <p14:sldId id="356"/>
            <p14:sldId id="357"/>
            <p14:sldId id="359"/>
            <p14:sldId id="360"/>
            <p14:sldId id="361"/>
            <p14:sldId id="362"/>
            <p14:sldId id="363"/>
            <p14:sldId id="364"/>
            <p14:sldId id="289"/>
            <p14:sldId id="365"/>
            <p14:sldId id="291"/>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19"/>
            <p14:sldId id="320"/>
            <p14:sldId id="321"/>
            <p14:sldId id="322"/>
            <p14:sldId id="323"/>
            <p14:sldId id="324"/>
            <p14:sldId id="325"/>
            <p14:sldId id="326"/>
            <p14:sldId id="327"/>
            <p14:sldId id="328"/>
            <p14:sldId id="329"/>
            <p14:sldId id="330"/>
            <p14:sldId id="331"/>
            <p14:sldId id="332"/>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3" d="100"/>
          <a:sy n="73" d="100"/>
        </p:scale>
        <p:origin x="903"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2B82-5DFE-1B10-8727-B8CF121241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4654F8-5188-6020-52B6-D758D26938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C24F57-F943-1033-7ED5-B0BB1A30041D}"/>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5" name="Footer Placeholder 4">
            <a:extLst>
              <a:ext uri="{FF2B5EF4-FFF2-40B4-BE49-F238E27FC236}">
                <a16:creationId xmlns:a16="http://schemas.microsoft.com/office/drawing/2014/main" id="{BBFDF1EB-6CDC-9F48-8873-026A14FB2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A7281-13C1-ABF6-EDEC-872057ED9CDA}"/>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3180551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83E9-BD03-F479-2059-C9285D90B3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EFD794-CF94-5EBC-B978-EAA5CC86C5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080784-E8E3-20EE-C7BA-0B637ADFFC09}"/>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5" name="Footer Placeholder 4">
            <a:extLst>
              <a:ext uri="{FF2B5EF4-FFF2-40B4-BE49-F238E27FC236}">
                <a16:creationId xmlns:a16="http://schemas.microsoft.com/office/drawing/2014/main" id="{5A061215-A814-D5DC-CFCC-A320E889E5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3DD292-D86F-1E2F-39EE-8610806ABAE6}"/>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200562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FD40-48BB-26E6-9660-9B64837DF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C5D7E0-6C90-4E5B-D5B7-359C57C5E9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5AFFD6-3BEF-6E3C-B025-39E8887A1E3B}"/>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5" name="Footer Placeholder 4">
            <a:extLst>
              <a:ext uri="{FF2B5EF4-FFF2-40B4-BE49-F238E27FC236}">
                <a16:creationId xmlns:a16="http://schemas.microsoft.com/office/drawing/2014/main" id="{21B58328-69E3-B198-F44F-5208E7C0AA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5EE4C-C6D9-5936-9F00-9DAFAC9582BD}"/>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226647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2329-0FD9-EC80-FCCD-5E613FEDD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9BBFEB-E0B7-B990-AA6E-97A3E9FBD1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5B4D63-3422-2D29-51E0-13722B60E8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D58447-DFAA-7854-55C1-97B9D4FE36FF}"/>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6" name="Footer Placeholder 5">
            <a:extLst>
              <a:ext uri="{FF2B5EF4-FFF2-40B4-BE49-F238E27FC236}">
                <a16:creationId xmlns:a16="http://schemas.microsoft.com/office/drawing/2014/main" id="{2984A2D8-5D3A-EF04-3CCC-9935AE9127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735EA9-43F9-D53A-0EF4-3F93806073B0}"/>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3742994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0310-FFBD-F334-B828-578AC0EB51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19F041-7D97-4F20-E56D-1AE1D340B1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AA82D4-2711-08BA-6322-EB265A583C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67230E-C4F2-1419-540A-46709D022D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F3E6A1-AB87-9FAE-D95D-836162F8EA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AAB417-3052-8744-CBBF-6E01FE2462BA}"/>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8" name="Footer Placeholder 7">
            <a:extLst>
              <a:ext uri="{FF2B5EF4-FFF2-40B4-BE49-F238E27FC236}">
                <a16:creationId xmlns:a16="http://schemas.microsoft.com/office/drawing/2014/main" id="{37DF1F35-1F8E-412B-299F-9A30B6FBEA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30003-B01F-02D6-B214-43CAD860DF7A}"/>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83870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E90A-D0E6-5215-2FA2-681BE0199A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8D958F-CFA0-1159-5239-33BB6ACEE209}"/>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4" name="Footer Placeholder 3">
            <a:extLst>
              <a:ext uri="{FF2B5EF4-FFF2-40B4-BE49-F238E27FC236}">
                <a16:creationId xmlns:a16="http://schemas.microsoft.com/office/drawing/2014/main" id="{181EFFDA-E3CF-AD67-2508-1F951EA3DB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0AFF81-39F4-CEB7-FE8C-E9CA1CC08390}"/>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1577580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CB78F-4FCF-E7FF-2CEC-96A03C74EA07}"/>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3" name="Footer Placeholder 2">
            <a:extLst>
              <a:ext uri="{FF2B5EF4-FFF2-40B4-BE49-F238E27FC236}">
                <a16:creationId xmlns:a16="http://schemas.microsoft.com/office/drawing/2014/main" id="{9D29F169-6765-26D2-A27C-8A094B7CA4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2945DF-F36B-FB10-A9AA-2A378195CCF8}"/>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2684657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FB106-3C54-CC40-7737-14C6D1D91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BF51D7-1A21-4D9A-4140-F722FE82CB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BE301-73FB-400E-FAD7-4353CD805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28F7CB-A53D-C531-F61D-19525E27C4FC}"/>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6" name="Footer Placeholder 5">
            <a:extLst>
              <a:ext uri="{FF2B5EF4-FFF2-40B4-BE49-F238E27FC236}">
                <a16:creationId xmlns:a16="http://schemas.microsoft.com/office/drawing/2014/main" id="{DE96FAB0-BA2E-BB42-83F9-1204AC7C1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213C6-7A74-27A2-C907-CAB9F42327BA}"/>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316484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9F5F2-D78B-9AEA-9378-25817E56E5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22303-7AB6-A1A3-57F5-A8C691704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08193B-C914-2F1B-0E54-B313BA75A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CEE514-9FDB-B6D7-5C1F-24AC34994867}"/>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6" name="Footer Placeholder 5">
            <a:extLst>
              <a:ext uri="{FF2B5EF4-FFF2-40B4-BE49-F238E27FC236}">
                <a16:creationId xmlns:a16="http://schemas.microsoft.com/office/drawing/2014/main" id="{B84266AB-7120-6577-9B84-67022427B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4780E-628F-DA6E-BC4E-171DEDF71212}"/>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3000545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F3B4-1AD6-E941-C997-581F640CB9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712B92-0D7D-2C2E-B670-8C1013BDBB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021E1-BCD5-71CF-B110-7D7D36A52058}"/>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5" name="Footer Placeholder 4">
            <a:extLst>
              <a:ext uri="{FF2B5EF4-FFF2-40B4-BE49-F238E27FC236}">
                <a16:creationId xmlns:a16="http://schemas.microsoft.com/office/drawing/2014/main" id="{DA9802E1-0D57-B707-2158-FFFD76EEC3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41771F-60E5-53A1-BE54-E0C18D38F178}"/>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287076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CF97AE-0C07-A4C6-4EC1-10F6A16D2C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C88611-3709-1474-29E7-EB3729AAB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FA044-BA90-5ADE-1FEE-930DE0425BC7}"/>
              </a:ext>
            </a:extLst>
          </p:cNvPr>
          <p:cNvSpPr>
            <a:spLocks noGrp="1"/>
          </p:cNvSpPr>
          <p:nvPr>
            <p:ph type="dt" sz="half" idx="10"/>
          </p:nvPr>
        </p:nvSpPr>
        <p:spPr/>
        <p:txBody>
          <a:bodyPr/>
          <a:lstStyle/>
          <a:p>
            <a:fld id="{ED7A740F-6983-47B2-829E-289475699713}" type="datetimeFigureOut">
              <a:rPr lang="en-US" smtClean="0"/>
              <a:t>10/14/2025</a:t>
            </a:fld>
            <a:endParaRPr lang="en-US"/>
          </a:p>
        </p:txBody>
      </p:sp>
      <p:sp>
        <p:nvSpPr>
          <p:cNvPr id="5" name="Footer Placeholder 4">
            <a:extLst>
              <a:ext uri="{FF2B5EF4-FFF2-40B4-BE49-F238E27FC236}">
                <a16:creationId xmlns:a16="http://schemas.microsoft.com/office/drawing/2014/main" id="{CC9BAAEB-A27C-DA74-F179-F0724B11E8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6060B-E5A2-9BFC-66F6-696224007DB7}"/>
              </a:ext>
            </a:extLst>
          </p:cNvPr>
          <p:cNvSpPr>
            <a:spLocks noGrp="1"/>
          </p:cNvSpPr>
          <p:nvPr>
            <p:ph type="sldNum" sz="quarter" idx="12"/>
          </p:nvPr>
        </p:nvSpPr>
        <p:spPr/>
        <p:txBody>
          <a:bodyPr/>
          <a:lstStyle/>
          <a:p>
            <a:fld id="{7F815566-3CAB-4581-BBF4-A3DCA9FAF371}" type="slidenum">
              <a:rPr lang="en-US" smtClean="0"/>
              <a:t>‹#›</a:t>
            </a:fld>
            <a:endParaRPr lang="en-US"/>
          </a:p>
        </p:txBody>
      </p:sp>
    </p:spTree>
    <p:extLst>
      <p:ext uri="{BB962C8B-B14F-4D97-AF65-F5344CB8AC3E}">
        <p14:creationId xmlns:p14="http://schemas.microsoft.com/office/powerpoint/2010/main" val="3541427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C3E47-4A3F-0414-311A-10BED5818A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4EFC09-D06A-5E9D-3078-93E197A73D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17B389-0262-5F56-6695-30A29C6B2C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7A740F-6983-47B2-829E-289475699713}" type="datetimeFigureOut">
              <a:rPr lang="en-US" smtClean="0"/>
              <a:t>10/14/2025</a:t>
            </a:fld>
            <a:endParaRPr lang="en-US"/>
          </a:p>
        </p:txBody>
      </p:sp>
      <p:sp>
        <p:nvSpPr>
          <p:cNvPr id="5" name="Footer Placeholder 4">
            <a:extLst>
              <a:ext uri="{FF2B5EF4-FFF2-40B4-BE49-F238E27FC236}">
                <a16:creationId xmlns:a16="http://schemas.microsoft.com/office/drawing/2014/main" id="{2FEC50A7-E5C5-AF84-4E0B-9C58F6D9F8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F40FB5-E176-463B-9D86-B641BE8013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15566-3CAB-4581-BBF4-A3DCA9FAF371}" type="slidenum">
              <a:rPr lang="en-US" smtClean="0"/>
              <a:t>‹#›</a:t>
            </a:fld>
            <a:endParaRPr lang="en-US"/>
          </a:p>
        </p:txBody>
      </p:sp>
    </p:spTree>
    <p:extLst>
      <p:ext uri="{BB962C8B-B14F-4D97-AF65-F5344CB8AC3E}">
        <p14:creationId xmlns:p14="http://schemas.microsoft.com/office/powerpoint/2010/main" val="2169339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CD90957-DF86-E92D-16CE-0BFA79A377DB}"/>
              </a:ext>
            </a:extLst>
          </p:cNvPr>
          <p:cNvSpPr txBox="1"/>
          <p:nvPr/>
        </p:nvSpPr>
        <p:spPr>
          <a:xfrm>
            <a:off x="2507226" y="560439"/>
            <a:ext cx="7728155" cy="769441"/>
          </a:xfrm>
          <a:prstGeom prst="rect">
            <a:avLst/>
          </a:prstGeom>
          <a:noFill/>
        </p:spPr>
        <p:txBody>
          <a:bodyPr wrap="square" rtlCol="0">
            <a:spAutoFit/>
          </a:bodyPr>
          <a:lstStyle/>
          <a:p>
            <a:r>
              <a:rPr lang="en-US" sz="4400" b="1" dirty="0">
                <a:solidFill>
                  <a:schemeClr val="bg1"/>
                </a:solidFill>
                <a:latin typeface="Arial Black" panose="020B0A04020102020204" pitchFamily="34" charset="0"/>
              </a:rPr>
              <a:t>NATURAL RESOURCES</a:t>
            </a:r>
          </a:p>
        </p:txBody>
      </p:sp>
      <p:sp>
        <p:nvSpPr>
          <p:cNvPr id="8" name="TextBox 7">
            <a:extLst>
              <a:ext uri="{FF2B5EF4-FFF2-40B4-BE49-F238E27FC236}">
                <a16:creationId xmlns:a16="http://schemas.microsoft.com/office/drawing/2014/main" id="{8059F6D1-671B-4FAA-EAB5-BD3B4C1F3DA0}"/>
              </a:ext>
            </a:extLst>
          </p:cNvPr>
          <p:cNvSpPr txBox="1"/>
          <p:nvPr/>
        </p:nvSpPr>
        <p:spPr>
          <a:xfrm>
            <a:off x="9689690" y="5117691"/>
            <a:ext cx="2802193" cy="1631216"/>
          </a:xfrm>
          <a:prstGeom prst="rect">
            <a:avLst/>
          </a:prstGeom>
          <a:noFill/>
        </p:spPr>
        <p:txBody>
          <a:bodyPr wrap="square" rtlCol="0">
            <a:spAutoFit/>
          </a:bodyPr>
          <a:lstStyle/>
          <a:p>
            <a:r>
              <a:rPr lang="en-US" sz="2000" b="1" dirty="0">
                <a:solidFill>
                  <a:schemeClr val="bg1"/>
                </a:solidFill>
              </a:rPr>
              <a:t>PRESENTATION BY</a:t>
            </a:r>
          </a:p>
          <a:p>
            <a:r>
              <a:rPr lang="en-US" sz="2000" b="1" dirty="0">
                <a:solidFill>
                  <a:schemeClr val="bg1"/>
                </a:solidFill>
              </a:rPr>
              <a:t>SINCHANA</a:t>
            </a:r>
          </a:p>
          <a:p>
            <a:r>
              <a:rPr lang="en-US" sz="2000" b="1" dirty="0">
                <a:solidFill>
                  <a:schemeClr val="bg1"/>
                </a:solidFill>
              </a:rPr>
              <a:t>POORVIKA</a:t>
            </a:r>
          </a:p>
          <a:p>
            <a:r>
              <a:rPr lang="en-US" sz="2000" b="1" dirty="0">
                <a:solidFill>
                  <a:schemeClr val="bg1"/>
                </a:solidFill>
              </a:rPr>
              <a:t>SUPRIYA</a:t>
            </a:r>
          </a:p>
          <a:p>
            <a:r>
              <a:rPr lang="en-US" sz="2000" b="1" dirty="0">
                <a:solidFill>
                  <a:schemeClr val="bg1"/>
                </a:solidFill>
              </a:rPr>
              <a:t>JEEVITHA</a:t>
            </a:r>
          </a:p>
        </p:txBody>
      </p:sp>
    </p:spTree>
    <p:extLst>
      <p:ext uri="{BB962C8B-B14F-4D97-AF65-F5344CB8AC3E}">
        <p14:creationId xmlns:p14="http://schemas.microsoft.com/office/powerpoint/2010/main" val="225885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A1433F2-E18E-0268-74D8-59BCF563399B}"/>
              </a:ext>
            </a:extLst>
          </p:cNvPr>
          <p:cNvSpPr txBox="1"/>
          <p:nvPr/>
        </p:nvSpPr>
        <p:spPr>
          <a:xfrm>
            <a:off x="1" y="1343715"/>
            <a:ext cx="12191999" cy="5816977"/>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Calisto MT" panose="02040603050505030304" pitchFamily="18" charset="0"/>
              </a:rPr>
              <a:t>The word Environment is derived from the French word "Environ" which means "surrounding".</a:t>
            </a:r>
          </a:p>
          <a:p>
            <a:pPr marL="285750" indent="-285750">
              <a:buFont typeface="Arial" panose="020B0604020202020204" pitchFamily="34" charset="0"/>
              <a:buChar char="•"/>
            </a:pPr>
            <a:r>
              <a:rPr lang="en-US" sz="2400" dirty="0">
                <a:latin typeface="Calisto MT" panose="02040603050505030304" pitchFamily="18" charset="0"/>
              </a:rPr>
              <a:t> Our surrounding includes biotic factors like human beings, Plants, animals, microbes, </a:t>
            </a:r>
            <a:r>
              <a:rPr lang="en-US" sz="2400" dirty="0" err="1">
                <a:latin typeface="Calisto MT" panose="02040603050505030304" pitchFamily="18" charset="0"/>
              </a:rPr>
              <a:t>etc</a:t>
            </a:r>
            <a:r>
              <a:rPr lang="en-US" sz="2400" dirty="0">
                <a:latin typeface="Calisto MT" panose="02040603050505030304" pitchFamily="18" charset="0"/>
              </a:rPr>
              <a:t> and abiotic factors such as light, air, water, soil, etc..</a:t>
            </a:r>
          </a:p>
          <a:p>
            <a:pPr marL="285750" indent="-285750">
              <a:buFont typeface="Arial" panose="020B0604020202020204" pitchFamily="34" charset="0"/>
              <a:buChar char="•"/>
            </a:pPr>
            <a:r>
              <a:rPr lang="en-US" sz="2400" dirty="0">
                <a:latin typeface="Calisto MT" panose="02040603050505030304" pitchFamily="18" charset="0"/>
              </a:rPr>
              <a:t>environment consists of an inseparable whole system constituted by physical, chemical, biological, social and cultural elements,. </a:t>
            </a:r>
          </a:p>
          <a:p>
            <a:pPr marL="285750" indent="-285750">
              <a:buFont typeface="Arial" panose="020B0604020202020204" pitchFamily="34" charset="0"/>
              <a:buChar char="•"/>
            </a:pPr>
            <a:r>
              <a:rPr lang="en-US" sz="2400" dirty="0">
                <a:latin typeface="Calisto MT" panose="02040603050505030304" pitchFamily="18" charset="0"/>
              </a:rPr>
              <a:t>The natural environment consist of four interlinking systems namely, the atmosphere, the hydrosphere, the lithosphere and the biosphere. </a:t>
            </a:r>
          </a:p>
          <a:p>
            <a:endParaRPr lang="en-US" sz="2000" dirty="0">
              <a:latin typeface="Calisto MT" panose="02040603050505030304" pitchFamily="18" charset="0"/>
            </a:endParaRPr>
          </a:p>
          <a:p>
            <a:r>
              <a:rPr lang="en-US" sz="2400" dirty="0">
                <a:solidFill>
                  <a:srgbClr val="C00000"/>
                </a:solidFill>
                <a:latin typeface="Arial Black" panose="020B0A04020102020204" pitchFamily="34" charset="0"/>
              </a:rPr>
              <a:t>Environment has been classified into four major components:</a:t>
            </a:r>
          </a:p>
          <a:p>
            <a:r>
              <a:rPr lang="en-US" sz="2400" dirty="0">
                <a:latin typeface="Calisto MT" panose="02040603050505030304" pitchFamily="18" charset="0"/>
              </a:rPr>
              <a:t>Hydrosphere:</a:t>
            </a:r>
          </a:p>
          <a:p>
            <a:r>
              <a:rPr lang="en-US" sz="2400" dirty="0">
                <a:latin typeface="Calisto MT" panose="02040603050505030304" pitchFamily="18" charset="0"/>
              </a:rPr>
              <a:t>Lithosphere:</a:t>
            </a:r>
          </a:p>
          <a:p>
            <a:r>
              <a:rPr lang="en-US" sz="2400" dirty="0">
                <a:latin typeface="Calisto MT" panose="02040603050505030304" pitchFamily="18" charset="0"/>
              </a:rPr>
              <a:t>Atmosphere :</a:t>
            </a:r>
          </a:p>
          <a:p>
            <a:r>
              <a:rPr lang="en-US" sz="2400" dirty="0">
                <a:latin typeface="Calisto MT" panose="02040603050505030304" pitchFamily="18" charset="0"/>
              </a:rPr>
              <a:t>Biosphere:</a:t>
            </a:r>
          </a:p>
          <a:p>
            <a:endParaRPr lang="en-US" sz="2000" dirty="0">
              <a:latin typeface="Calisto MT" panose="02040603050505030304" pitchFamily="18" charset="0"/>
            </a:endParaRPr>
          </a:p>
          <a:p>
            <a:endParaRPr lang="en-US" sz="2000" dirty="0">
              <a:latin typeface="Calisto MT" panose="02040603050505030304" pitchFamily="18" charset="0"/>
            </a:endParaRPr>
          </a:p>
        </p:txBody>
      </p:sp>
      <p:sp>
        <p:nvSpPr>
          <p:cNvPr id="8" name="TextBox 7">
            <a:extLst>
              <a:ext uri="{FF2B5EF4-FFF2-40B4-BE49-F238E27FC236}">
                <a16:creationId xmlns:a16="http://schemas.microsoft.com/office/drawing/2014/main" id="{53A65E6D-E032-37B0-4135-BFF16F73913C}"/>
              </a:ext>
            </a:extLst>
          </p:cNvPr>
          <p:cNvSpPr txBox="1"/>
          <p:nvPr/>
        </p:nvSpPr>
        <p:spPr>
          <a:xfrm>
            <a:off x="2504768" y="287137"/>
            <a:ext cx="7182464" cy="769441"/>
          </a:xfrm>
          <a:prstGeom prst="rect">
            <a:avLst/>
          </a:prstGeom>
          <a:noFill/>
        </p:spPr>
        <p:txBody>
          <a:bodyPr wrap="square" rtlCol="0">
            <a:spAutoFit/>
          </a:bodyPr>
          <a:lstStyle/>
          <a:p>
            <a:pPr algn="ctr"/>
            <a:r>
              <a:rPr lang="en-US" sz="4400" b="1" dirty="0">
                <a:solidFill>
                  <a:srgbClr val="C00000"/>
                </a:solidFill>
                <a:latin typeface="Arial Black" panose="020B0A04020102020204" pitchFamily="34" charset="0"/>
              </a:rPr>
              <a:t>INTRODUCTION</a:t>
            </a:r>
          </a:p>
        </p:txBody>
      </p:sp>
    </p:spTree>
    <p:extLst>
      <p:ext uri="{BB962C8B-B14F-4D97-AF65-F5344CB8AC3E}">
        <p14:creationId xmlns:p14="http://schemas.microsoft.com/office/powerpoint/2010/main" val="2276809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045904-D4DD-9601-DCB6-3D2C11B53B7B}"/>
              </a:ext>
            </a:extLst>
          </p:cNvPr>
          <p:cNvSpPr txBox="1"/>
          <p:nvPr/>
        </p:nvSpPr>
        <p:spPr>
          <a:xfrm>
            <a:off x="0" y="132736"/>
            <a:ext cx="12192000" cy="523220"/>
          </a:xfrm>
          <a:prstGeom prst="rect">
            <a:avLst/>
          </a:prstGeom>
          <a:noFill/>
        </p:spPr>
        <p:txBody>
          <a:bodyPr wrap="square" rtlCol="0">
            <a:spAutoFit/>
          </a:bodyPr>
          <a:lstStyle/>
          <a:p>
            <a:r>
              <a:rPr lang="en-US" sz="2800" b="1" dirty="0">
                <a:solidFill>
                  <a:srgbClr val="C00000"/>
                </a:solidFill>
                <a:latin typeface="Arial Black" panose="020B0A04020102020204" pitchFamily="34" charset="0"/>
              </a:rPr>
              <a:t>Environment has been classified into four major components:</a:t>
            </a:r>
          </a:p>
        </p:txBody>
      </p:sp>
      <p:sp>
        <p:nvSpPr>
          <p:cNvPr id="7" name="TextBox 6">
            <a:extLst>
              <a:ext uri="{FF2B5EF4-FFF2-40B4-BE49-F238E27FC236}">
                <a16:creationId xmlns:a16="http://schemas.microsoft.com/office/drawing/2014/main" id="{14AC0CD2-E8F0-1584-8761-4B3B761DBF76}"/>
              </a:ext>
            </a:extLst>
          </p:cNvPr>
          <p:cNvSpPr txBox="1"/>
          <p:nvPr/>
        </p:nvSpPr>
        <p:spPr>
          <a:xfrm>
            <a:off x="0" y="775415"/>
            <a:ext cx="2344994" cy="523220"/>
          </a:xfrm>
          <a:prstGeom prst="rect">
            <a:avLst/>
          </a:prstGeom>
          <a:noFill/>
        </p:spPr>
        <p:txBody>
          <a:bodyPr wrap="square">
            <a:spAutoFit/>
          </a:bodyPr>
          <a:lstStyle/>
          <a:p>
            <a:r>
              <a:rPr lang="en-US" sz="2800" dirty="0">
                <a:solidFill>
                  <a:srgbClr val="C00000"/>
                </a:solidFill>
                <a:latin typeface="Calisto MT" panose="02040603050505030304" pitchFamily="18" charset="0"/>
              </a:rPr>
              <a:t>Hydrosphere</a:t>
            </a:r>
            <a:r>
              <a:rPr lang="en-US" sz="2800" dirty="0">
                <a:solidFill>
                  <a:srgbClr val="C00000"/>
                </a:solidFill>
              </a:rPr>
              <a:t>:</a:t>
            </a:r>
          </a:p>
        </p:txBody>
      </p:sp>
      <p:sp>
        <p:nvSpPr>
          <p:cNvPr id="9" name="TextBox 8">
            <a:extLst>
              <a:ext uri="{FF2B5EF4-FFF2-40B4-BE49-F238E27FC236}">
                <a16:creationId xmlns:a16="http://schemas.microsoft.com/office/drawing/2014/main" id="{3175936C-95B0-C344-002E-677C7D720911}"/>
              </a:ext>
            </a:extLst>
          </p:cNvPr>
          <p:cNvSpPr txBox="1"/>
          <p:nvPr/>
        </p:nvSpPr>
        <p:spPr>
          <a:xfrm>
            <a:off x="9834" y="1231810"/>
            <a:ext cx="12192000"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listo MT" panose="02040603050505030304" pitchFamily="18" charset="0"/>
              </a:rPr>
              <a:t>Hydrosphere includes all water bodies such as lakes, ponds, rivers, streams and ocean etc.</a:t>
            </a:r>
          </a:p>
          <a:p>
            <a:pPr marL="342900" indent="-342900">
              <a:buFont typeface="Arial" panose="020B0604020202020204" pitchFamily="34" charset="0"/>
              <a:buChar char="•"/>
            </a:pPr>
            <a:r>
              <a:rPr lang="en-US" sz="2400" dirty="0">
                <a:latin typeface="Calisto MT" panose="02040603050505030304" pitchFamily="18" charset="0"/>
              </a:rPr>
              <a:t>Hydrosphere functions in a cyclic nature, which is termed as hydrological  cycle or water cycle</a:t>
            </a:r>
          </a:p>
        </p:txBody>
      </p:sp>
      <p:sp>
        <p:nvSpPr>
          <p:cNvPr id="11" name="TextBox 10">
            <a:extLst>
              <a:ext uri="{FF2B5EF4-FFF2-40B4-BE49-F238E27FC236}">
                <a16:creationId xmlns:a16="http://schemas.microsoft.com/office/drawing/2014/main" id="{FD403083-E480-F137-5BD3-7AB6826D37CD}"/>
              </a:ext>
            </a:extLst>
          </p:cNvPr>
          <p:cNvSpPr txBox="1"/>
          <p:nvPr/>
        </p:nvSpPr>
        <p:spPr>
          <a:xfrm>
            <a:off x="-19668" y="2438119"/>
            <a:ext cx="2089357" cy="523220"/>
          </a:xfrm>
          <a:prstGeom prst="rect">
            <a:avLst/>
          </a:prstGeom>
          <a:noFill/>
        </p:spPr>
        <p:txBody>
          <a:bodyPr wrap="square">
            <a:spAutoFit/>
          </a:bodyPr>
          <a:lstStyle/>
          <a:p>
            <a:r>
              <a:rPr lang="en-US" sz="2800" dirty="0">
                <a:solidFill>
                  <a:srgbClr val="C00000"/>
                </a:solidFill>
                <a:latin typeface="Calisto MT" panose="02040603050505030304" pitchFamily="18" charset="0"/>
              </a:rPr>
              <a:t>Lithosphere:</a:t>
            </a:r>
          </a:p>
        </p:txBody>
      </p:sp>
      <p:sp>
        <p:nvSpPr>
          <p:cNvPr id="13" name="TextBox 12">
            <a:extLst>
              <a:ext uri="{FF2B5EF4-FFF2-40B4-BE49-F238E27FC236}">
                <a16:creationId xmlns:a16="http://schemas.microsoft.com/office/drawing/2014/main" id="{09B4DB3F-6A1B-5CA3-31B5-A6D7B69EE76D}"/>
              </a:ext>
            </a:extLst>
          </p:cNvPr>
          <p:cNvSpPr txBox="1"/>
          <p:nvPr/>
        </p:nvSpPr>
        <p:spPr>
          <a:xfrm>
            <a:off x="-9834" y="3365554"/>
            <a:ext cx="12192000" cy="83099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listo MT" panose="02040603050505030304" pitchFamily="18" charset="0"/>
              </a:rPr>
              <a:t>Lithosphere mainly, contains soil, earth rocks, mountain etc. Lithosphere is divided into three layers-crusts, mantle and core (outer and inner). </a:t>
            </a:r>
          </a:p>
        </p:txBody>
      </p:sp>
      <p:sp>
        <p:nvSpPr>
          <p:cNvPr id="15" name="TextBox 14">
            <a:extLst>
              <a:ext uri="{FF2B5EF4-FFF2-40B4-BE49-F238E27FC236}">
                <a16:creationId xmlns:a16="http://schemas.microsoft.com/office/drawing/2014/main" id="{874A0F35-5312-F625-3AA1-67D23A8B2B76}"/>
              </a:ext>
            </a:extLst>
          </p:cNvPr>
          <p:cNvSpPr txBox="1"/>
          <p:nvPr/>
        </p:nvSpPr>
        <p:spPr>
          <a:xfrm>
            <a:off x="-19668" y="2903889"/>
            <a:ext cx="12418142" cy="46166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listo MT" panose="02040603050505030304" pitchFamily="18" charset="0"/>
              </a:rPr>
              <a:t>Lithosphere means the mantle of rocks constituting the earth's crust.</a:t>
            </a:r>
          </a:p>
        </p:txBody>
      </p:sp>
      <p:sp>
        <p:nvSpPr>
          <p:cNvPr id="17" name="TextBox 16">
            <a:extLst>
              <a:ext uri="{FF2B5EF4-FFF2-40B4-BE49-F238E27FC236}">
                <a16:creationId xmlns:a16="http://schemas.microsoft.com/office/drawing/2014/main" id="{A6E427F3-9206-38F3-4042-46C4012F2160}"/>
              </a:ext>
            </a:extLst>
          </p:cNvPr>
          <p:cNvSpPr txBox="1"/>
          <p:nvPr/>
        </p:nvSpPr>
        <p:spPr>
          <a:xfrm>
            <a:off x="0" y="4338480"/>
            <a:ext cx="6655209" cy="523220"/>
          </a:xfrm>
          <a:prstGeom prst="rect">
            <a:avLst/>
          </a:prstGeom>
          <a:noFill/>
        </p:spPr>
        <p:txBody>
          <a:bodyPr wrap="square">
            <a:spAutoFit/>
          </a:bodyPr>
          <a:lstStyle/>
          <a:p>
            <a:r>
              <a:rPr lang="en-US" sz="2800" dirty="0">
                <a:solidFill>
                  <a:srgbClr val="C00000"/>
                </a:solidFill>
                <a:latin typeface="Calisto MT" panose="02040603050505030304" pitchFamily="18" charset="0"/>
              </a:rPr>
              <a:t>Atmosphere:</a:t>
            </a:r>
          </a:p>
        </p:txBody>
      </p:sp>
      <p:sp>
        <p:nvSpPr>
          <p:cNvPr id="19" name="TextBox 18">
            <a:extLst>
              <a:ext uri="{FF2B5EF4-FFF2-40B4-BE49-F238E27FC236}">
                <a16:creationId xmlns:a16="http://schemas.microsoft.com/office/drawing/2014/main" id="{809AE361-66D9-F82B-7BD8-C845FC77CF8C}"/>
              </a:ext>
            </a:extLst>
          </p:cNvPr>
          <p:cNvSpPr txBox="1"/>
          <p:nvPr/>
        </p:nvSpPr>
        <p:spPr>
          <a:xfrm>
            <a:off x="0" y="4861700"/>
            <a:ext cx="12172332" cy="1938992"/>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listo MT" panose="02040603050505030304" pitchFamily="18" charset="0"/>
              </a:rPr>
              <a:t> Atmosphere is a thin layer which contains gases like oxygen, carbon dioxide etc. and which protects the solid earth and human beings from the harmful radiations of the sun. </a:t>
            </a:r>
          </a:p>
          <a:p>
            <a:pPr marL="342900" indent="-342900">
              <a:buFont typeface="Arial" panose="020B0604020202020204" pitchFamily="34" charset="0"/>
              <a:buChar char="•"/>
            </a:pPr>
            <a:r>
              <a:rPr lang="en-US" sz="2400" dirty="0">
                <a:latin typeface="Calisto MT" panose="02040603050505030304" pitchFamily="18" charset="0"/>
              </a:rPr>
              <a:t>There are five concentric layers within the atmosphere.  </a:t>
            </a:r>
          </a:p>
          <a:p>
            <a:pPr marL="342900" indent="-342900">
              <a:buFont typeface="Arial" panose="020B0604020202020204" pitchFamily="34" charset="0"/>
              <a:buChar char="•"/>
            </a:pPr>
            <a:r>
              <a:rPr lang="en-US" sz="2400" dirty="0">
                <a:latin typeface="Calisto MT" panose="02040603050505030304" pitchFamily="18" charset="0"/>
              </a:rPr>
              <a:t>These include the troposphere, the stratosphere, the mesosphere, the thermosphere and the exosphere</a:t>
            </a:r>
            <a:r>
              <a:rPr lang="en-US" sz="2000" dirty="0"/>
              <a:t>.</a:t>
            </a:r>
            <a:endParaRPr lang="en-US" dirty="0"/>
          </a:p>
        </p:txBody>
      </p:sp>
    </p:spTree>
    <p:extLst>
      <p:ext uri="{BB962C8B-B14F-4D97-AF65-F5344CB8AC3E}">
        <p14:creationId xmlns:p14="http://schemas.microsoft.com/office/powerpoint/2010/main" val="3831951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A478A4-DFF9-E850-CEB0-435AE05E436E}"/>
              </a:ext>
            </a:extLst>
          </p:cNvPr>
          <p:cNvSpPr txBox="1"/>
          <p:nvPr/>
        </p:nvSpPr>
        <p:spPr>
          <a:xfrm>
            <a:off x="0" y="61777"/>
            <a:ext cx="1902542" cy="523220"/>
          </a:xfrm>
          <a:prstGeom prst="rect">
            <a:avLst/>
          </a:prstGeom>
          <a:noFill/>
        </p:spPr>
        <p:txBody>
          <a:bodyPr wrap="square">
            <a:spAutoFit/>
          </a:bodyPr>
          <a:lstStyle/>
          <a:p>
            <a:r>
              <a:rPr lang="en-US" sz="2800" dirty="0">
                <a:solidFill>
                  <a:srgbClr val="C00000"/>
                </a:solidFill>
                <a:latin typeface="Calisto MT" panose="02040603050505030304" pitchFamily="18" charset="0"/>
              </a:rPr>
              <a:t>Biosphere</a:t>
            </a:r>
            <a:r>
              <a:rPr lang="en-US" sz="2400" dirty="0">
                <a:solidFill>
                  <a:srgbClr val="C00000"/>
                </a:solidFill>
                <a:latin typeface="Calisto MT" panose="02040603050505030304" pitchFamily="18" charset="0"/>
              </a:rPr>
              <a:t>:</a:t>
            </a:r>
          </a:p>
        </p:txBody>
      </p:sp>
      <p:sp>
        <p:nvSpPr>
          <p:cNvPr id="6" name="TextBox 5">
            <a:extLst>
              <a:ext uri="{FF2B5EF4-FFF2-40B4-BE49-F238E27FC236}">
                <a16:creationId xmlns:a16="http://schemas.microsoft.com/office/drawing/2014/main" id="{92696F7E-B871-8A29-F097-6EB56B016835}"/>
              </a:ext>
            </a:extLst>
          </p:cNvPr>
          <p:cNvSpPr txBox="1"/>
          <p:nvPr/>
        </p:nvSpPr>
        <p:spPr>
          <a:xfrm>
            <a:off x="-1" y="829753"/>
            <a:ext cx="12191999" cy="156966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listo MT" panose="02040603050505030304" pitchFamily="18" charset="0"/>
              </a:rPr>
              <a:t>Biosphere it is otherwise known as the life layer, it refers to all organisms on the earth's surface and their interaction with water and air. </a:t>
            </a:r>
          </a:p>
          <a:p>
            <a:pPr marL="342900" indent="-342900">
              <a:buFont typeface="Arial" panose="020B0604020202020204" pitchFamily="34" charset="0"/>
              <a:buChar char="•"/>
            </a:pPr>
            <a:r>
              <a:rPr lang="en-US" sz="2400" dirty="0">
                <a:latin typeface="Calisto MT" panose="02040603050505030304" pitchFamily="18" charset="0"/>
              </a:rPr>
              <a:t>It consists of plants, animals and micro-organisms. ranging from the tiniest microscopic organism to the largest whales in the sea.</a:t>
            </a:r>
          </a:p>
        </p:txBody>
      </p:sp>
      <p:sp>
        <p:nvSpPr>
          <p:cNvPr id="8" name="TextBox 7">
            <a:extLst>
              <a:ext uri="{FF2B5EF4-FFF2-40B4-BE49-F238E27FC236}">
                <a16:creationId xmlns:a16="http://schemas.microsoft.com/office/drawing/2014/main" id="{012D4036-F903-B79F-B80E-CA517D288331}"/>
              </a:ext>
            </a:extLst>
          </p:cNvPr>
          <p:cNvSpPr txBox="1"/>
          <p:nvPr/>
        </p:nvSpPr>
        <p:spPr>
          <a:xfrm>
            <a:off x="0" y="2764793"/>
            <a:ext cx="12192000" cy="4154984"/>
          </a:xfrm>
          <a:prstGeom prst="rect">
            <a:avLst/>
          </a:prstGeom>
          <a:noFill/>
        </p:spPr>
        <p:txBody>
          <a:bodyPr wrap="square">
            <a:spAutoFit/>
          </a:bodyPr>
          <a:lstStyle/>
          <a:p>
            <a:r>
              <a:rPr lang="en-US" dirty="0"/>
              <a:t> </a:t>
            </a:r>
            <a:r>
              <a:rPr lang="en-US" sz="2400" dirty="0">
                <a:solidFill>
                  <a:srgbClr val="C00000"/>
                </a:solidFill>
                <a:latin typeface="Arial Black" panose="020B0A04020102020204" pitchFamily="34" charset="0"/>
              </a:rPr>
              <a:t>MULTIDISCIPLINARY NATURE OF ENVIRONMENTAL STUDIES</a:t>
            </a:r>
          </a:p>
          <a:p>
            <a:endParaRPr lang="en-US" sz="2400" dirty="0">
              <a:solidFill>
                <a:srgbClr val="C00000"/>
              </a:solidFill>
              <a:latin typeface="Arial Black" panose="020B0A04020102020204" pitchFamily="34" charset="0"/>
            </a:endParaRPr>
          </a:p>
          <a:p>
            <a:pPr marL="342900" indent="-342900">
              <a:buFont typeface="Arial" panose="020B0604020202020204" pitchFamily="34" charset="0"/>
              <a:buChar char="•"/>
            </a:pPr>
            <a:r>
              <a:rPr lang="en-US" sz="2400" dirty="0"/>
              <a:t>Environmental science is an interdisciplinary academic field that integrates physical and biological sciences and the solution of environmental problems.</a:t>
            </a:r>
          </a:p>
          <a:p>
            <a:pPr marL="342900" indent="-342900">
              <a:buFont typeface="Arial" panose="020B0604020202020204" pitchFamily="34" charset="0"/>
              <a:buChar char="•"/>
            </a:pPr>
            <a:r>
              <a:rPr lang="en-US" sz="2400" dirty="0"/>
              <a:t> Environmental science provides an integrated, quantitative, and interdisciplinary approach to the study of environmental systems.</a:t>
            </a:r>
          </a:p>
          <a:p>
            <a:pPr marL="342900" indent="-342900">
              <a:buFont typeface="Arial" panose="020B0604020202020204" pitchFamily="34" charset="0"/>
              <a:buChar char="•"/>
            </a:pPr>
            <a:r>
              <a:rPr lang="en-US" sz="2400" dirty="0"/>
              <a:t>Environmental scientists work on subjects like the understanding of earth processes, evaluating alternative energy systems, pollution control and mitigation, natural resource management, and the effects of global climate change.</a:t>
            </a:r>
          </a:p>
          <a:p>
            <a:pPr marL="342900" indent="-342900">
              <a:buFont typeface="Arial" panose="020B0604020202020204" pitchFamily="34" charset="0"/>
              <a:buChar char="•"/>
            </a:pPr>
            <a:r>
              <a:rPr lang="en-US" sz="2400" dirty="0"/>
              <a:t> Environmental issues almost always include an interaction of physical, chemical, and biological processes.</a:t>
            </a:r>
          </a:p>
        </p:txBody>
      </p:sp>
    </p:spTree>
    <p:extLst>
      <p:ext uri="{BB962C8B-B14F-4D97-AF65-F5344CB8AC3E}">
        <p14:creationId xmlns:p14="http://schemas.microsoft.com/office/powerpoint/2010/main" val="2675551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C0BB9C8-4A86-4072-E515-B4A7D1B89123}"/>
              </a:ext>
            </a:extLst>
          </p:cNvPr>
          <p:cNvPicPr>
            <a:picLocks noChangeAspect="1"/>
          </p:cNvPicPr>
          <p:nvPr/>
        </p:nvPicPr>
        <p:blipFill>
          <a:blip r:embed="rId2"/>
          <a:stretch>
            <a:fillRect/>
          </a:stretch>
        </p:blipFill>
        <p:spPr>
          <a:xfrm>
            <a:off x="1563330" y="516193"/>
            <a:ext cx="9409471" cy="5884606"/>
          </a:xfrm>
          <a:prstGeom prst="rect">
            <a:avLst/>
          </a:prstGeom>
        </p:spPr>
      </p:pic>
    </p:spTree>
    <p:extLst>
      <p:ext uri="{BB962C8B-B14F-4D97-AF65-F5344CB8AC3E}">
        <p14:creationId xmlns:p14="http://schemas.microsoft.com/office/powerpoint/2010/main" val="1472454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3596A-3A26-862D-2E22-94F8581B50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7467B1-0614-3532-B997-B8AECA187D76}"/>
              </a:ext>
            </a:extLst>
          </p:cNvPr>
          <p:cNvSpPr txBox="1"/>
          <p:nvPr/>
        </p:nvSpPr>
        <p:spPr>
          <a:xfrm>
            <a:off x="0" y="341373"/>
            <a:ext cx="12192000" cy="4031873"/>
          </a:xfrm>
          <a:prstGeom prst="rect">
            <a:avLst/>
          </a:prstGeom>
          <a:noFill/>
        </p:spPr>
        <p:txBody>
          <a:bodyPr wrap="square">
            <a:spAutoFit/>
          </a:bodyPr>
          <a:lstStyle/>
          <a:p>
            <a:r>
              <a:rPr lang="en-US" sz="2800" dirty="0">
                <a:solidFill>
                  <a:srgbClr val="C00000"/>
                </a:solidFill>
                <a:latin typeface="Arial Black" panose="020B0A04020102020204" pitchFamily="34" charset="0"/>
              </a:rPr>
              <a:t>SCOPE OF ENVIRONMENTAL SCIENCE</a:t>
            </a:r>
          </a:p>
          <a:p>
            <a:endParaRPr lang="en-US" sz="2800" dirty="0">
              <a:solidFill>
                <a:srgbClr val="C00000"/>
              </a:solidFill>
              <a:latin typeface="Arial Black" panose="020B0A04020102020204" pitchFamily="34" charset="0"/>
            </a:endParaRPr>
          </a:p>
          <a:p>
            <a:pPr marL="342900" indent="-342900">
              <a:buFont typeface="Arial" panose="020B0604020202020204" pitchFamily="34" charset="0"/>
              <a:buChar char="•"/>
            </a:pPr>
            <a:r>
              <a:rPr lang="en-US" sz="2400" dirty="0">
                <a:latin typeface="Calisto MT" panose="02040603050505030304" pitchFamily="18" charset="0"/>
              </a:rPr>
              <a:t>Because of environmental studies has been seen to be multidisciplinary in nature so it is considered to be a subject with great scope. </a:t>
            </a:r>
          </a:p>
          <a:p>
            <a:pPr marL="342900" indent="-342900">
              <a:buFont typeface="Arial" panose="020B0604020202020204" pitchFamily="34" charset="0"/>
              <a:buChar char="•"/>
            </a:pPr>
            <a:r>
              <a:rPr lang="en-US" sz="2400" dirty="0">
                <a:latin typeface="Calisto MT" panose="02040603050505030304" pitchFamily="18" charset="0"/>
              </a:rPr>
              <a:t>Environment is not limited to issues of sanitation and health but it is now concerned with pollution control, biodiversity conservation, waste management and conservation of natural resources</a:t>
            </a:r>
          </a:p>
          <a:p>
            <a:endParaRPr lang="en-US" sz="2400" dirty="0">
              <a:latin typeface="Calisto MT" panose="02040603050505030304" pitchFamily="18" charset="0"/>
            </a:endParaRPr>
          </a:p>
          <a:p>
            <a:r>
              <a:rPr lang="en-US" sz="2400" dirty="0">
                <a:latin typeface="Calisto MT" panose="02040603050505030304" pitchFamily="18" charset="0"/>
              </a:rPr>
              <a:t>1.  Ecosystem Structure and Function</a:t>
            </a:r>
          </a:p>
          <a:p>
            <a:endParaRPr lang="en-US" sz="2800" dirty="0">
              <a:solidFill>
                <a:srgbClr val="C00000"/>
              </a:solidFill>
              <a:latin typeface="Arial Black" panose="020B0A04020102020204" pitchFamily="34" charset="0"/>
            </a:endParaRPr>
          </a:p>
        </p:txBody>
      </p:sp>
      <p:sp>
        <p:nvSpPr>
          <p:cNvPr id="6" name="TextBox 5">
            <a:extLst>
              <a:ext uri="{FF2B5EF4-FFF2-40B4-BE49-F238E27FC236}">
                <a16:creationId xmlns:a16="http://schemas.microsoft.com/office/drawing/2014/main" id="{EC6F1D30-B5CB-3599-593D-34C9F6F958DE}"/>
              </a:ext>
            </a:extLst>
          </p:cNvPr>
          <p:cNvSpPr txBox="1"/>
          <p:nvPr/>
        </p:nvSpPr>
        <p:spPr>
          <a:xfrm>
            <a:off x="0" y="3911581"/>
            <a:ext cx="12192000" cy="461665"/>
          </a:xfrm>
          <a:prstGeom prst="rect">
            <a:avLst/>
          </a:prstGeom>
          <a:noFill/>
        </p:spPr>
        <p:txBody>
          <a:bodyPr wrap="square">
            <a:spAutoFit/>
          </a:bodyPr>
          <a:lstStyle/>
          <a:p>
            <a:r>
              <a:rPr lang="en-US" sz="2400" dirty="0">
                <a:latin typeface="Calisto MT" panose="02040603050505030304" pitchFamily="18" charset="0"/>
              </a:rPr>
              <a:t>2.  Natural Resource Conservation</a:t>
            </a:r>
          </a:p>
        </p:txBody>
      </p:sp>
      <p:sp>
        <p:nvSpPr>
          <p:cNvPr id="9" name="TextBox 8">
            <a:extLst>
              <a:ext uri="{FF2B5EF4-FFF2-40B4-BE49-F238E27FC236}">
                <a16:creationId xmlns:a16="http://schemas.microsoft.com/office/drawing/2014/main" id="{E60E73AF-76D9-C1D9-D9A1-35F1FAAC0A26}"/>
              </a:ext>
            </a:extLst>
          </p:cNvPr>
          <p:cNvSpPr txBox="1"/>
          <p:nvPr/>
        </p:nvSpPr>
        <p:spPr>
          <a:xfrm>
            <a:off x="0" y="4280913"/>
            <a:ext cx="6216444" cy="461665"/>
          </a:xfrm>
          <a:prstGeom prst="rect">
            <a:avLst/>
          </a:prstGeom>
          <a:noFill/>
        </p:spPr>
        <p:txBody>
          <a:bodyPr wrap="square">
            <a:spAutoFit/>
          </a:bodyPr>
          <a:lstStyle/>
          <a:p>
            <a:r>
              <a:rPr lang="en-US" sz="2400" dirty="0">
                <a:latin typeface="Calisto MT" panose="02040603050505030304" pitchFamily="18" charset="0"/>
              </a:rPr>
              <a:t>3.  Environmental Pollution Control</a:t>
            </a:r>
          </a:p>
        </p:txBody>
      </p:sp>
      <p:sp>
        <p:nvSpPr>
          <p:cNvPr id="11" name="TextBox 10">
            <a:extLst>
              <a:ext uri="{FF2B5EF4-FFF2-40B4-BE49-F238E27FC236}">
                <a16:creationId xmlns:a16="http://schemas.microsoft.com/office/drawing/2014/main" id="{564DDCFE-D13A-F10D-43A2-EB8876E7D53D}"/>
              </a:ext>
            </a:extLst>
          </p:cNvPr>
          <p:cNvSpPr txBox="1"/>
          <p:nvPr/>
        </p:nvSpPr>
        <p:spPr>
          <a:xfrm>
            <a:off x="0" y="4681644"/>
            <a:ext cx="8672052" cy="1569660"/>
          </a:xfrm>
          <a:prstGeom prst="rect">
            <a:avLst/>
          </a:prstGeom>
          <a:noFill/>
        </p:spPr>
        <p:txBody>
          <a:bodyPr wrap="square">
            <a:spAutoFit/>
          </a:bodyPr>
          <a:lstStyle/>
          <a:p>
            <a:pPr marL="457200" indent="-457200">
              <a:buAutoNum type="arabicPeriod" startAt="4"/>
            </a:pPr>
            <a:r>
              <a:rPr lang="en-US" sz="2400" dirty="0">
                <a:latin typeface="Calisto MT" panose="02040603050505030304" pitchFamily="18" charset="0"/>
              </a:rPr>
              <a:t>Environmental management</a:t>
            </a:r>
          </a:p>
          <a:p>
            <a:pPr marL="457200" indent="-457200">
              <a:buAutoNum type="arabicPeriod" startAt="5"/>
            </a:pPr>
            <a:r>
              <a:rPr lang="en-US" sz="2400" dirty="0">
                <a:latin typeface="Calisto MT" panose="02040603050505030304" pitchFamily="18" charset="0"/>
              </a:rPr>
              <a:t>The scope of environmental studies in industries</a:t>
            </a:r>
          </a:p>
          <a:p>
            <a:pPr marL="457200" indent="-457200">
              <a:buAutoNum type="arabicPeriod" startAt="5"/>
            </a:pPr>
            <a:r>
              <a:rPr lang="en-US" sz="2400" dirty="0">
                <a:latin typeface="Calisto MT" panose="02040603050505030304" pitchFamily="18" charset="0"/>
              </a:rPr>
              <a:t>Research and development </a:t>
            </a:r>
          </a:p>
          <a:p>
            <a:pPr marL="457200" indent="-457200">
              <a:buAutoNum type="arabicPeriod" startAt="5"/>
            </a:pPr>
            <a:r>
              <a:rPr lang="en-US" sz="2400" dirty="0">
                <a:latin typeface="Calisto MT" panose="02040603050505030304" pitchFamily="18" charset="0"/>
              </a:rPr>
              <a:t>Social development</a:t>
            </a:r>
          </a:p>
        </p:txBody>
      </p:sp>
    </p:spTree>
    <p:extLst>
      <p:ext uri="{BB962C8B-B14F-4D97-AF65-F5344CB8AC3E}">
        <p14:creationId xmlns:p14="http://schemas.microsoft.com/office/powerpoint/2010/main" val="140147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88A7B29-F20F-3791-B541-BF76631ADF41}"/>
              </a:ext>
            </a:extLst>
          </p:cNvPr>
          <p:cNvSpPr txBox="1"/>
          <p:nvPr/>
        </p:nvSpPr>
        <p:spPr>
          <a:xfrm>
            <a:off x="0" y="459340"/>
            <a:ext cx="12192000" cy="4647426"/>
          </a:xfrm>
          <a:prstGeom prst="rect">
            <a:avLst/>
          </a:prstGeom>
          <a:noFill/>
        </p:spPr>
        <p:txBody>
          <a:bodyPr wrap="square">
            <a:spAutoFit/>
          </a:bodyPr>
          <a:lstStyle/>
          <a:p>
            <a:r>
              <a:rPr lang="en-US" sz="2800" dirty="0">
                <a:solidFill>
                  <a:srgbClr val="C00000"/>
                </a:solidFill>
                <a:latin typeface="Arial Black" panose="020B0A04020102020204" pitchFamily="34" charset="0"/>
              </a:rPr>
              <a:t>IMPORTANCE OF ENVIRONMENT SCIENCE</a:t>
            </a:r>
          </a:p>
          <a:p>
            <a:endParaRPr lang="en-US" sz="2800" dirty="0">
              <a:solidFill>
                <a:srgbClr val="C00000"/>
              </a:solidFill>
              <a:latin typeface="Arial Black" panose="020B0A04020102020204" pitchFamily="34" charset="0"/>
            </a:endParaRPr>
          </a:p>
          <a:p>
            <a:pPr marL="342900" indent="-342900">
              <a:buFont typeface="Arial" panose="020B0604020202020204" pitchFamily="34" charset="0"/>
              <a:buChar char="•"/>
            </a:pPr>
            <a:r>
              <a:rPr lang="en-US" sz="2400" dirty="0">
                <a:latin typeface="Calisto MT" panose="02040603050505030304" pitchFamily="18" charset="0"/>
              </a:rPr>
              <a:t>The environment studies enlighten us, about the importance of protection and conservation of our indiscriminate release of pollution into the environment.</a:t>
            </a:r>
          </a:p>
          <a:p>
            <a:endParaRPr lang="en-US" sz="2400" dirty="0">
              <a:latin typeface="Calisto MT" panose="02040603050505030304" pitchFamily="18" charset="0"/>
            </a:endParaRPr>
          </a:p>
          <a:p>
            <a:pPr marL="342900" indent="-342900">
              <a:buFont typeface="Arial" panose="020B0604020202020204" pitchFamily="34" charset="0"/>
              <a:buChar char="•"/>
            </a:pPr>
            <a:r>
              <a:rPr lang="en-US" sz="2400" dirty="0">
                <a:latin typeface="Calisto MT" panose="02040603050505030304" pitchFamily="18" charset="0"/>
              </a:rPr>
              <a:t>Environment science has become significant for the following reasons:</a:t>
            </a:r>
          </a:p>
          <a:p>
            <a:pPr marL="342900" indent="-342900">
              <a:buFont typeface="Arial" panose="020B0604020202020204" pitchFamily="34" charset="0"/>
              <a:buChar char="•"/>
            </a:pPr>
            <a:endParaRPr lang="en-US" sz="2400" dirty="0">
              <a:latin typeface="Calisto MT" panose="02040603050505030304" pitchFamily="18" charset="0"/>
            </a:endParaRPr>
          </a:p>
          <a:p>
            <a:r>
              <a:rPr lang="en-US" sz="2400" dirty="0">
                <a:latin typeface="Calisto MT" panose="02040603050505030304" pitchFamily="18" charset="0"/>
              </a:rPr>
              <a:t>1.Environment Issues Being of International Importance</a:t>
            </a:r>
          </a:p>
          <a:p>
            <a:r>
              <a:rPr lang="en-US" sz="2400" dirty="0">
                <a:latin typeface="Calisto MT" panose="02040603050505030304" pitchFamily="18" charset="0"/>
              </a:rPr>
              <a:t>2. Problems Cropped in the Wake of Development</a:t>
            </a:r>
          </a:p>
          <a:p>
            <a:r>
              <a:rPr lang="en-US" sz="2400" dirty="0">
                <a:latin typeface="Calisto MT" panose="02040603050505030304" pitchFamily="18" charset="0"/>
              </a:rPr>
              <a:t>3. Explosively Increase in Pollution</a:t>
            </a:r>
          </a:p>
          <a:p>
            <a:r>
              <a:rPr lang="en-US" sz="2400" dirty="0">
                <a:latin typeface="Calisto MT" panose="02040603050505030304" pitchFamily="18" charset="0"/>
              </a:rPr>
              <a:t>4. Need to save humanity from extinction</a:t>
            </a:r>
          </a:p>
          <a:p>
            <a:r>
              <a:rPr lang="en-US" sz="2400" dirty="0">
                <a:latin typeface="Calisto MT" panose="02040603050505030304" pitchFamily="18" charset="0"/>
              </a:rPr>
              <a:t>5. Need to wise planning of development</a:t>
            </a:r>
          </a:p>
        </p:txBody>
      </p:sp>
    </p:spTree>
    <p:extLst>
      <p:ext uri="{BB962C8B-B14F-4D97-AF65-F5344CB8AC3E}">
        <p14:creationId xmlns:p14="http://schemas.microsoft.com/office/powerpoint/2010/main" val="359912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7ACD95E-F785-9E26-F7FA-BE85CB0C9CD2}"/>
              </a:ext>
            </a:extLst>
          </p:cNvPr>
          <p:cNvSpPr txBox="1"/>
          <p:nvPr/>
        </p:nvSpPr>
        <p:spPr>
          <a:xfrm>
            <a:off x="0" y="324466"/>
            <a:ext cx="12192000" cy="5386090"/>
          </a:xfrm>
          <a:prstGeom prst="rect">
            <a:avLst/>
          </a:prstGeom>
          <a:noFill/>
        </p:spPr>
        <p:txBody>
          <a:bodyPr wrap="square">
            <a:spAutoFit/>
          </a:bodyPr>
          <a:lstStyle/>
          <a:p>
            <a:r>
              <a:rPr lang="en-US" sz="2800" dirty="0">
                <a:solidFill>
                  <a:srgbClr val="C00000"/>
                </a:solidFill>
                <a:latin typeface="Arial Black" panose="020B0A04020102020204" pitchFamily="34" charset="0"/>
              </a:rPr>
              <a:t>NEED FOR PUBLIC AWARENESS</a:t>
            </a:r>
          </a:p>
          <a:p>
            <a:endParaRPr lang="en-US" sz="2800" dirty="0">
              <a:solidFill>
                <a:srgbClr val="C00000"/>
              </a:solidFill>
              <a:latin typeface="Arial Black" panose="020B0A04020102020204" pitchFamily="34" charset="0"/>
            </a:endParaRPr>
          </a:p>
          <a:p>
            <a:pPr marL="342900" indent="-342900">
              <a:buFont typeface="Arial" panose="020B0604020202020204" pitchFamily="34" charset="0"/>
              <a:buChar char="•"/>
            </a:pPr>
            <a:r>
              <a:rPr lang="en-US" sz="2400" dirty="0">
                <a:latin typeface="Calisto MT" panose="02040603050505030304" pitchFamily="18" charset="0"/>
              </a:rPr>
              <a:t>It is essential to make the public aware of the formidable consequences of the Environmental Degradation, if not retorted and reformative measures undertaken would result in the extinction of life. </a:t>
            </a:r>
          </a:p>
          <a:p>
            <a:pPr marL="342900" indent="-342900">
              <a:buFont typeface="Arial" panose="020B0604020202020204" pitchFamily="34" charset="0"/>
              <a:buChar char="•"/>
            </a:pPr>
            <a:r>
              <a:rPr lang="en-US" sz="2400" dirty="0">
                <a:latin typeface="Calisto MT" panose="02040603050505030304" pitchFamily="18" charset="0"/>
              </a:rPr>
              <a:t>It is essential to get the country acquainted with these challenges so that their acts may be eco-friendly.</a:t>
            </a:r>
          </a:p>
          <a:p>
            <a:endParaRPr lang="en-US" sz="2400" dirty="0">
              <a:latin typeface="Calisto MT" panose="02040603050505030304" pitchFamily="18" charset="0"/>
            </a:endParaRPr>
          </a:p>
          <a:p>
            <a:r>
              <a:rPr lang="en-US" sz="2400" dirty="0">
                <a:latin typeface="Calisto MT" panose="02040603050505030304" pitchFamily="18" charset="0"/>
              </a:rPr>
              <a:t>Some of these challenges are as under:</a:t>
            </a:r>
          </a:p>
          <a:p>
            <a:r>
              <a:rPr lang="en-US" sz="2400" dirty="0">
                <a:latin typeface="Calisto MT" panose="02040603050505030304" pitchFamily="18" charset="0"/>
              </a:rPr>
              <a:t>1.Growing Population</a:t>
            </a:r>
          </a:p>
          <a:p>
            <a:r>
              <a:rPr lang="en-US" sz="2400" dirty="0">
                <a:latin typeface="Calisto MT" panose="02040603050505030304" pitchFamily="18" charset="0"/>
              </a:rPr>
              <a:t>2.Poverty</a:t>
            </a:r>
          </a:p>
          <a:p>
            <a:r>
              <a:rPr lang="en-US" sz="2400" dirty="0">
                <a:latin typeface="Calisto MT" panose="02040603050505030304" pitchFamily="18" charset="0"/>
              </a:rPr>
              <a:t>3.Agricultural Growth</a:t>
            </a:r>
          </a:p>
          <a:p>
            <a:r>
              <a:rPr lang="en-US" sz="2400" dirty="0">
                <a:latin typeface="Calisto MT" panose="02040603050505030304" pitchFamily="18" charset="0"/>
              </a:rPr>
              <a:t>4.Need to Ground water</a:t>
            </a:r>
          </a:p>
          <a:p>
            <a:r>
              <a:rPr lang="en-US" sz="2400" dirty="0">
                <a:latin typeface="Calisto MT" panose="02040603050505030304" pitchFamily="18" charset="0"/>
              </a:rPr>
              <a:t>5.Development and Forests</a:t>
            </a:r>
          </a:p>
        </p:txBody>
      </p:sp>
    </p:spTree>
    <p:extLst>
      <p:ext uri="{BB962C8B-B14F-4D97-AF65-F5344CB8AC3E}">
        <p14:creationId xmlns:p14="http://schemas.microsoft.com/office/powerpoint/2010/main" val="2609628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11741B5-A86E-EBDC-915F-01019938BEA5}"/>
              </a:ext>
            </a:extLst>
          </p:cNvPr>
          <p:cNvGraphicFramePr>
            <a:graphicFrameLocks noGrp="1"/>
          </p:cNvGraphicFramePr>
          <p:nvPr>
            <p:extLst>
              <p:ext uri="{D42A27DB-BD31-4B8C-83A1-F6EECF244321}">
                <p14:modId xmlns:p14="http://schemas.microsoft.com/office/powerpoint/2010/main" val="3212203676"/>
              </p:ext>
            </p:extLst>
          </p:nvPr>
        </p:nvGraphicFramePr>
        <p:xfrm>
          <a:off x="0" y="0"/>
          <a:ext cx="12221496" cy="7519146"/>
        </p:xfrm>
        <a:graphic>
          <a:graphicData uri="http://schemas.openxmlformats.org/drawingml/2006/table">
            <a:tbl>
              <a:tblPr firstRow="1" bandRow="1">
                <a:tableStyleId>{08FB837D-C827-4EFA-A057-4D05807E0F7C}</a:tableStyleId>
              </a:tblPr>
              <a:tblGrid>
                <a:gridCol w="1974941">
                  <a:extLst>
                    <a:ext uri="{9D8B030D-6E8A-4147-A177-3AD203B41FA5}">
                      <a16:colId xmlns:a16="http://schemas.microsoft.com/office/drawing/2014/main" val="1612509911"/>
                    </a:ext>
                  </a:extLst>
                </a:gridCol>
                <a:gridCol w="2049311">
                  <a:extLst>
                    <a:ext uri="{9D8B030D-6E8A-4147-A177-3AD203B41FA5}">
                      <a16:colId xmlns:a16="http://schemas.microsoft.com/office/drawing/2014/main" val="865160639"/>
                    </a:ext>
                  </a:extLst>
                </a:gridCol>
                <a:gridCol w="2049311">
                  <a:extLst>
                    <a:ext uri="{9D8B030D-6E8A-4147-A177-3AD203B41FA5}">
                      <a16:colId xmlns:a16="http://schemas.microsoft.com/office/drawing/2014/main" val="3150567195"/>
                    </a:ext>
                  </a:extLst>
                </a:gridCol>
                <a:gridCol w="2049311">
                  <a:extLst>
                    <a:ext uri="{9D8B030D-6E8A-4147-A177-3AD203B41FA5}">
                      <a16:colId xmlns:a16="http://schemas.microsoft.com/office/drawing/2014/main" val="4268077180"/>
                    </a:ext>
                  </a:extLst>
                </a:gridCol>
                <a:gridCol w="2049311">
                  <a:extLst>
                    <a:ext uri="{9D8B030D-6E8A-4147-A177-3AD203B41FA5}">
                      <a16:colId xmlns:a16="http://schemas.microsoft.com/office/drawing/2014/main" val="2849046164"/>
                    </a:ext>
                  </a:extLst>
                </a:gridCol>
                <a:gridCol w="2049311">
                  <a:extLst>
                    <a:ext uri="{9D8B030D-6E8A-4147-A177-3AD203B41FA5}">
                      <a16:colId xmlns:a16="http://schemas.microsoft.com/office/drawing/2014/main" val="2785100774"/>
                    </a:ext>
                  </a:extLst>
                </a:gridCol>
              </a:tblGrid>
              <a:tr h="1118346">
                <a:tc>
                  <a:txBody>
                    <a:bodyPr/>
                    <a:lstStyle/>
                    <a:p>
                      <a:r>
                        <a:rPr lang="en-US" dirty="0"/>
                        <a:t>FOREST </a:t>
                      </a:r>
                    </a:p>
                    <a:p>
                      <a:r>
                        <a:rPr lang="en-US" dirty="0"/>
                        <a:t>RESOURCES</a:t>
                      </a:r>
                    </a:p>
                  </a:txBody>
                  <a:tcPr/>
                </a:tc>
                <a:tc>
                  <a:txBody>
                    <a:bodyPr/>
                    <a:lstStyle/>
                    <a:p>
                      <a:r>
                        <a:rPr lang="en-US" dirty="0"/>
                        <a:t>WATER</a:t>
                      </a:r>
                    </a:p>
                    <a:p>
                      <a:r>
                        <a:rPr lang="en-US" dirty="0"/>
                        <a:t> RESOURCES</a:t>
                      </a:r>
                    </a:p>
                  </a:txBody>
                  <a:tcPr/>
                </a:tc>
                <a:tc>
                  <a:txBody>
                    <a:bodyPr/>
                    <a:lstStyle/>
                    <a:p>
                      <a:r>
                        <a:rPr lang="en-US" dirty="0"/>
                        <a:t>MINERAL</a:t>
                      </a:r>
                    </a:p>
                    <a:p>
                      <a:r>
                        <a:rPr lang="en-US" dirty="0"/>
                        <a:t>RESOURCES</a:t>
                      </a:r>
                    </a:p>
                  </a:txBody>
                  <a:tcPr/>
                </a:tc>
                <a:tc>
                  <a:txBody>
                    <a:bodyPr/>
                    <a:lstStyle/>
                    <a:p>
                      <a:r>
                        <a:rPr lang="en-US" dirty="0"/>
                        <a:t>FOOD </a:t>
                      </a:r>
                    </a:p>
                    <a:p>
                      <a:r>
                        <a:rPr lang="en-US" dirty="0"/>
                        <a:t>RESOURCES</a:t>
                      </a:r>
                    </a:p>
                    <a:p>
                      <a:endParaRPr lang="en-US" dirty="0"/>
                    </a:p>
                  </a:txBody>
                  <a:tcPr/>
                </a:tc>
                <a:tc>
                  <a:txBody>
                    <a:bodyPr/>
                    <a:lstStyle/>
                    <a:p>
                      <a:r>
                        <a:rPr lang="en-US" dirty="0"/>
                        <a:t>ENERGY</a:t>
                      </a:r>
                    </a:p>
                    <a:p>
                      <a:r>
                        <a:rPr lang="en-US" dirty="0"/>
                        <a:t>RESOURCES</a:t>
                      </a:r>
                    </a:p>
                  </a:txBody>
                  <a:tcPr/>
                </a:tc>
                <a:tc>
                  <a:txBody>
                    <a:bodyPr/>
                    <a:lstStyle/>
                    <a:p>
                      <a:r>
                        <a:rPr lang="en-US" dirty="0"/>
                        <a:t>LAND</a:t>
                      </a:r>
                    </a:p>
                    <a:p>
                      <a:r>
                        <a:rPr lang="en-US" dirty="0"/>
                        <a:t>RESOURCES</a:t>
                      </a:r>
                    </a:p>
                  </a:txBody>
                  <a:tcPr/>
                </a:tc>
                <a:extLst>
                  <a:ext uri="{0D108BD9-81ED-4DB2-BD59-A6C34878D82A}">
                    <a16:rowId xmlns:a16="http://schemas.microsoft.com/office/drawing/2014/main" val="1617406436"/>
                  </a:ext>
                </a:extLst>
              </a:tr>
              <a:tr h="2952434">
                <a:tc>
                  <a:txBody>
                    <a:bodyPr/>
                    <a:lstStyle/>
                    <a:p>
                      <a:r>
                        <a:rPr lang="en-US" sz="1800" b="0" i="0" kern="1200" dirty="0">
                          <a:solidFill>
                            <a:schemeClr val="dk1"/>
                          </a:solidFill>
                          <a:effectLst/>
                          <a:latin typeface="+mn-lt"/>
                          <a:ea typeface="+mn-ea"/>
                          <a:cs typeface="+mn-cs"/>
                        </a:rPr>
                        <a:t>MEANING  </a:t>
                      </a:r>
                      <a:r>
                        <a:rPr lang="en-US" sz="1800" b="0" i="0" kern="1200" dirty="0">
                          <a:solidFill>
                            <a:schemeClr val="dk1"/>
                          </a:solidFill>
                          <a:effectLst/>
                          <a:latin typeface="+mn-lt"/>
                          <a:ea typeface="+mn-ea"/>
                          <a:cs typeface="+mn-cs"/>
                          <a:sym typeface="Wingdings" panose="05000000000000000000" pitchFamily="2" charset="2"/>
                        </a:rPr>
                        <a:t></a:t>
                      </a:r>
                      <a:endParaRPr lang="en-US" sz="1800" b="0" i="0" kern="1200" dirty="0">
                        <a:solidFill>
                          <a:schemeClr val="dk1"/>
                        </a:solidFill>
                        <a:effectLst/>
                        <a:latin typeface="+mn-lt"/>
                        <a:ea typeface="+mn-ea"/>
                        <a:cs typeface="+mn-cs"/>
                      </a:endParaRPr>
                    </a:p>
                    <a:p>
                      <a:endParaRPr lang="en-US" sz="1800" b="0" i="0" kern="1200" dirty="0">
                        <a:solidFill>
                          <a:schemeClr val="dk1"/>
                        </a:solidFill>
                        <a:effectLst/>
                        <a:latin typeface="+mn-lt"/>
                        <a:ea typeface="+mn-ea"/>
                        <a:cs typeface="+mn-cs"/>
                      </a:endParaRPr>
                    </a:p>
                    <a:p>
                      <a:r>
                        <a:rPr lang="en-US" sz="1800" b="0" i="0" kern="1200" dirty="0">
                          <a:solidFill>
                            <a:schemeClr val="dk1"/>
                          </a:solidFill>
                          <a:effectLst/>
                          <a:latin typeface="+mn-lt"/>
                          <a:ea typeface="+mn-ea"/>
                          <a:cs typeface="+mn-cs"/>
                        </a:rPr>
                        <a:t>the natural goods and ecological services that forests provide, including materials like timber, fuelwood, and food</a:t>
                      </a:r>
                      <a:endParaRPr lang="en-US" sz="1800" dirty="0"/>
                    </a:p>
                  </a:txBody>
                  <a:tcPr/>
                </a:tc>
                <a:tc>
                  <a:txBody>
                    <a:bodyPr/>
                    <a:lstStyle/>
                    <a:p>
                      <a:r>
                        <a:rPr lang="en-US" sz="1600" b="0" i="0" kern="1200" dirty="0">
                          <a:solidFill>
                            <a:schemeClr val="dk1"/>
                          </a:solidFill>
                          <a:effectLst/>
                          <a:latin typeface="+mn-lt"/>
                          <a:ea typeface="+mn-ea"/>
                          <a:cs typeface="+mn-cs"/>
                        </a:rPr>
                        <a:t>natural sources of water such as rivers, lakes, groundwater, and even</a:t>
                      </a:r>
                    </a:p>
                    <a:p>
                      <a:r>
                        <a:rPr lang="en-US" sz="1600" b="0" i="0" kern="1200" dirty="0">
                          <a:solidFill>
                            <a:schemeClr val="dk1"/>
                          </a:solidFill>
                          <a:effectLst/>
                          <a:latin typeface="+mn-lt"/>
                          <a:ea typeface="+mn-ea"/>
                          <a:cs typeface="+mn-cs"/>
                        </a:rPr>
                        <a:t>atmospheric water that are useful to humans and ecosystems for various purposes like drinking, agriculture, and industry</a:t>
                      </a:r>
                      <a:endParaRPr lang="en-US" sz="1600" dirty="0"/>
                    </a:p>
                  </a:txBody>
                  <a:tcPr/>
                </a:tc>
                <a:tc>
                  <a:txBody>
                    <a:bodyPr/>
                    <a:lstStyle/>
                    <a:p>
                      <a:r>
                        <a:rPr lang="en-US" sz="1600" b="0" i="0" kern="1200" dirty="0">
                          <a:solidFill>
                            <a:schemeClr val="dk1"/>
                          </a:solidFill>
                          <a:effectLst/>
                          <a:latin typeface="+mn-lt"/>
                          <a:ea typeface="+mn-ea"/>
                          <a:cs typeface="+mn-cs"/>
                        </a:rPr>
                        <a:t>naturally occurring solid, liquid, or gaseous materials in the Earth's crust that have a defined chemical and physical property and are concentrated in sufficient quantities to be extracted for economic use</a:t>
                      </a:r>
                      <a:endParaRPr lang="en-US" sz="1600" dirty="0"/>
                    </a:p>
                  </a:txBody>
                  <a:tcPr/>
                </a:tc>
                <a:tc>
                  <a:txBody>
                    <a:bodyPr/>
                    <a:lstStyle/>
                    <a:p>
                      <a:r>
                        <a:rPr lang="en-US" sz="1600" b="0" i="0" kern="1200" dirty="0">
                          <a:solidFill>
                            <a:schemeClr val="dk1"/>
                          </a:solidFill>
                          <a:effectLst/>
                          <a:latin typeface="+mn-lt"/>
                          <a:ea typeface="+mn-ea"/>
                          <a:cs typeface="+mn-cs"/>
                        </a:rPr>
                        <a:t>the supply of edible substances like crops, livestock,  fish, that are available to feed humans and animals, meeting their need for nutrients like carbohydrates, fats, proteins, vitamins, and minerals necessary for growth and life</a:t>
                      </a:r>
                      <a:endParaRPr lang="en-US" sz="1400" dirty="0"/>
                    </a:p>
                  </a:txBody>
                  <a:tcPr/>
                </a:tc>
                <a:tc>
                  <a:txBody>
                    <a:bodyPr/>
                    <a:lstStyle/>
                    <a:p>
                      <a:r>
                        <a:rPr lang="en-US" sz="1800" b="0" i="0" kern="1200" dirty="0">
                          <a:solidFill>
                            <a:schemeClr val="dk1"/>
                          </a:solidFill>
                          <a:effectLst/>
                          <a:latin typeface="+mn-lt"/>
                          <a:ea typeface="+mn-ea"/>
                          <a:cs typeface="+mn-cs"/>
                        </a:rPr>
                        <a:t>natural substances or phenomena, like coal, solar radiation, or wind, that are used to generate power, heat, or electricity for various human activities and industrial uses</a:t>
                      </a:r>
                      <a:endParaRPr lang="en-US" dirty="0"/>
                    </a:p>
                  </a:txBody>
                  <a:tcPr/>
                </a:tc>
                <a:tc>
                  <a:txBody>
                    <a:bodyPr/>
                    <a:lstStyle/>
                    <a:p>
                      <a:r>
                        <a:rPr lang="en-US" sz="1800" b="0" i="0" kern="1200" dirty="0">
                          <a:solidFill>
                            <a:schemeClr val="dk1"/>
                          </a:solidFill>
                          <a:effectLst/>
                          <a:latin typeface="+mn-lt"/>
                          <a:ea typeface="+mn-ea"/>
                          <a:cs typeface="+mn-cs"/>
                        </a:rPr>
                        <a:t>the natural assets found on and within the Earth's surface that are used to meet human needs, including agriculture, industry, housing, and recreation</a:t>
                      </a:r>
                      <a:endParaRPr lang="en-US" dirty="0"/>
                    </a:p>
                  </a:txBody>
                  <a:tcPr/>
                </a:tc>
                <a:extLst>
                  <a:ext uri="{0D108BD9-81ED-4DB2-BD59-A6C34878D82A}">
                    <a16:rowId xmlns:a16="http://schemas.microsoft.com/office/drawing/2014/main" val="938891720"/>
                  </a:ext>
                </a:extLst>
              </a:tr>
              <a:tr h="3111686">
                <a:tc>
                  <a:txBody>
                    <a:bodyPr/>
                    <a:lstStyle/>
                    <a:p>
                      <a:r>
                        <a:rPr lang="en-US" sz="2000" dirty="0"/>
                        <a:t>EFFECTS</a:t>
                      </a:r>
                      <a:r>
                        <a:rPr lang="en-US" sz="1600" dirty="0"/>
                        <a:t>     </a:t>
                      </a:r>
                      <a:r>
                        <a:rPr lang="en-US" sz="1600" dirty="0">
                          <a:sym typeface="Wingdings" panose="05000000000000000000" pitchFamily="2" charset="2"/>
                        </a:rPr>
                        <a:t></a:t>
                      </a:r>
                    </a:p>
                    <a:p>
                      <a:r>
                        <a:rPr lang="en-US" sz="2000" b="0" i="0" kern="1200" dirty="0">
                          <a:solidFill>
                            <a:schemeClr val="dk1"/>
                          </a:solidFill>
                          <a:effectLst/>
                          <a:latin typeface="+mn-lt"/>
                          <a:ea typeface="+mn-ea"/>
                          <a:cs typeface="+mn-cs"/>
                        </a:rPr>
                        <a:t>deforestation, leading to habitat loss and biodiversity loss, soil erosion, and disruption of water cycles</a:t>
                      </a:r>
                      <a:endParaRPr lang="en-US" sz="2000" dirty="0"/>
                    </a:p>
                  </a:txBody>
                  <a:tcPr/>
                </a:tc>
                <a:tc>
                  <a:txBody>
                    <a:bodyPr/>
                    <a:lstStyle/>
                    <a:p>
                      <a:r>
                        <a:rPr lang="en-US" sz="1800" b="0" i="0" kern="1200" dirty="0">
                          <a:solidFill>
                            <a:schemeClr val="dk1"/>
                          </a:solidFill>
                          <a:effectLst/>
                          <a:latin typeface="+mn-lt"/>
                          <a:ea typeface="+mn-ea"/>
                          <a:cs typeface="+mn-cs"/>
                        </a:rPr>
                        <a:t>water pollution from industrial waste, agricultural runoff,  untreated sewage, which contaminates drinking water, leading to waterborne diseases like cholera and typhoid</a:t>
                      </a:r>
                      <a:endParaRPr lang="en-US" dirty="0"/>
                    </a:p>
                  </a:txBody>
                  <a:tcPr/>
                </a:tc>
                <a:tc>
                  <a:txBody>
                    <a:bodyPr/>
                    <a:lstStyle/>
                    <a:p>
                      <a:r>
                        <a:rPr lang="en-US" sz="1800" b="0" i="0" kern="1200" dirty="0">
                          <a:solidFill>
                            <a:schemeClr val="dk1"/>
                          </a:solidFill>
                          <a:effectLst/>
                          <a:latin typeface="+mn-lt"/>
                          <a:ea typeface="+mn-ea"/>
                          <a:cs typeface="+mn-cs"/>
                        </a:rPr>
                        <a:t>environmental damage,  air and water pollution, soil erosion, deforestation, and habitat loss, as well as negative impacts on communities like health problems, displacement</a:t>
                      </a:r>
                      <a:endParaRPr lang="en-US" dirty="0"/>
                    </a:p>
                  </a:txBody>
                  <a:tcPr/>
                </a:tc>
                <a:tc>
                  <a:txBody>
                    <a:bodyPr/>
                    <a:lstStyle/>
                    <a:p>
                      <a:r>
                        <a:rPr lang="en-US" sz="1800" b="0" i="0" kern="1200" dirty="0">
                          <a:solidFill>
                            <a:schemeClr val="dk1"/>
                          </a:solidFill>
                          <a:effectLst/>
                          <a:latin typeface="+mn-lt"/>
                          <a:ea typeface="+mn-ea"/>
                          <a:cs typeface="+mn-cs"/>
                        </a:rPr>
                        <a:t> habitat destruction ,greenhouse gas emissions from agriculture; water and soil pollution from agricultural runoff,  including obesity and nutrient deficiencies from unhealthy food systems</a:t>
                      </a:r>
                      <a:endParaRPr lang="en-US" dirty="0"/>
                    </a:p>
                  </a:txBody>
                  <a:tcPr/>
                </a:tc>
                <a:tc>
                  <a:txBody>
                    <a:bodyPr/>
                    <a:lstStyle/>
                    <a:p>
                      <a:r>
                        <a:rPr lang="en-US" sz="1800" b="0" i="0" kern="1200" dirty="0">
                          <a:solidFill>
                            <a:schemeClr val="dk1"/>
                          </a:solidFill>
                          <a:effectLst/>
                          <a:latin typeface="+mn-lt"/>
                          <a:ea typeface="+mn-ea"/>
                          <a:cs typeface="+mn-cs"/>
                        </a:rPr>
                        <a:t>climate change from greenhouse gas emissions, air and water pollution from burning fossil fuels and industrial waste, habitat destruction and land disturbance from resource extraction and infrastructure</a:t>
                      </a:r>
                      <a:endParaRPr lang="en-US" dirty="0"/>
                    </a:p>
                  </a:txBody>
                  <a:tcPr/>
                </a:tc>
                <a:tc>
                  <a:txBody>
                    <a:bodyPr/>
                    <a:lstStyle/>
                    <a:p>
                      <a:r>
                        <a:rPr lang="en-US" sz="1800" b="0" i="0" kern="1200" dirty="0">
                          <a:solidFill>
                            <a:schemeClr val="dk1"/>
                          </a:solidFill>
                          <a:effectLst/>
                          <a:latin typeface="+mn-lt"/>
                          <a:ea typeface="+mn-ea"/>
                          <a:cs typeface="+mn-cs"/>
                        </a:rPr>
                        <a:t>land degradation (soil erosion, desertification, salinization), which reduces agricultural productivity, threatens food security, and causes biodiversity loss through habitat destruction</a:t>
                      </a:r>
                      <a:endParaRPr lang="en-US" dirty="0"/>
                    </a:p>
                  </a:txBody>
                  <a:tcPr/>
                </a:tc>
                <a:extLst>
                  <a:ext uri="{0D108BD9-81ED-4DB2-BD59-A6C34878D82A}">
                    <a16:rowId xmlns:a16="http://schemas.microsoft.com/office/drawing/2014/main" val="4024980384"/>
                  </a:ext>
                </a:extLst>
              </a:tr>
            </a:tbl>
          </a:graphicData>
        </a:graphic>
      </p:graphicFrame>
    </p:spTree>
    <p:extLst>
      <p:ext uri="{BB962C8B-B14F-4D97-AF65-F5344CB8AC3E}">
        <p14:creationId xmlns:p14="http://schemas.microsoft.com/office/powerpoint/2010/main" val="1678812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6193D35-4F95-0360-798F-9C2FDFC0F2B1}"/>
              </a:ext>
            </a:extLst>
          </p:cNvPr>
          <p:cNvGraphicFramePr>
            <a:graphicFrameLocks noGrp="1"/>
          </p:cNvGraphicFramePr>
          <p:nvPr>
            <p:extLst>
              <p:ext uri="{D42A27DB-BD31-4B8C-83A1-F6EECF244321}">
                <p14:modId xmlns:p14="http://schemas.microsoft.com/office/powerpoint/2010/main" val="1860902772"/>
              </p:ext>
            </p:extLst>
          </p:nvPr>
        </p:nvGraphicFramePr>
        <p:xfrm>
          <a:off x="0" y="0"/>
          <a:ext cx="12192000" cy="6858000"/>
        </p:xfrm>
        <a:graphic>
          <a:graphicData uri="http://schemas.openxmlformats.org/drawingml/2006/table">
            <a:tbl>
              <a:tblPr firstRow="1" bandRow="1">
                <a:tableStyleId>{08FB837D-C827-4EFA-A057-4D05807E0F7C}</a:tableStyleId>
              </a:tblPr>
              <a:tblGrid>
                <a:gridCol w="2032000">
                  <a:extLst>
                    <a:ext uri="{9D8B030D-6E8A-4147-A177-3AD203B41FA5}">
                      <a16:colId xmlns:a16="http://schemas.microsoft.com/office/drawing/2014/main" val="3000379902"/>
                    </a:ext>
                  </a:extLst>
                </a:gridCol>
                <a:gridCol w="2032000">
                  <a:extLst>
                    <a:ext uri="{9D8B030D-6E8A-4147-A177-3AD203B41FA5}">
                      <a16:colId xmlns:a16="http://schemas.microsoft.com/office/drawing/2014/main" val="1928774527"/>
                    </a:ext>
                  </a:extLst>
                </a:gridCol>
                <a:gridCol w="2032000">
                  <a:extLst>
                    <a:ext uri="{9D8B030D-6E8A-4147-A177-3AD203B41FA5}">
                      <a16:colId xmlns:a16="http://schemas.microsoft.com/office/drawing/2014/main" val="824533683"/>
                    </a:ext>
                  </a:extLst>
                </a:gridCol>
                <a:gridCol w="2032000">
                  <a:extLst>
                    <a:ext uri="{9D8B030D-6E8A-4147-A177-3AD203B41FA5}">
                      <a16:colId xmlns:a16="http://schemas.microsoft.com/office/drawing/2014/main" val="3394925688"/>
                    </a:ext>
                  </a:extLst>
                </a:gridCol>
                <a:gridCol w="2032000">
                  <a:extLst>
                    <a:ext uri="{9D8B030D-6E8A-4147-A177-3AD203B41FA5}">
                      <a16:colId xmlns:a16="http://schemas.microsoft.com/office/drawing/2014/main" val="1070729842"/>
                    </a:ext>
                  </a:extLst>
                </a:gridCol>
                <a:gridCol w="2032000">
                  <a:extLst>
                    <a:ext uri="{9D8B030D-6E8A-4147-A177-3AD203B41FA5}">
                      <a16:colId xmlns:a16="http://schemas.microsoft.com/office/drawing/2014/main" val="1205100019"/>
                    </a:ext>
                  </a:extLst>
                </a:gridCol>
              </a:tblGrid>
              <a:tr h="1140300">
                <a:tc>
                  <a:txBody>
                    <a:bodyPr/>
                    <a:lstStyle/>
                    <a:p>
                      <a:r>
                        <a:rPr lang="en-US" dirty="0"/>
                        <a:t>FOREST </a:t>
                      </a:r>
                    </a:p>
                    <a:p>
                      <a:r>
                        <a:rPr lang="en-US" dirty="0"/>
                        <a:t>RESOURCES</a:t>
                      </a:r>
                    </a:p>
                  </a:txBody>
                  <a:tcPr/>
                </a:tc>
                <a:tc>
                  <a:txBody>
                    <a:bodyPr/>
                    <a:lstStyle/>
                    <a:p>
                      <a:r>
                        <a:rPr lang="en-US" dirty="0"/>
                        <a:t>WATER</a:t>
                      </a:r>
                    </a:p>
                    <a:p>
                      <a:r>
                        <a:rPr lang="en-US" dirty="0"/>
                        <a:t>RESOURCE’S </a:t>
                      </a:r>
                    </a:p>
                  </a:txBody>
                  <a:tcPr/>
                </a:tc>
                <a:tc>
                  <a:txBody>
                    <a:bodyPr/>
                    <a:lstStyle/>
                    <a:p>
                      <a:r>
                        <a:rPr lang="en-US" dirty="0"/>
                        <a:t>MINERAL</a:t>
                      </a:r>
                    </a:p>
                    <a:p>
                      <a:r>
                        <a:rPr lang="en-US" dirty="0"/>
                        <a:t>RESOURCES</a:t>
                      </a:r>
                    </a:p>
                  </a:txBody>
                  <a:tcPr/>
                </a:tc>
                <a:tc>
                  <a:txBody>
                    <a:bodyPr/>
                    <a:lstStyle/>
                    <a:p>
                      <a:r>
                        <a:rPr lang="en-US" dirty="0"/>
                        <a:t>FOOD</a:t>
                      </a:r>
                    </a:p>
                    <a:p>
                      <a:r>
                        <a:rPr lang="en-US" dirty="0"/>
                        <a:t>RESOURCES</a:t>
                      </a:r>
                    </a:p>
                  </a:txBody>
                  <a:tcPr/>
                </a:tc>
                <a:tc>
                  <a:txBody>
                    <a:bodyPr/>
                    <a:lstStyle/>
                    <a:p>
                      <a:r>
                        <a:rPr lang="en-US" dirty="0"/>
                        <a:t>ENERGY</a:t>
                      </a:r>
                    </a:p>
                    <a:p>
                      <a:r>
                        <a:rPr lang="en-US" dirty="0"/>
                        <a:t>RESOURCES</a:t>
                      </a:r>
                    </a:p>
                  </a:txBody>
                  <a:tcPr/>
                </a:tc>
                <a:tc>
                  <a:txBody>
                    <a:bodyPr/>
                    <a:lstStyle/>
                    <a:p>
                      <a:r>
                        <a:rPr lang="en-US" dirty="0"/>
                        <a:t>LAND RESOURCES</a:t>
                      </a:r>
                    </a:p>
                  </a:txBody>
                  <a:tcPr/>
                </a:tc>
                <a:extLst>
                  <a:ext uri="{0D108BD9-81ED-4DB2-BD59-A6C34878D82A}">
                    <a16:rowId xmlns:a16="http://schemas.microsoft.com/office/drawing/2014/main" val="2294507605"/>
                  </a:ext>
                </a:extLst>
              </a:tr>
              <a:tr h="5717700">
                <a:tc>
                  <a:txBody>
                    <a:bodyPr/>
                    <a:lstStyle/>
                    <a:p>
                      <a:r>
                        <a:rPr lang="en-US" sz="1800" dirty="0"/>
                        <a:t>Control measures         </a:t>
                      </a:r>
                      <a:r>
                        <a:rPr lang="en-US" sz="2000" dirty="0">
                          <a:sym typeface="Wingdings" panose="05000000000000000000" pitchFamily="2" charset="2"/>
                        </a:rPr>
                        <a:t></a:t>
                      </a:r>
                    </a:p>
                    <a:p>
                      <a:r>
                        <a:rPr lang="en-US" sz="1800" b="0" i="0" kern="1200" dirty="0">
                          <a:solidFill>
                            <a:schemeClr val="dk1"/>
                          </a:solidFill>
                          <a:effectLst/>
                          <a:latin typeface="+mn-lt"/>
                          <a:ea typeface="+mn-ea"/>
                          <a:cs typeface="+mn-cs"/>
                        </a:rPr>
                        <a:t>afforestation and reforestation, sustainable forest management through planned logging ,preventing forest fires with early detection and controlled burns, legal protection with strict laws and protected areas, monitoring using technology</a:t>
                      </a:r>
                      <a:endParaRPr lang="en-US" sz="2000" dirty="0"/>
                    </a:p>
                  </a:txBody>
                  <a:tcPr/>
                </a:tc>
                <a:tc>
                  <a:txBody>
                    <a:bodyPr/>
                    <a:lstStyle/>
                    <a:p>
                      <a:r>
                        <a:rPr lang="en-US" sz="1800" b="0" i="0" kern="1200" dirty="0">
                          <a:solidFill>
                            <a:schemeClr val="dk1"/>
                          </a:solidFill>
                          <a:effectLst/>
                          <a:latin typeface="+mn-lt"/>
                          <a:ea typeface="+mn-ea"/>
                          <a:cs typeface="+mn-cs"/>
                        </a:rPr>
                        <a:t>conserving water through efficient use and reduced consumption, managing water quality by treating pollution sources like sewage and industrial waste, and increasing water supply via methods such as rainwater harvesting, wastewater recycling</a:t>
                      </a:r>
                      <a:endParaRPr lang="en-US" dirty="0"/>
                    </a:p>
                  </a:txBody>
                  <a:tcPr/>
                </a:tc>
                <a:tc>
                  <a:txBody>
                    <a:bodyPr/>
                    <a:lstStyle/>
                    <a:p>
                      <a:r>
                        <a:rPr lang="en-US" sz="1800" b="0" i="0" kern="1200" dirty="0">
                          <a:solidFill>
                            <a:schemeClr val="dk1"/>
                          </a:solidFill>
                          <a:effectLst/>
                          <a:latin typeface="+mn-lt"/>
                          <a:ea typeface="+mn-ea"/>
                          <a:cs typeface="+mn-cs"/>
                        </a:rPr>
                        <a:t>minimizing waste during mining, recycling and reusing scrap metals, using renewable energy substitutes, implementing sustainable mining technologies and practices, controlling mineral exports , engaging in sustainable land-use planning</a:t>
                      </a:r>
                      <a:endParaRPr lang="en-US" dirty="0"/>
                    </a:p>
                  </a:txBody>
                  <a:tcPr/>
                </a:tc>
                <a:tc>
                  <a:txBody>
                    <a:bodyPr/>
                    <a:lstStyle/>
                    <a:p>
                      <a:r>
                        <a:rPr lang="en-US" sz="1800" b="0" i="0" kern="1200" dirty="0">
                          <a:solidFill>
                            <a:schemeClr val="dk1"/>
                          </a:solidFill>
                          <a:effectLst/>
                          <a:latin typeface="+mn-lt"/>
                          <a:ea typeface="+mn-ea"/>
                          <a:cs typeface="+mn-cs"/>
                        </a:rPr>
                        <a:t>preventing contamination, ensuring food safety through proper cooking and storage, implementing Good Agricultural and Hygiene Practices, and developing national food control systems to oversee food safety and quality</a:t>
                      </a:r>
                      <a:endParaRPr lang="en-US" dirty="0"/>
                    </a:p>
                  </a:txBody>
                  <a:tcPr/>
                </a:tc>
                <a:tc>
                  <a:txBody>
                    <a:bodyPr/>
                    <a:lstStyle/>
                    <a:p>
                      <a:r>
                        <a:rPr lang="en-US" sz="1800" b="0" i="0" kern="1200" dirty="0">
                          <a:solidFill>
                            <a:schemeClr val="dk1"/>
                          </a:solidFill>
                          <a:effectLst/>
                          <a:latin typeface="+mn-lt"/>
                          <a:ea typeface="+mn-ea"/>
                          <a:cs typeface="+mn-cs"/>
                        </a:rPr>
                        <a:t>improving energy efficiency through upgrades like LED lighting and better insulation, conserving energy by  turning off lights and unplugging devices, adopting renewable energy sources like solar and wind power, and implementing smart energy management systems to monitor and optimize consumption</a:t>
                      </a:r>
                      <a:endParaRPr lang="en-US" dirty="0"/>
                    </a:p>
                  </a:txBody>
                  <a:tcPr/>
                </a:tc>
                <a:tc>
                  <a:txBody>
                    <a:bodyPr/>
                    <a:lstStyle/>
                    <a:p>
                      <a:r>
                        <a:rPr lang="en-US" sz="1800" b="0" i="0" kern="1200" dirty="0">
                          <a:solidFill>
                            <a:schemeClr val="dk1"/>
                          </a:solidFill>
                          <a:effectLst/>
                          <a:latin typeface="+mn-lt"/>
                          <a:ea typeface="+mn-ea"/>
                          <a:cs typeface="+mn-cs"/>
                        </a:rPr>
                        <a:t>afforestation and forest conservation, sustainable agricultural practices like crop rotation and controlled irrigation, regulating mining and industrial activities, managing overgrazing, and implementing waste management and wasteland reclamation</a:t>
                      </a:r>
                      <a:endParaRPr lang="en-US" dirty="0"/>
                    </a:p>
                  </a:txBody>
                  <a:tcPr/>
                </a:tc>
                <a:extLst>
                  <a:ext uri="{0D108BD9-81ED-4DB2-BD59-A6C34878D82A}">
                    <a16:rowId xmlns:a16="http://schemas.microsoft.com/office/drawing/2014/main" val="2438311270"/>
                  </a:ext>
                </a:extLst>
              </a:tr>
            </a:tbl>
          </a:graphicData>
        </a:graphic>
      </p:graphicFrame>
    </p:spTree>
    <p:extLst>
      <p:ext uri="{BB962C8B-B14F-4D97-AF65-F5344CB8AC3E}">
        <p14:creationId xmlns:p14="http://schemas.microsoft.com/office/powerpoint/2010/main" val="2952468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C09080-9ACA-9F45-EAED-B1D3A7F17308}"/>
              </a:ext>
            </a:extLst>
          </p:cNvPr>
          <p:cNvSpPr>
            <a:spLocks noGrp="1"/>
          </p:cNvSpPr>
          <p:nvPr>
            <p:ph type="title"/>
          </p:nvPr>
        </p:nvSpPr>
        <p:spPr>
          <a:xfrm>
            <a:off x="1605116" y="2469229"/>
            <a:ext cx="8797413" cy="1325563"/>
          </a:xfrm>
        </p:spPr>
        <p:txBody>
          <a:bodyPr>
            <a:normAutofit/>
          </a:bodyPr>
          <a:lstStyle/>
          <a:p>
            <a:r>
              <a:rPr lang="en-IN" sz="6000" b="1" dirty="0">
                <a:latin typeface="Arial Rounded MT Bold" panose="020F0704030504030204" pitchFamily="34" charset="0"/>
              </a:rPr>
              <a:t>FOREST  RESOURCES</a:t>
            </a:r>
          </a:p>
        </p:txBody>
      </p:sp>
      <p:sp>
        <p:nvSpPr>
          <p:cNvPr id="3" name="Content Placeholder 2">
            <a:extLst>
              <a:ext uri="{FF2B5EF4-FFF2-40B4-BE49-F238E27FC236}">
                <a16:creationId xmlns:a16="http://schemas.microsoft.com/office/drawing/2014/main" id="{D9A0E46A-B163-F3A4-72DC-1EF7879A178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89036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0E74-03B9-3F66-234F-DC881AE9D27F}"/>
              </a:ext>
            </a:extLst>
          </p:cNvPr>
          <p:cNvSpPr>
            <a:spLocks noGrp="1"/>
          </p:cNvSpPr>
          <p:nvPr>
            <p:ph type="title"/>
          </p:nvPr>
        </p:nvSpPr>
        <p:spPr>
          <a:xfrm>
            <a:off x="2576053" y="542106"/>
            <a:ext cx="6381134" cy="315912"/>
          </a:xfrm>
        </p:spPr>
        <p:txBody>
          <a:bodyPr>
            <a:normAutofit fontScale="90000"/>
          </a:bodyPr>
          <a:lstStyle/>
          <a:p>
            <a:r>
              <a:rPr lang="en-IN" b="1" dirty="0">
                <a:solidFill>
                  <a:srgbClr val="C00000"/>
                </a:solidFill>
                <a:latin typeface="Arial Black" panose="020B0A04020102020204" pitchFamily="34" charset="0"/>
              </a:rPr>
              <a:t>FOREST RESOURCES </a:t>
            </a:r>
          </a:p>
        </p:txBody>
      </p:sp>
      <p:sp>
        <p:nvSpPr>
          <p:cNvPr id="3" name="Content Placeholder 2">
            <a:extLst>
              <a:ext uri="{FF2B5EF4-FFF2-40B4-BE49-F238E27FC236}">
                <a16:creationId xmlns:a16="http://schemas.microsoft.com/office/drawing/2014/main" id="{546DAD75-B59F-4D1E-84BA-3298D928BBA3}"/>
              </a:ext>
            </a:extLst>
          </p:cNvPr>
          <p:cNvSpPr>
            <a:spLocks noGrp="1"/>
          </p:cNvSpPr>
          <p:nvPr>
            <p:ph idx="1"/>
          </p:nvPr>
        </p:nvSpPr>
        <p:spPr>
          <a:xfrm>
            <a:off x="690716" y="1396181"/>
            <a:ext cx="10515600" cy="5024284"/>
          </a:xfrm>
        </p:spPr>
        <p:txBody>
          <a:bodyPr>
            <a:normAutofit/>
          </a:bodyPr>
          <a:lstStyle/>
          <a:p>
            <a:pPr>
              <a:buFont typeface="Courier New" panose="02070309020205020404" pitchFamily="49" charset="0"/>
              <a:buChar char="o"/>
            </a:pPr>
            <a:r>
              <a:rPr lang="en-IN" sz="2400" dirty="0">
                <a:latin typeface="Calisto MT" panose="02040603050505030304" pitchFamily="18" charset="0"/>
              </a:rPr>
              <a:t>Forest are the most important natural resources. Forests are composed mainly on trees, shrubs, woody vegetation, etc.</a:t>
            </a:r>
          </a:p>
          <a:p>
            <a:pPr>
              <a:buFont typeface="Courier New" panose="02070309020205020404" pitchFamily="49" charset="0"/>
              <a:buChar char="o"/>
            </a:pPr>
            <a:r>
              <a:rPr lang="en-IN" sz="2400" dirty="0">
                <a:latin typeface="Calisto MT" panose="02040603050505030304" pitchFamily="18" charset="0"/>
              </a:rPr>
              <a:t>Approximately 1/3</a:t>
            </a:r>
            <a:r>
              <a:rPr lang="en-IN" sz="2400" baseline="30000" dirty="0">
                <a:latin typeface="Calisto MT" panose="02040603050505030304" pitchFamily="18" charset="0"/>
              </a:rPr>
              <a:t>rd</a:t>
            </a:r>
            <a:r>
              <a:rPr lang="en-IN" sz="2400" dirty="0">
                <a:latin typeface="Calisto MT" panose="02040603050505030304" pitchFamily="18" charset="0"/>
              </a:rPr>
              <a:t> of the earth’s total land area is covered by forests.</a:t>
            </a:r>
          </a:p>
          <a:p>
            <a:pPr>
              <a:buFont typeface="Courier New" panose="02070309020205020404" pitchFamily="49" charset="0"/>
              <a:buChar char="o"/>
            </a:pPr>
            <a:r>
              <a:rPr lang="en-IN" sz="2400" dirty="0">
                <a:latin typeface="Calisto MT" panose="02040603050505030304" pitchFamily="18" charset="0"/>
              </a:rPr>
              <a:t>Forests are important ecologically and economically. </a:t>
            </a:r>
          </a:p>
          <a:p>
            <a:pPr>
              <a:buFont typeface="Courier New" panose="02070309020205020404" pitchFamily="49" charset="0"/>
              <a:buChar char="o"/>
            </a:pPr>
            <a:r>
              <a:rPr lang="en-IN" sz="2400" dirty="0">
                <a:latin typeface="Calisto MT" panose="02040603050505030304" pitchFamily="18" charset="0"/>
              </a:rPr>
              <a:t>Where ecologically are to be considered as earth’s lungs because the poisonous gas CO2 is consumed by trees of forests and release O2 which is requires for living our life on earth and it reduces the soil erosion.</a:t>
            </a:r>
          </a:p>
          <a:p>
            <a:pPr>
              <a:buFont typeface="Courier New" panose="02070309020205020404" pitchFamily="49" charset="0"/>
              <a:buChar char="o"/>
            </a:pPr>
            <a:r>
              <a:rPr lang="en-IN" sz="2400" dirty="0">
                <a:latin typeface="Calisto MT" panose="02040603050505030304" pitchFamily="18" charset="0"/>
              </a:rPr>
              <a:t>Forest ecosystems hold a good quantity of water.</a:t>
            </a:r>
          </a:p>
          <a:p>
            <a:pPr>
              <a:buFont typeface="Courier New" panose="02070309020205020404" pitchFamily="49" charset="0"/>
              <a:buChar char="o"/>
            </a:pPr>
            <a:r>
              <a:rPr lang="en-IN" sz="2400" dirty="0">
                <a:latin typeface="Calisto MT" panose="02040603050505030304" pitchFamily="18" charset="0"/>
              </a:rPr>
              <a:t>Economically forests provide timber, firewood, bamboos, rubbers, medicines, gums, food items etc. </a:t>
            </a:r>
          </a:p>
        </p:txBody>
      </p:sp>
    </p:spTree>
    <p:extLst>
      <p:ext uri="{BB962C8B-B14F-4D97-AF65-F5344CB8AC3E}">
        <p14:creationId xmlns:p14="http://schemas.microsoft.com/office/powerpoint/2010/main" val="312798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C0250-0FC1-21F2-E94C-3D8FCDFB3C76}"/>
              </a:ext>
            </a:extLst>
          </p:cNvPr>
          <p:cNvSpPr>
            <a:spLocks noGrp="1"/>
          </p:cNvSpPr>
          <p:nvPr>
            <p:ph type="title"/>
          </p:nvPr>
        </p:nvSpPr>
        <p:spPr>
          <a:xfrm>
            <a:off x="3172132" y="365125"/>
            <a:ext cx="4516695" cy="716423"/>
          </a:xfrm>
        </p:spPr>
        <p:txBody>
          <a:bodyPr>
            <a:normAutofit fontScale="90000"/>
          </a:bodyPr>
          <a:lstStyle/>
          <a:p>
            <a:pPr algn="ctr"/>
            <a:r>
              <a:rPr lang="en-IN" sz="3600" b="1" dirty="0">
                <a:solidFill>
                  <a:srgbClr val="C00000"/>
                </a:solidFill>
                <a:latin typeface="Arial Black" panose="020B0A04020102020204" pitchFamily="34" charset="0"/>
              </a:rPr>
              <a:t>USES OF FORESTS </a:t>
            </a:r>
            <a:r>
              <a:rPr lang="en-IN" sz="4000" b="1" dirty="0">
                <a:solidFill>
                  <a:schemeClr val="bg1"/>
                </a:solidFill>
                <a:latin typeface="Arial Rounded MT Bold" panose="020F0704030504030204" pitchFamily="34" charset="0"/>
              </a:rPr>
              <a:t>:</a:t>
            </a:r>
          </a:p>
        </p:txBody>
      </p:sp>
      <p:sp>
        <p:nvSpPr>
          <p:cNvPr id="3" name="Content Placeholder 2">
            <a:extLst>
              <a:ext uri="{FF2B5EF4-FFF2-40B4-BE49-F238E27FC236}">
                <a16:creationId xmlns:a16="http://schemas.microsoft.com/office/drawing/2014/main" id="{47A7B081-8D00-23E8-6DBF-2F3713762691}"/>
              </a:ext>
            </a:extLst>
          </p:cNvPr>
          <p:cNvSpPr>
            <a:spLocks noGrp="1"/>
          </p:cNvSpPr>
          <p:nvPr>
            <p:ph idx="1"/>
          </p:nvPr>
        </p:nvSpPr>
        <p:spPr>
          <a:xfrm>
            <a:off x="871383" y="1278194"/>
            <a:ext cx="10515600" cy="5014451"/>
          </a:xfrm>
        </p:spPr>
        <p:txBody>
          <a:bodyPr>
            <a:normAutofit/>
          </a:bodyPr>
          <a:lstStyle/>
          <a:p>
            <a:pPr marL="0" indent="0">
              <a:buNone/>
            </a:pPr>
            <a:r>
              <a:rPr lang="en-IN" sz="2000" dirty="0">
                <a:solidFill>
                  <a:srgbClr val="C00000"/>
                </a:solidFill>
                <a:latin typeface="Arial Rounded MT Bold" panose="020F0704030504030204" pitchFamily="34" charset="0"/>
              </a:rPr>
              <a:t>1. </a:t>
            </a:r>
            <a:r>
              <a:rPr lang="en-IN" sz="2000" dirty="0">
                <a:solidFill>
                  <a:schemeClr val="tx1">
                    <a:lumMod val="95000"/>
                    <a:lumOff val="5000"/>
                  </a:schemeClr>
                </a:solidFill>
                <a:latin typeface="Calisto MT" panose="02040603050505030304" pitchFamily="18" charset="0"/>
              </a:rPr>
              <a:t>WATERSHED PROTECTION : </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Reduce the rate of surface run-off of water.</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Prevent flash floods and soil erosion.</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Prevent effects of drought.</a:t>
            </a:r>
          </a:p>
          <a:p>
            <a:pPr marL="0" indent="0">
              <a:buNone/>
            </a:pPr>
            <a:r>
              <a:rPr lang="en-IN" sz="2000" dirty="0">
                <a:solidFill>
                  <a:schemeClr val="tx1">
                    <a:lumMod val="95000"/>
                    <a:lumOff val="5000"/>
                  </a:schemeClr>
                </a:solidFill>
                <a:latin typeface="Calisto MT" panose="02040603050505030304" pitchFamily="18" charset="0"/>
              </a:rPr>
              <a:t>2.  ATMOSPHERIC REGULATION :</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Absorption of solar heat during </a:t>
            </a:r>
            <a:r>
              <a:rPr lang="en-IN" sz="2000" dirty="0" err="1">
                <a:solidFill>
                  <a:schemeClr val="tx1">
                    <a:lumMod val="95000"/>
                    <a:lumOff val="5000"/>
                  </a:schemeClr>
                </a:solidFill>
                <a:latin typeface="Calisto MT" panose="02040603050505030304" pitchFamily="18" charset="0"/>
              </a:rPr>
              <a:t>evapo</a:t>
            </a:r>
            <a:r>
              <a:rPr lang="en-IN" sz="2000" dirty="0">
                <a:solidFill>
                  <a:schemeClr val="tx1">
                    <a:lumMod val="95000"/>
                    <a:lumOff val="5000"/>
                  </a:schemeClr>
                </a:solidFill>
                <a:latin typeface="Calisto MT" panose="02040603050505030304" pitchFamily="18" charset="0"/>
              </a:rPr>
              <a:t>-transpiration.</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Maintaining carbon-dioxide levels for plant growth.</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Maintaining the local climatic conditions.</a:t>
            </a:r>
          </a:p>
          <a:p>
            <a:pPr marL="0" indent="0">
              <a:buNone/>
            </a:pPr>
            <a:r>
              <a:rPr lang="en-IN" sz="2000" dirty="0">
                <a:solidFill>
                  <a:schemeClr val="tx1">
                    <a:lumMod val="95000"/>
                    <a:lumOff val="5000"/>
                  </a:schemeClr>
                </a:solidFill>
                <a:latin typeface="Calisto MT" panose="02040603050505030304" pitchFamily="18" charset="0"/>
              </a:rPr>
              <a:t>3.  EROSION CONTROL :</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Holding soil (by preventing rain from directly washing soil away).</a:t>
            </a:r>
          </a:p>
          <a:p>
            <a:pPr marL="0" indent="0">
              <a:buNone/>
            </a:pPr>
            <a:r>
              <a:rPr lang="en-IN" sz="2000" dirty="0">
                <a:solidFill>
                  <a:schemeClr val="tx1">
                    <a:lumMod val="95000"/>
                    <a:lumOff val="5000"/>
                  </a:schemeClr>
                </a:solidFill>
                <a:latin typeface="Calisto MT" panose="02040603050505030304" pitchFamily="18" charset="0"/>
              </a:rPr>
              <a:t>4.  LAND BANK :</a:t>
            </a:r>
          </a:p>
          <a:p>
            <a:pPr>
              <a:buFont typeface="Wingdings" panose="05000000000000000000" pitchFamily="2" charset="2"/>
              <a:buChar char="§"/>
            </a:pPr>
            <a:r>
              <a:rPr lang="en-IN" sz="2000" dirty="0">
                <a:solidFill>
                  <a:schemeClr val="tx1">
                    <a:lumMod val="95000"/>
                    <a:lumOff val="5000"/>
                  </a:schemeClr>
                </a:solidFill>
                <a:latin typeface="Calisto MT" panose="02040603050505030304" pitchFamily="18" charset="0"/>
              </a:rPr>
              <a:t>Maintenance of soil nutrients and structure.</a:t>
            </a:r>
          </a:p>
          <a:p>
            <a:pPr marL="457200" indent="-457200">
              <a:buFont typeface="+mj-lt"/>
              <a:buAutoNum type="arabicPeriod"/>
            </a:pPr>
            <a:endParaRPr lang="en-IN" sz="2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2248520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09A058-F946-4B73-0BB7-F37E34D973A1}"/>
              </a:ext>
            </a:extLst>
          </p:cNvPr>
          <p:cNvSpPr>
            <a:spLocks noGrp="1"/>
          </p:cNvSpPr>
          <p:nvPr>
            <p:ph idx="1"/>
          </p:nvPr>
        </p:nvSpPr>
        <p:spPr>
          <a:xfrm>
            <a:off x="710381" y="943897"/>
            <a:ext cx="10515600" cy="4611330"/>
          </a:xfrm>
        </p:spPr>
        <p:txBody>
          <a:bodyPr>
            <a:normAutofit fontScale="92500" lnSpcReduction="10000"/>
          </a:bodyPr>
          <a:lstStyle/>
          <a:p>
            <a:pPr marL="457200" indent="-457200">
              <a:buAutoNum type="arabicPeriod" startAt="5"/>
            </a:pPr>
            <a:r>
              <a:rPr lang="en-IN" sz="2400" dirty="0">
                <a:solidFill>
                  <a:schemeClr val="tx1">
                    <a:lumMod val="95000"/>
                    <a:lumOff val="5000"/>
                  </a:schemeClr>
                </a:solidFill>
                <a:latin typeface="Calisto MT" panose="02040603050505030304" pitchFamily="18" charset="0"/>
              </a:rPr>
              <a:t>LOCAL USE : Consumption of forest produce by local people who collect it for consumptive use.</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Food – gathering plants, fishing, hunting from the forests.</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Fuel wood and charcoal for cooking, heating.</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Poles – building homes especially in rural.</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Timber – household articles and construction.</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Fiber – weaving of baskets, ropes, nets, string, etc.</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Medicinal plants – traditionally used medicines.</a:t>
            </a:r>
          </a:p>
          <a:p>
            <a:pPr>
              <a:buFont typeface="Wingdings" panose="05000000000000000000" pitchFamily="2" charset="2"/>
              <a:buChar char="§"/>
            </a:pPr>
            <a:endParaRPr lang="en-IN" sz="2400" dirty="0">
              <a:solidFill>
                <a:schemeClr val="tx1">
                  <a:lumMod val="95000"/>
                  <a:lumOff val="5000"/>
                </a:schemeClr>
              </a:solidFill>
              <a:latin typeface="Calisto MT" panose="02040603050505030304" pitchFamily="18" charset="0"/>
            </a:endParaRPr>
          </a:p>
          <a:p>
            <a:pPr marL="514350" indent="-514350">
              <a:buAutoNum type="arabicPeriod" startAt="6"/>
            </a:pPr>
            <a:r>
              <a:rPr lang="en-IN" sz="2400" dirty="0">
                <a:solidFill>
                  <a:schemeClr val="tx1">
                    <a:lumMod val="95000"/>
                    <a:lumOff val="5000"/>
                  </a:schemeClr>
                </a:solidFill>
                <a:latin typeface="Calisto MT" panose="02040603050505030304" pitchFamily="18" charset="0"/>
              </a:rPr>
              <a:t>MARKET USE : Productive use</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Minor forest produce – fuel wood, fruit, gum, </a:t>
            </a:r>
            <a:r>
              <a:rPr lang="en-IN" sz="2400" dirty="0" err="1">
                <a:solidFill>
                  <a:schemeClr val="tx1">
                    <a:lumMod val="95000"/>
                    <a:lumOff val="5000"/>
                  </a:schemeClr>
                </a:solidFill>
                <a:latin typeface="Calisto MT" panose="02040603050505030304" pitchFamily="18" charset="0"/>
              </a:rPr>
              <a:t>fiber</a:t>
            </a:r>
            <a:r>
              <a:rPr lang="en-IN" sz="2400" dirty="0">
                <a:solidFill>
                  <a:schemeClr val="tx1">
                    <a:lumMod val="95000"/>
                    <a:lumOff val="5000"/>
                  </a:schemeClr>
                </a:solidFill>
                <a:latin typeface="Calisto MT" panose="02040603050505030304" pitchFamily="18" charset="0"/>
              </a:rPr>
              <a:t>, etc</a:t>
            </a:r>
          </a:p>
          <a:p>
            <a:pPr>
              <a:buFont typeface="Wingdings" panose="05000000000000000000" pitchFamily="2" charset="2"/>
              <a:buChar char="§"/>
            </a:pPr>
            <a:r>
              <a:rPr lang="en-IN" sz="2400" dirty="0">
                <a:solidFill>
                  <a:schemeClr val="tx1">
                    <a:lumMod val="95000"/>
                    <a:lumOff val="5000"/>
                  </a:schemeClr>
                </a:solidFill>
                <a:latin typeface="Calisto MT" panose="02040603050505030304" pitchFamily="18" charset="0"/>
              </a:rPr>
              <a:t>Major timber extraction – construction, industrial uses, paper pulp, etc.  </a:t>
            </a:r>
          </a:p>
        </p:txBody>
      </p:sp>
    </p:spTree>
    <p:extLst>
      <p:ext uri="{BB962C8B-B14F-4D97-AF65-F5344CB8AC3E}">
        <p14:creationId xmlns:p14="http://schemas.microsoft.com/office/powerpoint/2010/main" val="1867394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03492-B8CF-D9A5-D052-36D191816854}"/>
              </a:ext>
            </a:extLst>
          </p:cNvPr>
          <p:cNvSpPr>
            <a:spLocks noGrp="1"/>
          </p:cNvSpPr>
          <p:nvPr>
            <p:ph type="title"/>
          </p:nvPr>
        </p:nvSpPr>
        <p:spPr>
          <a:xfrm>
            <a:off x="1460090" y="349711"/>
            <a:ext cx="8996516" cy="637765"/>
          </a:xfrm>
        </p:spPr>
        <p:txBody>
          <a:bodyPr>
            <a:noAutofit/>
          </a:bodyPr>
          <a:lstStyle/>
          <a:p>
            <a:r>
              <a:rPr lang="en-IN" sz="3600" b="1" dirty="0">
                <a:solidFill>
                  <a:srgbClr val="C00000"/>
                </a:solidFill>
                <a:latin typeface="Arial Black" panose="020B0A04020102020204" pitchFamily="34" charset="0"/>
              </a:rPr>
              <a:t>OVER EXPLOITATION OF FORESTS</a:t>
            </a:r>
          </a:p>
        </p:txBody>
      </p:sp>
      <p:sp>
        <p:nvSpPr>
          <p:cNvPr id="3" name="Content Placeholder 2">
            <a:extLst>
              <a:ext uri="{FF2B5EF4-FFF2-40B4-BE49-F238E27FC236}">
                <a16:creationId xmlns:a16="http://schemas.microsoft.com/office/drawing/2014/main" id="{60BBD576-C79B-D126-FFCE-B7277BF4152E}"/>
              </a:ext>
            </a:extLst>
          </p:cNvPr>
          <p:cNvSpPr>
            <a:spLocks noGrp="1"/>
          </p:cNvSpPr>
          <p:nvPr>
            <p:ph idx="1"/>
          </p:nvPr>
        </p:nvSpPr>
        <p:spPr>
          <a:xfrm>
            <a:off x="700548" y="1337187"/>
            <a:ext cx="10515600" cy="4601497"/>
          </a:xfrm>
        </p:spPr>
        <p:txBody>
          <a:bodyPr>
            <a:normAutofit/>
          </a:bodyPr>
          <a:lstStyle/>
          <a:p>
            <a:pPr marL="0" indent="0">
              <a:buNone/>
            </a:pPr>
            <a:r>
              <a:rPr lang="en-IN" sz="2400" dirty="0">
                <a:latin typeface="Calisto MT" panose="02040603050505030304" pitchFamily="18" charset="0"/>
              </a:rPr>
              <a:t>Forest has been known to possess huge potential for human use. Exploitation of forest has taken place to meet human demands in the following ways :</a:t>
            </a:r>
          </a:p>
          <a:p>
            <a:pPr marL="0" indent="0">
              <a:buNone/>
            </a:pPr>
            <a:endParaRPr lang="en-IN" sz="2400" dirty="0">
              <a:latin typeface="Calisto MT" panose="02040603050505030304" pitchFamily="18" charset="0"/>
            </a:endParaRPr>
          </a:p>
          <a:p>
            <a:pPr>
              <a:buFont typeface="Wingdings" panose="05000000000000000000" pitchFamily="2" charset="2"/>
              <a:buChar char="q"/>
            </a:pPr>
            <a:r>
              <a:rPr lang="en-IN" sz="2400" dirty="0">
                <a:latin typeface="Calisto MT" panose="02040603050505030304" pitchFamily="18" charset="0"/>
              </a:rPr>
              <a:t>Deforestation due to road construction.</a:t>
            </a:r>
          </a:p>
          <a:p>
            <a:pPr>
              <a:buFont typeface="Wingdings" panose="05000000000000000000" pitchFamily="2" charset="2"/>
              <a:buChar char="q"/>
            </a:pPr>
            <a:r>
              <a:rPr lang="en-IN" sz="2400" dirty="0">
                <a:latin typeface="Calisto MT" panose="02040603050505030304" pitchFamily="18" charset="0"/>
              </a:rPr>
              <a:t>Clearing of forest to create more agricultural</a:t>
            </a:r>
          </a:p>
          <a:p>
            <a:pPr marL="0" indent="0">
              <a:buNone/>
            </a:pPr>
            <a:r>
              <a:rPr lang="en-IN" sz="2400" dirty="0">
                <a:latin typeface="Calisto MT" panose="02040603050505030304" pitchFamily="18" charset="0"/>
              </a:rPr>
              <a:t>    lands to meet the food needs of growing </a:t>
            </a:r>
            <a:r>
              <a:rPr lang="en-IN" sz="2400" dirty="0" err="1">
                <a:latin typeface="Calisto MT" panose="02040603050505030304" pitchFamily="18" charset="0"/>
              </a:rPr>
              <a:t>population.About</a:t>
            </a:r>
            <a:r>
              <a:rPr lang="en-IN" sz="2400" dirty="0">
                <a:latin typeface="Calisto MT" panose="02040603050505030304" pitchFamily="18" charset="0"/>
              </a:rPr>
              <a:t> 78% of forest area is under heavy grazing.</a:t>
            </a:r>
          </a:p>
          <a:p>
            <a:pPr>
              <a:buFont typeface="Wingdings" panose="05000000000000000000" pitchFamily="2" charset="2"/>
              <a:buChar char="q"/>
            </a:pPr>
            <a:r>
              <a:rPr lang="en-IN" sz="2400" dirty="0">
                <a:latin typeface="Calisto MT" panose="02040603050505030304" pitchFamily="18" charset="0"/>
              </a:rPr>
              <a:t>Mining activities leads to clearing of forests.</a:t>
            </a:r>
          </a:p>
          <a:p>
            <a:pPr>
              <a:buFont typeface="Wingdings" panose="05000000000000000000" pitchFamily="2" charset="2"/>
              <a:buChar char="q"/>
            </a:pPr>
            <a:r>
              <a:rPr lang="en-IN" sz="2400" dirty="0">
                <a:latin typeface="Calisto MT" panose="02040603050505030304" pitchFamily="18" charset="0"/>
              </a:rPr>
              <a:t>Big hydro electric projects result in large scale</a:t>
            </a:r>
          </a:p>
          <a:p>
            <a:pPr marL="0" indent="0">
              <a:buNone/>
            </a:pPr>
            <a:r>
              <a:rPr lang="en-IN" sz="2400" dirty="0">
                <a:latin typeface="Calisto MT" panose="02040603050505030304" pitchFamily="18" charset="0"/>
              </a:rPr>
              <a:t>    destruction of forest.</a:t>
            </a:r>
          </a:p>
          <a:p>
            <a:pPr marL="0" indent="0">
              <a:buNone/>
            </a:pPr>
            <a:endParaRPr lang="en-IN" dirty="0">
              <a:solidFill>
                <a:schemeClr val="bg1"/>
              </a:solidFill>
            </a:endParaRPr>
          </a:p>
        </p:txBody>
      </p:sp>
    </p:spTree>
    <p:extLst>
      <p:ext uri="{BB962C8B-B14F-4D97-AF65-F5344CB8AC3E}">
        <p14:creationId xmlns:p14="http://schemas.microsoft.com/office/powerpoint/2010/main" val="3166532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36CCE-4EA9-8DEE-1BD9-874E03B1C43C}"/>
              </a:ext>
            </a:extLst>
          </p:cNvPr>
          <p:cNvSpPr>
            <a:spLocks noGrp="1"/>
          </p:cNvSpPr>
          <p:nvPr>
            <p:ph type="title"/>
          </p:nvPr>
        </p:nvSpPr>
        <p:spPr>
          <a:xfrm>
            <a:off x="2556387" y="132736"/>
            <a:ext cx="6097022" cy="693481"/>
          </a:xfrm>
        </p:spPr>
        <p:txBody>
          <a:bodyPr>
            <a:normAutofit fontScale="90000"/>
          </a:bodyPr>
          <a:lstStyle/>
          <a:p>
            <a:pPr algn="ctr"/>
            <a:r>
              <a:rPr lang="en-IN" sz="4400" b="1" dirty="0">
                <a:solidFill>
                  <a:srgbClr val="C00000"/>
                </a:solidFill>
                <a:latin typeface="Arial Black" panose="020B0A04020102020204" pitchFamily="34" charset="0"/>
              </a:rPr>
              <a:t>DEFORESTATION : </a:t>
            </a:r>
          </a:p>
        </p:txBody>
      </p:sp>
      <p:sp>
        <p:nvSpPr>
          <p:cNvPr id="6" name="Text Placeholder 5">
            <a:extLst>
              <a:ext uri="{FF2B5EF4-FFF2-40B4-BE49-F238E27FC236}">
                <a16:creationId xmlns:a16="http://schemas.microsoft.com/office/drawing/2014/main" id="{6DE2E194-8BD1-D96E-72A2-292C0BF124B4}"/>
              </a:ext>
            </a:extLst>
          </p:cNvPr>
          <p:cNvSpPr>
            <a:spLocks noGrp="1"/>
          </p:cNvSpPr>
          <p:nvPr>
            <p:ph type="body" idx="1"/>
          </p:nvPr>
        </p:nvSpPr>
        <p:spPr>
          <a:xfrm>
            <a:off x="363793" y="958954"/>
            <a:ext cx="11493909" cy="5667988"/>
          </a:xfrm>
        </p:spPr>
        <p:txBody>
          <a:bodyPr>
            <a:normAutofit fontScale="92500" lnSpcReduction="10000"/>
          </a:bodyPr>
          <a:lstStyle/>
          <a:p>
            <a:r>
              <a:rPr lang="en-US" dirty="0">
                <a:solidFill>
                  <a:schemeClr val="tx1">
                    <a:lumMod val="95000"/>
                    <a:lumOff val="5000"/>
                  </a:schemeClr>
                </a:solidFill>
                <a:latin typeface="Calisto MT" panose="02040603050505030304" pitchFamily="18" charset="0"/>
              </a:rPr>
              <a:t>Deforestation is the permanent removal of trees from forests, where it refers to the loss of forest cover (or) the aimless destruction of trees. This process involves the cutting down, burning and damaging of forests. </a:t>
            </a:r>
          </a:p>
          <a:p>
            <a:endParaRPr lang="en-US" dirty="0">
              <a:solidFill>
                <a:schemeClr val="tx1">
                  <a:lumMod val="95000"/>
                  <a:lumOff val="5000"/>
                </a:schemeClr>
              </a:solidFill>
              <a:latin typeface="Calisto MT" panose="02040603050505030304" pitchFamily="18" charset="0"/>
            </a:endParaRPr>
          </a:p>
          <a:p>
            <a:r>
              <a:rPr lang="en-US" sz="2800" b="1" dirty="0">
                <a:solidFill>
                  <a:srgbClr val="C00000"/>
                </a:solidFill>
                <a:latin typeface="Calisto MT" panose="02040603050505030304" pitchFamily="18" charset="0"/>
              </a:rPr>
              <a:t>MAJOR CAUSES OF DEFORESTATION :</a:t>
            </a:r>
          </a:p>
          <a:p>
            <a:r>
              <a:rPr lang="en-US" dirty="0">
                <a:solidFill>
                  <a:schemeClr val="tx1">
                    <a:lumMod val="95000"/>
                    <a:lumOff val="5000"/>
                  </a:schemeClr>
                </a:solidFill>
                <a:latin typeface="Calisto MT" panose="02040603050505030304" pitchFamily="18" charset="0"/>
              </a:rPr>
              <a:t>Conversion of forests and woodlands to agricultural lands to feed the growing numbers of people.</a:t>
            </a:r>
          </a:p>
          <a:p>
            <a:pPr marL="457200" indent="-457200">
              <a:buFont typeface="+mj-lt"/>
              <a:buAutoNum type="alphaLcPeriod"/>
            </a:pPr>
            <a:r>
              <a:rPr lang="en-US" dirty="0">
                <a:solidFill>
                  <a:srgbClr val="C00000"/>
                </a:solidFill>
                <a:latin typeface="Calisto MT" panose="02040603050505030304" pitchFamily="18" charset="0"/>
              </a:rPr>
              <a:t>SHIFTING CULTIVATION </a:t>
            </a:r>
            <a:r>
              <a:rPr lang="en-US" dirty="0">
                <a:solidFill>
                  <a:schemeClr val="tx1">
                    <a:lumMod val="95000"/>
                    <a:lumOff val="5000"/>
                  </a:schemeClr>
                </a:solidFill>
                <a:latin typeface="Calisto MT" panose="02040603050505030304" pitchFamily="18" charset="0"/>
              </a:rPr>
              <a:t>: is directly contributes to deforestation by requiring the clearing and burning of forests to create new farmland, a process also known as slash-and-burn agriculture.</a:t>
            </a:r>
          </a:p>
          <a:p>
            <a:pPr marL="457200" indent="-457200">
              <a:buFont typeface="+mj-lt"/>
              <a:buAutoNum type="alphaLcPeriod"/>
            </a:pPr>
            <a:r>
              <a:rPr lang="en-US" dirty="0">
                <a:solidFill>
                  <a:srgbClr val="C00000"/>
                </a:solidFill>
                <a:latin typeface="Calisto MT" panose="02040603050505030304" pitchFamily="18" charset="0"/>
              </a:rPr>
              <a:t>FUEL REQUIREMENTS </a:t>
            </a:r>
            <a:r>
              <a:rPr lang="en-US" dirty="0">
                <a:solidFill>
                  <a:schemeClr val="tx1">
                    <a:lumMod val="95000"/>
                    <a:lumOff val="5000"/>
                  </a:schemeClr>
                </a:solidFill>
                <a:latin typeface="Calisto MT" panose="02040603050505030304" pitchFamily="18" charset="0"/>
              </a:rPr>
              <a:t>: are a direct cause of deforestation through the collection of fire-wood.</a:t>
            </a:r>
          </a:p>
          <a:p>
            <a:pPr marL="457200" indent="-457200">
              <a:buFont typeface="+mj-lt"/>
              <a:buAutoNum type="alphaLcPeriod"/>
            </a:pPr>
            <a:r>
              <a:rPr lang="en-US" dirty="0">
                <a:solidFill>
                  <a:srgbClr val="C00000"/>
                </a:solidFill>
                <a:latin typeface="Calisto MT" panose="02040603050505030304" pitchFamily="18" charset="0"/>
              </a:rPr>
              <a:t>RAW MATERIALS FOR INDUSTRIAL USE</a:t>
            </a:r>
            <a:r>
              <a:rPr lang="en-US" dirty="0">
                <a:solidFill>
                  <a:schemeClr val="tx1">
                    <a:lumMod val="95000"/>
                    <a:lumOff val="5000"/>
                  </a:schemeClr>
                </a:solidFill>
                <a:latin typeface="Calisto MT" panose="02040603050505030304" pitchFamily="18" charset="0"/>
              </a:rPr>
              <a:t> : wood for making boxes, furniture, railway-sleepers, plywood, match boxes, etc. where plywood is in great demand for packing tea for tea industry.</a:t>
            </a:r>
          </a:p>
          <a:p>
            <a:pPr marL="457200" indent="-457200">
              <a:buFont typeface="+mj-lt"/>
              <a:buAutoNum type="alphaLcPeriod"/>
            </a:pPr>
            <a:r>
              <a:rPr lang="en-US" dirty="0">
                <a:solidFill>
                  <a:srgbClr val="C00000"/>
                </a:solidFill>
                <a:latin typeface="Calisto MT" panose="02040603050505030304" pitchFamily="18" charset="0"/>
              </a:rPr>
              <a:t>DEVELOPMENT PROJECTS</a:t>
            </a:r>
            <a:r>
              <a:rPr lang="en-US" dirty="0">
                <a:solidFill>
                  <a:schemeClr val="tx1">
                    <a:lumMod val="95000"/>
                    <a:lumOff val="5000"/>
                  </a:schemeClr>
                </a:solidFill>
                <a:latin typeface="Calisto MT" panose="02040603050505030304" pitchFamily="18" charset="0"/>
              </a:rPr>
              <a:t> : Massive destruction of forests occurs for various development projects like hydroelectric projects, big dams, road construction, mining, etc.</a:t>
            </a:r>
          </a:p>
          <a:p>
            <a:endParaRPr lang="en-IN" sz="2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2206570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4FBC62-9940-2F64-47DF-A4C8CECC565F}"/>
              </a:ext>
            </a:extLst>
          </p:cNvPr>
          <p:cNvSpPr>
            <a:spLocks noGrp="1"/>
          </p:cNvSpPr>
          <p:nvPr>
            <p:ph idx="1"/>
          </p:nvPr>
        </p:nvSpPr>
        <p:spPr>
          <a:xfrm>
            <a:off x="403123" y="511277"/>
            <a:ext cx="11425083" cy="5633884"/>
          </a:xfrm>
        </p:spPr>
        <p:txBody>
          <a:bodyPr>
            <a:normAutofit lnSpcReduction="10000"/>
          </a:bodyPr>
          <a:lstStyle/>
          <a:p>
            <a:pPr marL="0" indent="0">
              <a:buNone/>
            </a:pPr>
            <a:r>
              <a:rPr lang="en-US" sz="2000" dirty="0">
                <a:solidFill>
                  <a:schemeClr val="tx1">
                    <a:lumMod val="95000"/>
                    <a:lumOff val="5000"/>
                  </a:schemeClr>
                </a:solidFill>
                <a:latin typeface="Calisto MT" panose="02040603050505030304" pitchFamily="18" charset="0"/>
              </a:rPr>
              <a:t>e. </a:t>
            </a:r>
            <a:r>
              <a:rPr lang="en-US" sz="2000" dirty="0">
                <a:solidFill>
                  <a:srgbClr val="C00000"/>
                </a:solidFill>
                <a:latin typeface="Calisto MT" panose="02040603050505030304" pitchFamily="18" charset="0"/>
              </a:rPr>
              <a:t>GROWING FOOD NEEDS </a:t>
            </a:r>
            <a:r>
              <a:rPr lang="en-US" sz="2000" dirty="0">
                <a:solidFill>
                  <a:schemeClr val="tx1">
                    <a:lumMod val="95000"/>
                    <a:lumOff val="5000"/>
                  </a:schemeClr>
                </a:solidFill>
                <a:latin typeface="Calisto MT" panose="02040603050505030304" pitchFamily="18" charset="0"/>
              </a:rPr>
              <a:t>: In developing countries this is the main reason for destruction. To meet the demands of rapidly growing population, agricultural lands and settlements are created permanently by clearing forests.</a:t>
            </a:r>
          </a:p>
          <a:p>
            <a:pPr marL="0" indent="0">
              <a:buNone/>
            </a:pPr>
            <a:r>
              <a:rPr lang="en-US" sz="2000" dirty="0">
                <a:solidFill>
                  <a:schemeClr val="tx1">
                    <a:lumMod val="95000"/>
                    <a:lumOff val="5000"/>
                  </a:schemeClr>
                </a:solidFill>
                <a:latin typeface="Calisto MT" panose="02040603050505030304" pitchFamily="18" charset="0"/>
              </a:rPr>
              <a:t>f. </a:t>
            </a:r>
            <a:r>
              <a:rPr lang="en-US" sz="2000" dirty="0">
                <a:solidFill>
                  <a:srgbClr val="C00000"/>
                </a:solidFill>
                <a:latin typeface="Calisto MT" panose="02040603050505030304" pitchFamily="18" charset="0"/>
              </a:rPr>
              <a:t>OVERGRAZING :</a:t>
            </a:r>
            <a:r>
              <a:rPr lang="en-US" sz="2000" dirty="0">
                <a:solidFill>
                  <a:schemeClr val="tx1">
                    <a:lumMod val="95000"/>
                    <a:lumOff val="5000"/>
                  </a:schemeClr>
                </a:solidFill>
                <a:latin typeface="Calisto MT" panose="02040603050505030304" pitchFamily="18" charset="0"/>
              </a:rPr>
              <a:t> The poor in tropics mainly rely on wood as source of fuel leading to loss of tree cover and cleared lands are turned into grazing lands.</a:t>
            </a:r>
          </a:p>
          <a:p>
            <a:pPr marL="0" indent="0">
              <a:buNone/>
            </a:pPr>
            <a:endParaRPr lang="en-US" sz="2000" dirty="0">
              <a:solidFill>
                <a:schemeClr val="tx1">
                  <a:lumMod val="95000"/>
                  <a:lumOff val="5000"/>
                </a:schemeClr>
              </a:solidFill>
              <a:latin typeface="Calisto MT" panose="02040603050505030304" pitchFamily="18" charset="0"/>
            </a:endParaRPr>
          </a:p>
          <a:p>
            <a:pPr marL="0" indent="0">
              <a:buNone/>
            </a:pPr>
            <a:r>
              <a:rPr lang="en-US" sz="2400" b="1" dirty="0">
                <a:solidFill>
                  <a:srgbClr val="C00000"/>
                </a:solidFill>
                <a:latin typeface="Calisto MT" panose="02040603050505030304" pitchFamily="18" charset="0"/>
              </a:rPr>
              <a:t>DISADVANTAGES OF FOREST RESOURCES : </a:t>
            </a:r>
          </a:p>
          <a:p>
            <a:pPr marL="0" indent="0">
              <a:buNone/>
            </a:pPr>
            <a:r>
              <a:rPr lang="en-US" sz="2000" dirty="0">
                <a:solidFill>
                  <a:schemeClr val="tx1">
                    <a:lumMod val="95000"/>
                    <a:lumOff val="5000"/>
                  </a:schemeClr>
                </a:solidFill>
                <a:latin typeface="Calisto MT" panose="02040603050505030304" pitchFamily="18" charset="0"/>
              </a:rPr>
              <a:t>are habitat loss, climate change, disruption of water </a:t>
            </a:r>
          </a:p>
          <a:p>
            <a:pPr marL="0" indent="0">
              <a:buNone/>
            </a:pPr>
            <a:r>
              <a:rPr lang="en-US" sz="2000" dirty="0">
                <a:solidFill>
                  <a:schemeClr val="tx1">
                    <a:lumMod val="95000"/>
                    <a:lumOff val="5000"/>
                  </a:schemeClr>
                </a:solidFill>
                <a:latin typeface="Calisto MT" panose="02040603050505030304" pitchFamily="18" charset="0"/>
              </a:rPr>
              <a:t>cycles, soil erosion, deforestation, loss of resources,</a:t>
            </a:r>
          </a:p>
          <a:p>
            <a:pPr marL="0" indent="0">
              <a:buNone/>
            </a:pPr>
            <a:r>
              <a:rPr lang="en-US" sz="2000" dirty="0">
                <a:solidFill>
                  <a:schemeClr val="tx1">
                    <a:lumMod val="95000"/>
                    <a:lumOff val="5000"/>
                  </a:schemeClr>
                </a:solidFill>
                <a:latin typeface="Calisto MT" panose="02040603050505030304" pitchFamily="18" charset="0"/>
              </a:rPr>
              <a:t> increases the risks of wildfires and floods.  </a:t>
            </a:r>
          </a:p>
          <a:p>
            <a:pPr marL="0" indent="0">
              <a:buNone/>
            </a:pPr>
            <a:endParaRPr lang="en-US" sz="2000" dirty="0">
              <a:solidFill>
                <a:schemeClr val="tx1">
                  <a:lumMod val="95000"/>
                  <a:lumOff val="5000"/>
                </a:schemeClr>
              </a:solidFill>
              <a:latin typeface="Calisto MT" panose="02040603050505030304" pitchFamily="18" charset="0"/>
            </a:endParaRPr>
          </a:p>
          <a:p>
            <a:pPr marL="0" indent="0" algn="ctr">
              <a:buNone/>
            </a:pPr>
            <a:r>
              <a:rPr lang="en-US" sz="3600" b="1" dirty="0">
                <a:solidFill>
                  <a:srgbClr val="C00000"/>
                </a:solidFill>
                <a:latin typeface="Calisto MT" panose="02040603050505030304" pitchFamily="18" charset="0"/>
              </a:rPr>
              <a:t>THREATS TO FORESTS RESOURCES :</a:t>
            </a:r>
          </a:p>
          <a:p>
            <a:pPr marL="457200" indent="-457200">
              <a:buFont typeface="+mj-lt"/>
              <a:buAutoNum type="arabicPeriod"/>
            </a:pPr>
            <a:r>
              <a:rPr lang="en-US" sz="2000" dirty="0">
                <a:solidFill>
                  <a:schemeClr val="tx1">
                    <a:lumMod val="95000"/>
                    <a:lumOff val="5000"/>
                  </a:schemeClr>
                </a:solidFill>
                <a:latin typeface="Calisto MT" panose="02040603050505030304" pitchFamily="18" charset="0"/>
              </a:rPr>
              <a:t>TIMBER EXTRACTION :</a:t>
            </a:r>
          </a:p>
          <a:p>
            <a:pPr>
              <a:buFont typeface="Wingdings" panose="05000000000000000000" pitchFamily="2" charset="2"/>
              <a:buChar char="§"/>
            </a:pPr>
            <a:r>
              <a:rPr lang="en-US" sz="2000" dirty="0">
                <a:solidFill>
                  <a:schemeClr val="tx1">
                    <a:lumMod val="95000"/>
                    <a:lumOff val="5000"/>
                  </a:schemeClr>
                </a:solidFill>
                <a:latin typeface="Calisto MT" panose="02040603050505030304" pitchFamily="18" charset="0"/>
              </a:rPr>
              <a:t> The process of harvesting wood from forests for commercial and domestic use.</a:t>
            </a:r>
          </a:p>
          <a:p>
            <a:pPr>
              <a:buFont typeface="Wingdings" panose="05000000000000000000" pitchFamily="2" charset="2"/>
              <a:buChar char="§"/>
            </a:pPr>
            <a:r>
              <a:rPr lang="en-US" sz="2000" dirty="0">
                <a:solidFill>
                  <a:schemeClr val="tx1">
                    <a:lumMod val="95000"/>
                    <a:lumOff val="5000"/>
                  </a:schemeClr>
                </a:solidFill>
                <a:latin typeface="Calisto MT" panose="02040603050505030304" pitchFamily="18" charset="0"/>
              </a:rPr>
              <a:t>It involves cutting down trees for various purposes such as construction, industry, fuel.</a:t>
            </a:r>
          </a:p>
          <a:p>
            <a:pPr marL="0" indent="0">
              <a:buNone/>
            </a:pPr>
            <a:endParaRPr lang="en-US" sz="2000" dirty="0">
              <a:solidFill>
                <a:schemeClr val="tx1">
                  <a:lumMod val="95000"/>
                  <a:lumOff val="5000"/>
                </a:schemeClr>
              </a:solidFill>
              <a:latin typeface="Calisto MT" panose="02040603050505030304" pitchFamily="18" charset="0"/>
            </a:endParaRPr>
          </a:p>
          <a:p>
            <a:pPr>
              <a:buFont typeface="Wingdings" panose="05000000000000000000" pitchFamily="2" charset="2"/>
              <a:buChar char="§"/>
            </a:pPr>
            <a:endParaRPr lang="en-US" sz="2000" dirty="0">
              <a:solidFill>
                <a:schemeClr val="bg1"/>
              </a:solidFill>
              <a:latin typeface="Calisto MT" panose="02040603050505030304" pitchFamily="18" charset="0"/>
            </a:endParaRPr>
          </a:p>
          <a:p>
            <a:pPr marL="0" indent="0">
              <a:buNone/>
            </a:pPr>
            <a:endParaRPr lang="en-IN" sz="2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3901229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69273-C3F4-3062-1453-68CD7FCB1843}"/>
              </a:ext>
            </a:extLst>
          </p:cNvPr>
          <p:cNvSpPr>
            <a:spLocks noGrp="1"/>
          </p:cNvSpPr>
          <p:nvPr>
            <p:ph idx="1"/>
          </p:nvPr>
        </p:nvSpPr>
        <p:spPr>
          <a:xfrm>
            <a:off x="250371" y="324464"/>
            <a:ext cx="11745686" cy="6086167"/>
          </a:xfrm>
        </p:spPr>
        <p:txBody>
          <a:bodyPr>
            <a:normAutofit fontScale="92500" lnSpcReduction="10000"/>
          </a:bodyPr>
          <a:lstStyle/>
          <a:p>
            <a:pPr>
              <a:buFont typeface="Wingdings" panose="05000000000000000000" pitchFamily="2" charset="2"/>
              <a:buChar char="§"/>
            </a:pPr>
            <a:r>
              <a:rPr lang="en-US" sz="2400" dirty="0">
                <a:latin typeface="Calisto MT" panose="02040603050505030304" pitchFamily="18" charset="0"/>
              </a:rPr>
              <a:t>Uncontrolled logging leads to significant environmental and social problems including deforestation, loss of biodiversity, increase soil erosion and negative impacts on tribal communities.</a:t>
            </a:r>
          </a:p>
          <a:p>
            <a:pPr>
              <a:buFont typeface="Wingdings" panose="05000000000000000000" pitchFamily="2" charset="2"/>
              <a:buChar char="§"/>
            </a:pPr>
            <a:r>
              <a:rPr lang="en-US" sz="2400" dirty="0">
                <a:latin typeface="Calisto MT" panose="02040603050505030304" pitchFamily="18" charset="0"/>
              </a:rPr>
              <a:t>The steps/methods of timber extraction are :</a:t>
            </a:r>
          </a:p>
          <a:p>
            <a:pPr marL="457200" indent="-457200">
              <a:buFont typeface="+mj-lt"/>
              <a:buAutoNum type="alphaLcParenR"/>
            </a:pPr>
            <a:r>
              <a:rPr lang="en-US" sz="2400" dirty="0">
                <a:latin typeface="Calisto MT" panose="02040603050505030304" pitchFamily="18" charset="0"/>
              </a:rPr>
              <a:t>Clear felling</a:t>
            </a:r>
          </a:p>
          <a:p>
            <a:pPr marL="457200" indent="-457200">
              <a:buFont typeface="+mj-lt"/>
              <a:buAutoNum type="alphaLcParenR"/>
            </a:pPr>
            <a:r>
              <a:rPr lang="en-US" sz="2400" dirty="0">
                <a:latin typeface="Calisto MT" panose="02040603050505030304" pitchFamily="18" charset="0"/>
              </a:rPr>
              <a:t>Mechanized logging </a:t>
            </a:r>
          </a:p>
          <a:p>
            <a:pPr marL="457200" indent="-457200">
              <a:buFont typeface="+mj-lt"/>
              <a:buAutoNum type="alphaLcParenR"/>
            </a:pPr>
            <a:r>
              <a:rPr lang="en-US" sz="2400" dirty="0">
                <a:latin typeface="Calisto MT" panose="02040603050505030304" pitchFamily="18" charset="0"/>
              </a:rPr>
              <a:t>Manual logging </a:t>
            </a:r>
          </a:p>
          <a:p>
            <a:pPr marL="457200" indent="-457200">
              <a:buFont typeface="+mj-lt"/>
              <a:buAutoNum type="alphaLcParenR"/>
            </a:pPr>
            <a:r>
              <a:rPr lang="en-US" sz="2400" dirty="0">
                <a:latin typeface="Calisto MT" panose="02040603050505030304" pitchFamily="18" charset="0"/>
              </a:rPr>
              <a:t>Selective logging</a:t>
            </a:r>
          </a:p>
          <a:p>
            <a:pPr marL="0" indent="0">
              <a:buNone/>
            </a:pPr>
            <a:endParaRPr lang="en-US" sz="2400" dirty="0">
              <a:solidFill>
                <a:schemeClr val="bg1"/>
              </a:solidFill>
              <a:latin typeface="Calisto MT" panose="02040603050505030304" pitchFamily="18" charset="0"/>
            </a:endParaRPr>
          </a:p>
          <a:p>
            <a:pPr marL="0" indent="0">
              <a:buNone/>
            </a:pPr>
            <a:r>
              <a:rPr lang="en-US" sz="2000" b="1" dirty="0">
                <a:solidFill>
                  <a:srgbClr val="FF0000"/>
                </a:solidFill>
                <a:latin typeface="Calisto MT" panose="02040603050505030304" pitchFamily="18" charset="0"/>
              </a:rPr>
              <a:t>2. MINING </a:t>
            </a:r>
            <a:r>
              <a:rPr lang="en-US" sz="2000" dirty="0">
                <a:solidFill>
                  <a:srgbClr val="FF0000"/>
                </a:solidFill>
                <a:latin typeface="Arial Rounded MT Bold" panose="020F0704030504030204" pitchFamily="34" charset="0"/>
              </a:rPr>
              <a:t>: </a:t>
            </a:r>
          </a:p>
          <a:p>
            <a:pPr>
              <a:buFont typeface="Wingdings" panose="05000000000000000000" pitchFamily="2" charset="2"/>
              <a:buChar char="§"/>
            </a:pPr>
            <a:r>
              <a:rPr lang="en-US" sz="2400" dirty="0">
                <a:latin typeface="Calisto MT" panose="02040603050505030304" pitchFamily="18" charset="0"/>
              </a:rPr>
              <a:t>Mining operations for extracting minerals and fossil fuels </a:t>
            </a:r>
          </a:p>
          <a:p>
            <a:pPr marL="0" indent="0">
              <a:buNone/>
            </a:pPr>
            <a:r>
              <a:rPr lang="en-US" sz="2400" dirty="0">
                <a:latin typeface="Calisto MT" panose="02040603050505030304" pitchFamily="18" charset="0"/>
              </a:rPr>
              <a:t>like coal often involves vast forest areas. </a:t>
            </a:r>
          </a:p>
          <a:p>
            <a:pPr>
              <a:buFont typeface="Wingdings" panose="05000000000000000000" pitchFamily="2" charset="2"/>
              <a:buChar char="§"/>
            </a:pPr>
            <a:r>
              <a:rPr lang="en-US" sz="2400" dirty="0">
                <a:latin typeface="Calisto MT" panose="02040603050505030304" pitchFamily="18" charset="0"/>
              </a:rPr>
              <a:t>More than 80000 land of the country is presently under the stress of mining activities.</a:t>
            </a:r>
          </a:p>
          <a:p>
            <a:pPr>
              <a:buFont typeface="Wingdings" panose="05000000000000000000" pitchFamily="2" charset="2"/>
              <a:buChar char="§"/>
            </a:pPr>
            <a:r>
              <a:rPr lang="en-US" sz="2400" dirty="0">
                <a:latin typeface="Calisto MT" panose="02040603050505030304" pitchFamily="18" charset="0"/>
              </a:rPr>
              <a:t>This results in defacing the topography and </a:t>
            </a:r>
          </a:p>
          <a:p>
            <a:pPr marL="0" indent="0">
              <a:buNone/>
            </a:pPr>
            <a:r>
              <a:rPr lang="en-US" sz="2400" dirty="0">
                <a:latin typeface="Calisto MT" panose="02040603050505030304" pitchFamily="18" charset="0"/>
              </a:rPr>
              <a:t>destruction of the landscape in the area.</a:t>
            </a:r>
          </a:p>
          <a:p>
            <a:endParaRPr lang="en-IN" dirty="0">
              <a:solidFill>
                <a:schemeClr val="bg1"/>
              </a:solidFill>
            </a:endParaRPr>
          </a:p>
        </p:txBody>
      </p:sp>
    </p:spTree>
    <p:extLst>
      <p:ext uri="{BB962C8B-B14F-4D97-AF65-F5344CB8AC3E}">
        <p14:creationId xmlns:p14="http://schemas.microsoft.com/office/powerpoint/2010/main" val="3080327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951C5-FFEF-C510-B63A-B2592F627ECE}"/>
              </a:ext>
            </a:extLst>
          </p:cNvPr>
          <p:cNvSpPr>
            <a:spLocks noGrp="1"/>
          </p:cNvSpPr>
          <p:nvPr>
            <p:ph type="title"/>
          </p:nvPr>
        </p:nvSpPr>
        <p:spPr>
          <a:xfrm>
            <a:off x="838199" y="193061"/>
            <a:ext cx="10515600" cy="1006475"/>
          </a:xfrm>
        </p:spPr>
        <p:txBody>
          <a:bodyPr>
            <a:normAutofit/>
          </a:bodyPr>
          <a:lstStyle/>
          <a:p>
            <a:pPr algn="ctr"/>
            <a:r>
              <a:rPr lang="en-US" sz="2800" b="1" dirty="0">
                <a:solidFill>
                  <a:srgbClr val="C00000"/>
                </a:solidFill>
                <a:latin typeface="Arial Black" panose="020B0A04020102020204" pitchFamily="34" charset="0"/>
              </a:rPr>
              <a:t>DAMS AND OTHER EFFECTS ON FOREST AND TRIBAL PEOPLE </a:t>
            </a:r>
            <a:endParaRPr lang="en-IN" sz="2800" b="1" dirty="0">
              <a:solidFill>
                <a:srgbClr val="C0000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62E03563-A477-63E1-24B7-AF0D8C37E246}"/>
              </a:ext>
            </a:extLst>
          </p:cNvPr>
          <p:cNvSpPr>
            <a:spLocks noGrp="1"/>
          </p:cNvSpPr>
          <p:nvPr>
            <p:ph idx="1"/>
          </p:nvPr>
        </p:nvSpPr>
        <p:spPr>
          <a:xfrm>
            <a:off x="403123" y="1476172"/>
            <a:ext cx="10950677" cy="4472344"/>
          </a:xfrm>
        </p:spPr>
        <p:txBody>
          <a:bodyPr>
            <a:normAutofit fontScale="92500" lnSpcReduction="10000"/>
          </a:bodyPr>
          <a:lstStyle/>
          <a:p>
            <a:pPr>
              <a:buFont typeface="Wingdings" panose="05000000000000000000" pitchFamily="2" charset="2"/>
              <a:buChar char="Ø"/>
            </a:pPr>
            <a:r>
              <a:rPr lang="en-US" sz="2400" dirty="0">
                <a:latin typeface="Calisto MT" panose="02040603050505030304" pitchFamily="18" charset="0"/>
              </a:rPr>
              <a:t>Hydro-electric dams are main causes for destruction.</a:t>
            </a:r>
          </a:p>
          <a:p>
            <a:pPr>
              <a:buFont typeface="Wingdings" panose="05000000000000000000" pitchFamily="2" charset="2"/>
              <a:buChar char="Ø"/>
            </a:pPr>
            <a:r>
              <a:rPr lang="en-IN" sz="2400" dirty="0">
                <a:latin typeface="Calisto MT" panose="02040603050505030304" pitchFamily="18" charset="0"/>
              </a:rPr>
              <a:t>Destruction of forest occurs for constructing big dams,</a:t>
            </a:r>
          </a:p>
          <a:p>
            <a:pPr marL="0" indent="0">
              <a:buNone/>
            </a:pPr>
            <a:r>
              <a:rPr lang="en-IN" sz="2400" dirty="0">
                <a:latin typeface="Calisto MT" panose="02040603050505030304" pitchFamily="18" charset="0"/>
              </a:rPr>
              <a:t> which alters ecological balance.</a:t>
            </a:r>
          </a:p>
          <a:p>
            <a:pPr>
              <a:buFont typeface="Wingdings" panose="05000000000000000000" pitchFamily="2" charset="2"/>
              <a:buChar char="Ø"/>
            </a:pPr>
            <a:r>
              <a:rPr lang="en-IN" sz="2400" dirty="0">
                <a:latin typeface="Calisto MT" panose="02040603050505030304" pitchFamily="18" charset="0"/>
              </a:rPr>
              <a:t>In these way landslides, droughts and floods </a:t>
            </a:r>
          </a:p>
          <a:p>
            <a:pPr marL="0" indent="0">
              <a:buNone/>
            </a:pPr>
            <a:r>
              <a:rPr lang="en-IN" sz="2400" dirty="0">
                <a:latin typeface="Calisto MT" panose="02040603050505030304" pitchFamily="18" charset="0"/>
              </a:rPr>
              <a:t>conditions may rise in area.</a:t>
            </a:r>
          </a:p>
          <a:p>
            <a:pPr>
              <a:buFont typeface="Wingdings" panose="05000000000000000000" pitchFamily="2" charset="2"/>
              <a:buChar char="Ø"/>
            </a:pPr>
            <a:r>
              <a:rPr lang="en-IN" sz="2400" dirty="0">
                <a:latin typeface="Calisto MT" panose="02040603050505030304" pitchFamily="18" charset="0"/>
              </a:rPr>
              <a:t>Big dam construction results problems for tribal and</a:t>
            </a:r>
          </a:p>
          <a:p>
            <a:pPr marL="0" indent="0">
              <a:buNone/>
            </a:pPr>
            <a:r>
              <a:rPr lang="en-IN" sz="2400" dirty="0">
                <a:latin typeface="Calisto MT" panose="02040603050505030304" pitchFamily="18" charset="0"/>
              </a:rPr>
              <a:t> native people.</a:t>
            </a:r>
          </a:p>
          <a:p>
            <a:pPr>
              <a:buFont typeface="Wingdings" panose="05000000000000000000" pitchFamily="2" charset="2"/>
              <a:buChar char="Ø"/>
            </a:pPr>
            <a:r>
              <a:rPr lang="en-IN" sz="2400" dirty="0">
                <a:latin typeface="Calisto MT" panose="02040603050505030304" pitchFamily="18" charset="0"/>
              </a:rPr>
              <a:t>Dam construction produces a number of health hazards.</a:t>
            </a:r>
          </a:p>
          <a:p>
            <a:pPr>
              <a:buFont typeface="Wingdings" panose="05000000000000000000" pitchFamily="2" charset="2"/>
              <a:buChar char="Ø"/>
            </a:pPr>
            <a:r>
              <a:rPr lang="en-IN" sz="2400" dirty="0">
                <a:latin typeface="Calisto MT" panose="02040603050505030304" pitchFamily="18" charset="0"/>
              </a:rPr>
              <a:t>Thousands of workers who build the dams are attacked</a:t>
            </a:r>
          </a:p>
          <a:p>
            <a:pPr marL="0" indent="0">
              <a:buNone/>
            </a:pPr>
            <a:r>
              <a:rPr lang="en-IN" sz="2400" dirty="0">
                <a:latin typeface="Calisto MT" panose="02040603050505030304" pitchFamily="18" charset="0"/>
              </a:rPr>
              <a:t> by diseases and it results in human rights violations.</a:t>
            </a:r>
          </a:p>
          <a:p>
            <a:pPr>
              <a:buFont typeface="Wingdings" panose="05000000000000000000" pitchFamily="2" charset="2"/>
              <a:buChar char="Ø"/>
            </a:pPr>
            <a:r>
              <a:rPr lang="en-IN" sz="2400" dirty="0">
                <a:latin typeface="Calisto MT" panose="02040603050505030304" pitchFamily="18" charset="0"/>
              </a:rPr>
              <a:t>Tribal life and culture are mostly associated with forest.</a:t>
            </a:r>
          </a:p>
          <a:p>
            <a:pPr marL="0" indent="0">
              <a:buNone/>
            </a:pPr>
            <a:endParaRPr lang="en-IN" sz="2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933516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B89C-65A9-8A5B-74CD-9F17FE75A61F}"/>
              </a:ext>
            </a:extLst>
          </p:cNvPr>
          <p:cNvSpPr>
            <a:spLocks noGrp="1"/>
          </p:cNvSpPr>
          <p:nvPr>
            <p:ph type="title"/>
          </p:nvPr>
        </p:nvSpPr>
        <p:spPr>
          <a:xfrm>
            <a:off x="838200" y="2675706"/>
            <a:ext cx="10515600" cy="1325563"/>
          </a:xfrm>
        </p:spPr>
        <p:txBody>
          <a:bodyPr>
            <a:normAutofit/>
          </a:bodyPr>
          <a:lstStyle/>
          <a:p>
            <a:pPr algn="ctr"/>
            <a:r>
              <a:rPr lang="en-IN" sz="6000" b="1" dirty="0">
                <a:solidFill>
                  <a:srgbClr val="C00000"/>
                </a:solidFill>
                <a:latin typeface="Arial Black" panose="020B0A04020102020204" pitchFamily="34" charset="0"/>
              </a:rPr>
              <a:t>WATER  RESOURCES </a:t>
            </a:r>
          </a:p>
        </p:txBody>
      </p:sp>
      <p:sp>
        <p:nvSpPr>
          <p:cNvPr id="4" name="Content Placeholder 3">
            <a:extLst>
              <a:ext uri="{FF2B5EF4-FFF2-40B4-BE49-F238E27FC236}">
                <a16:creationId xmlns:a16="http://schemas.microsoft.com/office/drawing/2014/main" id="{950437F3-8927-27B1-C104-F7A4A4EA8B7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84544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F21FA-B3DC-E4EF-A593-EE14040612FC}"/>
              </a:ext>
            </a:extLst>
          </p:cNvPr>
          <p:cNvSpPr>
            <a:spLocks noGrp="1"/>
          </p:cNvSpPr>
          <p:nvPr>
            <p:ph type="title"/>
          </p:nvPr>
        </p:nvSpPr>
        <p:spPr>
          <a:xfrm>
            <a:off x="838200" y="365125"/>
            <a:ext cx="10515600" cy="1070385"/>
          </a:xfrm>
        </p:spPr>
        <p:txBody>
          <a:bodyPr>
            <a:normAutofit/>
          </a:bodyPr>
          <a:lstStyle/>
          <a:p>
            <a:pPr algn="ctr"/>
            <a:r>
              <a:rPr lang="en-IN" sz="3200" b="1" dirty="0">
                <a:solidFill>
                  <a:srgbClr val="C00000"/>
                </a:solidFill>
                <a:latin typeface="Arial Black" panose="020B0A04020102020204" pitchFamily="34" charset="0"/>
              </a:rPr>
              <a:t>WATER RESOURCES :</a:t>
            </a:r>
          </a:p>
        </p:txBody>
      </p:sp>
      <p:sp>
        <p:nvSpPr>
          <p:cNvPr id="3" name="Content Placeholder 2">
            <a:extLst>
              <a:ext uri="{FF2B5EF4-FFF2-40B4-BE49-F238E27FC236}">
                <a16:creationId xmlns:a16="http://schemas.microsoft.com/office/drawing/2014/main" id="{13C92771-3F35-66F0-BEC5-60B39C976766}"/>
              </a:ext>
            </a:extLst>
          </p:cNvPr>
          <p:cNvSpPr>
            <a:spLocks noGrp="1"/>
          </p:cNvSpPr>
          <p:nvPr>
            <p:ph idx="1"/>
          </p:nvPr>
        </p:nvSpPr>
        <p:spPr>
          <a:xfrm>
            <a:off x="739877" y="1691148"/>
            <a:ext cx="10515600" cy="4306529"/>
          </a:xfrm>
        </p:spPr>
        <p:txBody>
          <a:bodyPr>
            <a:normAutofit/>
          </a:bodyPr>
          <a:lstStyle/>
          <a:p>
            <a:pPr>
              <a:buFont typeface="Courier New" panose="02070309020205020404" pitchFamily="49" charset="0"/>
              <a:buChar char="o"/>
            </a:pPr>
            <a:r>
              <a:rPr lang="en-IN" sz="2000" dirty="0">
                <a:latin typeface="Calisto MT" panose="02040603050505030304" pitchFamily="18" charset="0"/>
              </a:rPr>
              <a:t>Water resources are sources of water that are potentially useful.</a:t>
            </a:r>
          </a:p>
          <a:p>
            <a:pPr>
              <a:buFont typeface="Courier New" panose="02070309020205020404" pitchFamily="49" charset="0"/>
              <a:buChar char="o"/>
            </a:pPr>
            <a:r>
              <a:rPr lang="en-IN" sz="2000" dirty="0">
                <a:latin typeface="Calisto MT" panose="02040603050505030304" pitchFamily="18" charset="0"/>
              </a:rPr>
              <a:t>Uses of water include agricultural, industrial, household, recreational and environmental activities.</a:t>
            </a:r>
          </a:p>
          <a:p>
            <a:pPr>
              <a:buFont typeface="Courier New" panose="02070309020205020404" pitchFamily="49" charset="0"/>
              <a:buChar char="o"/>
            </a:pPr>
            <a:endParaRPr lang="en-IN" sz="2000" dirty="0">
              <a:latin typeface="Calisto MT" panose="02040603050505030304" pitchFamily="18" charset="0"/>
            </a:endParaRPr>
          </a:p>
          <a:p>
            <a:pPr marL="0" indent="0">
              <a:buNone/>
            </a:pPr>
            <a:r>
              <a:rPr lang="en-IN" sz="2400" b="1" dirty="0">
                <a:solidFill>
                  <a:srgbClr val="C00000"/>
                </a:solidFill>
                <a:latin typeface="Calisto MT" panose="02040603050505030304" pitchFamily="18" charset="0"/>
              </a:rPr>
              <a:t>DISTRIBUTION OF WATER ON EARTH :</a:t>
            </a:r>
          </a:p>
          <a:p>
            <a:pPr marL="0" indent="0">
              <a:buNone/>
            </a:pPr>
            <a:r>
              <a:rPr lang="en-IN" sz="2000" dirty="0">
                <a:latin typeface="Calisto MT" panose="02040603050505030304" pitchFamily="18" charset="0"/>
              </a:rPr>
              <a:t>97% of the water on the earth is salt water and only 3% is fresh water.</a:t>
            </a:r>
          </a:p>
          <a:p>
            <a:pPr marL="0" indent="0">
              <a:buNone/>
            </a:pPr>
            <a:r>
              <a:rPr lang="en-IN" sz="2000" dirty="0">
                <a:latin typeface="Calisto MT" panose="02040603050505030304" pitchFamily="18" charset="0"/>
              </a:rPr>
              <a:t>Fresh water occurs mainly in 2 forms :</a:t>
            </a:r>
          </a:p>
          <a:p>
            <a:pPr marL="457200" indent="-457200">
              <a:buAutoNum type="arabicPeriod"/>
            </a:pPr>
            <a:r>
              <a:rPr lang="en-IN" sz="2000" dirty="0">
                <a:latin typeface="Calisto MT" panose="02040603050505030304" pitchFamily="18" charset="0"/>
              </a:rPr>
              <a:t>GROUND WATER : About 9.86% of the total fresh water resources is the form of groundwater.</a:t>
            </a:r>
          </a:p>
          <a:p>
            <a:pPr marL="457200" indent="-457200">
              <a:buAutoNum type="arabicPeriod"/>
            </a:pPr>
            <a:r>
              <a:rPr lang="en-IN" sz="2000" dirty="0">
                <a:latin typeface="Calisto MT" panose="02040603050505030304" pitchFamily="18" charset="0"/>
              </a:rPr>
              <a:t>SURFACE WATER : It is about 35-50 times that of water surface supplies.</a:t>
            </a:r>
          </a:p>
          <a:p>
            <a:pPr marL="0" indent="0">
              <a:buNone/>
            </a:pPr>
            <a:endParaRPr lang="en-IN" sz="2000" dirty="0">
              <a:latin typeface="Calisto MT" panose="02040603050505030304" pitchFamily="18" charset="0"/>
            </a:endParaRPr>
          </a:p>
          <a:p>
            <a:pPr marL="0" indent="0">
              <a:buNone/>
            </a:pPr>
            <a:endParaRPr lang="en-IN" sz="2000" dirty="0">
              <a:solidFill>
                <a:schemeClr val="bg1"/>
              </a:solidFill>
              <a:latin typeface="Arial Rounded MT Bold" panose="020F0704030504030204" pitchFamily="34" charset="0"/>
            </a:endParaRPr>
          </a:p>
        </p:txBody>
      </p:sp>
    </p:spTree>
    <p:extLst>
      <p:ext uri="{BB962C8B-B14F-4D97-AF65-F5344CB8AC3E}">
        <p14:creationId xmlns:p14="http://schemas.microsoft.com/office/powerpoint/2010/main" val="2639414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9A651-A312-37DC-47AC-7D288BCC3F7A}"/>
              </a:ext>
            </a:extLst>
          </p:cNvPr>
          <p:cNvSpPr>
            <a:spLocks noGrp="1"/>
          </p:cNvSpPr>
          <p:nvPr>
            <p:ph type="title"/>
          </p:nvPr>
        </p:nvSpPr>
        <p:spPr>
          <a:xfrm>
            <a:off x="769374" y="382075"/>
            <a:ext cx="10515600" cy="1155290"/>
          </a:xfrm>
        </p:spPr>
        <p:txBody>
          <a:bodyPr/>
          <a:lstStyle/>
          <a:p>
            <a:pPr algn="ctr"/>
            <a:r>
              <a:rPr lang="en-US" sz="3200" b="1" dirty="0">
                <a:solidFill>
                  <a:srgbClr val="C00000"/>
                </a:solidFill>
                <a:latin typeface="Arial Black" panose="020B0A04020102020204" pitchFamily="34" charset="0"/>
              </a:rPr>
              <a:t>OVER UTILIZATION OF GROUND WATER AND SURFACE WATER :</a:t>
            </a:r>
            <a:endParaRPr lang="en-IN" sz="3200" b="1" dirty="0">
              <a:solidFill>
                <a:srgbClr val="C0000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856CA807-68B3-F139-E480-8F4158C588DD}"/>
              </a:ext>
            </a:extLst>
          </p:cNvPr>
          <p:cNvSpPr>
            <a:spLocks noGrp="1"/>
          </p:cNvSpPr>
          <p:nvPr>
            <p:ph idx="1"/>
          </p:nvPr>
        </p:nvSpPr>
        <p:spPr>
          <a:xfrm>
            <a:off x="838200" y="1743434"/>
            <a:ext cx="10515600" cy="4470553"/>
          </a:xfrm>
        </p:spPr>
        <p:txBody>
          <a:bodyPr>
            <a:normAutofit/>
          </a:bodyPr>
          <a:lstStyle/>
          <a:p>
            <a:pPr marL="0" indent="0">
              <a:buNone/>
            </a:pPr>
            <a:r>
              <a:rPr lang="en-US" sz="2000" dirty="0">
                <a:latin typeface="Arial Rounded MT Bold" panose="020F0704030504030204" pitchFamily="34" charset="0"/>
              </a:rPr>
              <a:t>Over use of groundwater has following effects :</a:t>
            </a:r>
          </a:p>
          <a:p>
            <a:pPr marL="0" indent="0">
              <a:buNone/>
            </a:pPr>
            <a:r>
              <a:rPr lang="en-US" sz="2000" dirty="0">
                <a:latin typeface="Arial Rounded MT Bold" panose="020F0704030504030204" pitchFamily="34" charset="0"/>
              </a:rPr>
              <a:t>1.  LOWERING OF WATER TABLE : Excessive use of ground water for drinking, irrigation, and domestic purposes has resulted in rapid depletion of ground water in various regions leading to lowering of water and drying of wells.</a:t>
            </a:r>
          </a:p>
          <a:p>
            <a:pPr marL="0" indent="0">
              <a:buNone/>
            </a:pPr>
            <a:r>
              <a:rPr lang="en-US" sz="2000" dirty="0">
                <a:latin typeface="Arial Rounded MT Bold" panose="020F0704030504030204" pitchFamily="34" charset="0"/>
              </a:rPr>
              <a:t>The reasons for shortage of water are :</a:t>
            </a:r>
          </a:p>
          <a:p>
            <a:pPr marL="457200" indent="-457200">
              <a:buFont typeface="+mj-lt"/>
              <a:buAutoNum type="alphaLcPeriod"/>
            </a:pPr>
            <a:r>
              <a:rPr lang="en-US" sz="2000" dirty="0">
                <a:latin typeface="Arial Rounded MT Bold" panose="020F0704030504030204" pitchFamily="34" charset="0"/>
              </a:rPr>
              <a:t>Increase in population,</a:t>
            </a:r>
          </a:p>
          <a:p>
            <a:pPr marL="457200" indent="-457200">
              <a:buFont typeface="+mj-lt"/>
              <a:buAutoNum type="alphaLcPeriod"/>
            </a:pPr>
            <a:r>
              <a:rPr lang="en-US" sz="2000" dirty="0">
                <a:latin typeface="Arial Rounded MT Bold" panose="020F0704030504030204" pitchFamily="34" charset="0"/>
              </a:rPr>
              <a:t>Increasing demand of water for various purpose,</a:t>
            </a:r>
          </a:p>
          <a:p>
            <a:pPr marL="457200" indent="-457200">
              <a:buFont typeface="+mj-lt"/>
              <a:buAutoNum type="alphaLcPeriod"/>
            </a:pPr>
            <a:r>
              <a:rPr lang="en-US" sz="2000" dirty="0">
                <a:latin typeface="Arial Rounded MT Bold" panose="020F0704030504030204" pitchFamily="34" charset="0"/>
              </a:rPr>
              <a:t>Unequal distribution of fresh water,</a:t>
            </a:r>
          </a:p>
          <a:p>
            <a:pPr marL="457200" indent="-457200">
              <a:buFont typeface="+mj-lt"/>
              <a:buAutoNum type="alphaLcPeriod"/>
            </a:pPr>
            <a:r>
              <a:rPr lang="en-US" sz="2000" dirty="0">
                <a:latin typeface="Arial Rounded MT Bold" panose="020F0704030504030204" pitchFamily="34" charset="0"/>
              </a:rPr>
              <a:t>Increasing pollution of water sources cause over exploitation.</a:t>
            </a:r>
          </a:p>
          <a:p>
            <a:pPr marL="0" indent="0">
              <a:buNone/>
            </a:pPr>
            <a:r>
              <a:rPr lang="en-US" sz="2000" dirty="0">
                <a:latin typeface="Arial Rounded MT Bold" panose="020F0704030504030204" pitchFamily="34" charset="0"/>
              </a:rPr>
              <a:t>2.  GROUND SUBSIDENCE : When groundwater withdrawal is greater than its recharge rate, the sediments in the aquifer becomes compacted this is called ground subsidence.</a:t>
            </a:r>
          </a:p>
        </p:txBody>
      </p:sp>
    </p:spTree>
    <p:extLst>
      <p:ext uri="{BB962C8B-B14F-4D97-AF65-F5344CB8AC3E}">
        <p14:creationId xmlns:p14="http://schemas.microsoft.com/office/powerpoint/2010/main" val="1286970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A6043C-F8A0-9B74-FA8D-328A68E93F6E}"/>
              </a:ext>
            </a:extLst>
          </p:cNvPr>
          <p:cNvSpPr>
            <a:spLocks noGrp="1"/>
          </p:cNvSpPr>
          <p:nvPr>
            <p:ph idx="1"/>
          </p:nvPr>
        </p:nvSpPr>
        <p:spPr>
          <a:xfrm>
            <a:off x="838200" y="835743"/>
            <a:ext cx="10515600" cy="5014452"/>
          </a:xfrm>
        </p:spPr>
        <p:txBody>
          <a:bodyPr>
            <a:normAutofit/>
          </a:bodyPr>
          <a:lstStyle/>
          <a:p>
            <a:pPr marL="457200" indent="-457200">
              <a:buAutoNum type="arabicPeriod" startAt="3"/>
            </a:pPr>
            <a:r>
              <a:rPr lang="en-US" sz="2000" dirty="0">
                <a:latin typeface="Calisto MT" panose="02040603050505030304" pitchFamily="18" charset="0"/>
              </a:rPr>
              <a:t>DROUGHT : Is an extended period of months or years when a region notes a deficiency in  its water supply whether surface or underground water.</a:t>
            </a:r>
          </a:p>
          <a:p>
            <a:pPr marL="0" indent="0">
              <a:buNone/>
            </a:pPr>
            <a:r>
              <a:rPr lang="en-US" sz="2000" dirty="0">
                <a:latin typeface="Calisto MT" panose="02040603050505030304" pitchFamily="18" charset="0"/>
              </a:rPr>
              <a:t>We can define droughts in four ways :</a:t>
            </a:r>
          </a:p>
          <a:p>
            <a:pPr marL="457200" indent="-457200">
              <a:buFont typeface="+mj-lt"/>
              <a:buAutoNum type="alphaLcParenR"/>
            </a:pPr>
            <a:r>
              <a:rPr lang="en-US" sz="2000" dirty="0">
                <a:latin typeface="Calisto MT" panose="02040603050505030304" pitchFamily="18" charset="0"/>
              </a:rPr>
              <a:t>Meteorological drought : is generally defined by comparing the rainfall in a particular place and at a particular time with average rainfall for that place. It is basically related to rainfall amounts.</a:t>
            </a:r>
          </a:p>
          <a:p>
            <a:pPr marL="457200" indent="-457200">
              <a:buFont typeface="+mj-lt"/>
              <a:buAutoNum type="alphaLcParenR"/>
            </a:pPr>
            <a:r>
              <a:rPr lang="en-US" sz="2000" dirty="0">
                <a:latin typeface="Calisto MT" panose="02040603050505030304" pitchFamily="18" charset="0"/>
              </a:rPr>
              <a:t>Hydrological drought : is associated with the effect of low rainfall on water levels in rivers, lakes and aquifers.</a:t>
            </a:r>
          </a:p>
          <a:p>
            <a:pPr marL="457200" indent="-457200">
              <a:buFont typeface="+mj-lt"/>
              <a:buAutoNum type="alphaLcParenR"/>
            </a:pPr>
            <a:r>
              <a:rPr lang="en-US" sz="2000" dirty="0">
                <a:latin typeface="Calisto MT" panose="02040603050505030304" pitchFamily="18" charset="0"/>
              </a:rPr>
              <a:t>Agricultural drought : it is related to the availability of water for crops. Agricultural drought is mainly effects food production and farming.</a:t>
            </a:r>
          </a:p>
          <a:p>
            <a:pPr marL="457200" indent="-457200">
              <a:buFont typeface="+mj-lt"/>
              <a:buAutoNum type="alphaLcParenR"/>
            </a:pPr>
            <a:r>
              <a:rPr lang="en-US" sz="2000" dirty="0">
                <a:latin typeface="Calisto MT" panose="02040603050505030304" pitchFamily="18" charset="0"/>
              </a:rPr>
              <a:t>Socioeconomic drought : occurs when the demand for an economic good exceeds supply as a result of a weather-related shortfall in water supply.</a:t>
            </a:r>
          </a:p>
          <a:p>
            <a:pPr marL="0" indent="0">
              <a:buNone/>
            </a:pPr>
            <a:r>
              <a:rPr lang="en-US" sz="2000" dirty="0">
                <a:latin typeface="Calisto MT" panose="02040603050505030304" pitchFamily="18" charset="0"/>
              </a:rPr>
              <a:t>        The supply of many economic goods, such as water, food grains, fish and  </a:t>
            </a:r>
          </a:p>
          <a:p>
            <a:pPr marL="0" indent="0">
              <a:buNone/>
            </a:pPr>
            <a:r>
              <a:rPr lang="en-US" sz="2000" dirty="0">
                <a:latin typeface="Calisto MT" panose="02040603050505030304" pitchFamily="18" charset="0"/>
              </a:rPr>
              <a:t>       hydroelectric power, depends on weather.</a:t>
            </a:r>
            <a:endParaRPr lang="en-IN" sz="2000" dirty="0">
              <a:latin typeface="Calisto MT" panose="02040603050505030304" pitchFamily="18" charset="0"/>
            </a:endParaRPr>
          </a:p>
        </p:txBody>
      </p:sp>
    </p:spTree>
    <p:extLst>
      <p:ext uri="{BB962C8B-B14F-4D97-AF65-F5344CB8AC3E}">
        <p14:creationId xmlns:p14="http://schemas.microsoft.com/office/powerpoint/2010/main" val="2020416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9D98-501E-2859-B9BB-70D7D263D782}"/>
              </a:ext>
            </a:extLst>
          </p:cNvPr>
          <p:cNvSpPr>
            <a:spLocks noGrp="1"/>
          </p:cNvSpPr>
          <p:nvPr>
            <p:ph type="title"/>
          </p:nvPr>
        </p:nvSpPr>
        <p:spPr>
          <a:xfrm>
            <a:off x="700548" y="630596"/>
            <a:ext cx="10515600" cy="686927"/>
          </a:xfrm>
        </p:spPr>
        <p:txBody>
          <a:bodyPr>
            <a:normAutofit/>
          </a:bodyPr>
          <a:lstStyle/>
          <a:p>
            <a:pPr algn="ctr"/>
            <a:r>
              <a:rPr lang="en-IN" sz="3200" b="1" dirty="0">
                <a:solidFill>
                  <a:srgbClr val="C00000"/>
                </a:solidFill>
                <a:latin typeface="Arial Black" panose="020B0A04020102020204" pitchFamily="34" charset="0"/>
              </a:rPr>
              <a:t>USES OF WATER RESOURCES </a:t>
            </a:r>
            <a:r>
              <a:rPr lang="en-IN" sz="3200" b="1" dirty="0">
                <a:solidFill>
                  <a:schemeClr val="bg1"/>
                </a:solidFill>
                <a:latin typeface="Arial Rounded MT Bold" panose="020F0704030504030204" pitchFamily="34" charset="0"/>
              </a:rPr>
              <a:t>:</a:t>
            </a:r>
          </a:p>
        </p:txBody>
      </p:sp>
      <p:sp>
        <p:nvSpPr>
          <p:cNvPr id="3" name="Content Placeholder 2">
            <a:extLst>
              <a:ext uri="{FF2B5EF4-FFF2-40B4-BE49-F238E27FC236}">
                <a16:creationId xmlns:a16="http://schemas.microsoft.com/office/drawing/2014/main" id="{CCC67FEC-7198-7482-1209-A074D090E580}"/>
              </a:ext>
            </a:extLst>
          </p:cNvPr>
          <p:cNvSpPr>
            <a:spLocks noGrp="1"/>
          </p:cNvSpPr>
          <p:nvPr>
            <p:ph idx="1"/>
          </p:nvPr>
        </p:nvSpPr>
        <p:spPr>
          <a:xfrm>
            <a:off x="452284" y="1317523"/>
            <a:ext cx="9464602" cy="5366306"/>
          </a:xfrm>
        </p:spPr>
        <p:txBody>
          <a:bodyPr>
            <a:normAutofit/>
          </a:bodyPr>
          <a:lstStyle/>
          <a:p>
            <a:pPr marL="457200" indent="-457200">
              <a:buFont typeface="+mj-lt"/>
              <a:buAutoNum type="arabicPeriod"/>
            </a:pPr>
            <a:r>
              <a:rPr lang="en-IN" sz="2400" dirty="0">
                <a:solidFill>
                  <a:srgbClr val="C00000"/>
                </a:solidFill>
                <a:latin typeface="Calisto MT" panose="02040603050505030304" pitchFamily="18" charset="0"/>
              </a:rPr>
              <a:t>DOMESTIC USE </a:t>
            </a:r>
            <a:r>
              <a:rPr lang="en-IN" sz="2400" dirty="0">
                <a:solidFill>
                  <a:schemeClr val="tx1">
                    <a:lumMod val="95000"/>
                    <a:lumOff val="5000"/>
                  </a:schemeClr>
                </a:solidFill>
                <a:latin typeface="Calisto MT" panose="02040603050505030304" pitchFamily="18" charset="0"/>
              </a:rPr>
              <a:t>: Water used in the houses for the purposes of drinking, bathing, washing clothes, cooking, sanitary and other needs. </a:t>
            </a:r>
          </a:p>
          <a:p>
            <a:pPr marL="457200" indent="-457200">
              <a:buFont typeface="+mj-lt"/>
              <a:buAutoNum type="arabicPeriod"/>
            </a:pPr>
            <a:r>
              <a:rPr lang="en-IN" sz="2400" dirty="0">
                <a:solidFill>
                  <a:srgbClr val="C00000"/>
                </a:solidFill>
                <a:latin typeface="Calisto MT" panose="02040603050505030304" pitchFamily="18" charset="0"/>
              </a:rPr>
              <a:t>INDUSTRIAL USE </a:t>
            </a:r>
            <a:r>
              <a:rPr lang="en-IN" sz="2400" dirty="0">
                <a:solidFill>
                  <a:schemeClr val="tx1">
                    <a:lumMod val="95000"/>
                    <a:lumOff val="5000"/>
                  </a:schemeClr>
                </a:solidFill>
                <a:latin typeface="Calisto MT" panose="02040603050505030304" pitchFamily="18" charset="0"/>
              </a:rPr>
              <a:t>: Water is required for various</a:t>
            </a:r>
          </a:p>
          <a:p>
            <a:pPr marL="0" indent="0">
              <a:buNone/>
            </a:pPr>
            <a:r>
              <a:rPr lang="en-IN" sz="2400" dirty="0">
                <a:solidFill>
                  <a:schemeClr val="tx1">
                    <a:lumMod val="95000"/>
                    <a:lumOff val="5000"/>
                  </a:schemeClr>
                </a:solidFill>
                <a:latin typeface="Calisto MT" panose="02040603050505030304" pitchFamily="18" charset="0"/>
              </a:rPr>
              <a:t> industries such as cement, mining, textile, leather industries.</a:t>
            </a:r>
          </a:p>
          <a:p>
            <a:pPr marL="0" indent="0">
              <a:buNone/>
            </a:pPr>
            <a:r>
              <a:rPr lang="en-IN" sz="2400" dirty="0">
                <a:solidFill>
                  <a:schemeClr val="tx1">
                    <a:lumMod val="95000"/>
                    <a:lumOff val="5000"/>
                  </a:schemeClr>
                </a:solidFill>
                <a:latin typeface="Calisto MT" panose="02040603050505030304" pitchFamily="18" charset="0"/>
              </a:rPr>
              <a:t>3</a:t>
            </a:r>
            <a:r>
              <a:rPr lang="en-IN" sz="2400" dirty="0">
                <a:solidFill>
                  <a:srgbClr val="C00000"/>
                </a:solidFill>
                <a:latin typeface="Calisto MT" panose="02040603050505030304" pitchFamily="18" charset="0"/>
              </a:rPr>
              <a:t>.   PUBLIC USE </a:t>
            </a:r>
            <a:r>
              <a:rPr lang="en-IN" sz="2400" dirty="0">
                <a:solidFill>
                  <a:schemeClr val="tx1">
                    <a:lumMod val="95000"/>
                    <a:lumOff val="5000"/>
                  </a:schemeClr>
                </a:solidFill>
                <a:latin typeface="Calisto MT" panose="02040603050505030304" pitchFamily="18" charset="0"/>
              </a:rPr>
              <a:t>: This includes water used for public</a:t>
            </a:r>
          </a:p>
          <a:p>
            <a:pPr marL="0" indent="0">
              <a:buNone/>
            </a:pPr>
            <a:r>
              <a:rPr lang="en-IN" sz="2400" dirty="0">
                <a:solidFill>
                  <a:schemeClr val="tx1">
                    <a:lumMod val="95000"/>
                    <a:lumOff val="5000"/>
                  </a:schemeClr>
                </a:solidFill>
                <a:latin typeface="Calisto MT" panose="02040603050505030304" pitchFamily="18" charset="0"/>
              </a:rPr>
              <a:t> utility purpose such as watering parks, flushing streets, jails, etc.</a:t>
            </a:r>
          </a:p>
          <a:p>
            <a:pPr marL="457200" indent="-457200">
              <a:buAutoNum type="arabicPeriod" startAt="4"/>
            </a:pPr>
            <a:r>
              <a:rPr lang="en-IN" sz="2400" dirty="0">
                <a:solidFill>
                  <a:srgbClr val="C00000"/>
                </a:solidFill>
                <a:latin typeface="Calisto MT" panose="02040603050505030304" pitchFamily="18" charset="0"/>
              </a:rPr>
              <a:t>FIRE USE </a:t>
            </a:r>
            <a:r>
              <a:rPr lang="en-IN" sz="2400" dirty="0">
                <a:solidFill>
                  <a:schemeClr val="tx1">
                    <a:lumMod val="95000"/>
                    <a:lumOff val="5000"/>
                  </a:schemeClr>
                </a:solidFill>
                <a:latin typeface="Calisto MT" panose="02040603050505030304" pitchFamily="18" charset="0"/>
              </a:rPr>
              <a:t>: Water is used in case of accidents</a:t>
            </a:r>
          </a:p>
          <a:p>
            <a:pPr marL="0" indent="0">
              <a:buNone/>
            </a:pPr>
            <a:r>
              <a:rPr lang="en-IN" sz="2400" dirty="0">
                <a:solidFill>
                  <a:schemeClr val="tx1">
                    <a:lumMod val="95000"/>
                    <a:lumOff val="5000"/>
                  </a:schemeClr>
                </a:solidFill>
                <a:latin typeface="Calisto MT" panose="02040603050505030304" pitchFamily="18" charset="0"/>
              </a:rPr>
              <a:t> and to prevent the fire issues.</a:t>
            </a:r>
          </a:p>
          <a:p>
            <a:pPr marL="457200" indent="-457200">
              <a:buAutoNum type="arabicPeriod" startAt="5"/>
            </a:pPr>
            <a:r>
              <a:rPr lang="en-IN" sz="2400" dirty="0">
                <a:solidFill>
                  <a:srgbClr val="C00000"/>
                </a:solidFill>
                <a:latin typeface="Calisto MT" panose="02040603050505030304" pitchFamily="18" charset="0"/>
              </a:rPr>
              <a:t>IRRIGATION</a:t>
            </a:r>
            <a:r>
              <a:rPr lang="en-IN" sz="2400" dirty="0">
                <a:solidFill>
                  <a:schemeClr val="tx1">
                    <a:lumMod val="95000"/>
                    <a:lumOff val="5000"/>
                  </a:schemeClr>
                </a:solidFill>
                <a:latin typeface="Calisto MT" panose="02040603050505030304" pitchFamily="18" charset="0"/>
              </a:rPr>
              <a:t> : To grow crops which is main sources for food.</a:t>
            </a:r>
          </a:p>
          <a:p>
            <a:pPr marL="457200" indent="-457200">
              <a:buAutoNum type="arabicPeriod" startAt="5"/>
            </a:pPr>
            <a:r>
              <a:rPr lang="en-IN" sz="2400" dirty="0">
                <a:solidFill>
                  <a:srgbClr val="C00000"/>
                </a:solidFill>
                <a:latin typeface="Calisto MT" panose="02040603050505030304" pitchFamily="18" charset="0"/>
              </a:rPr>
              <a:t>OTHER USES </a:t>
            </a:r>
            <a:r>
              <a:rPr lang="en-IN" sz="2400" dirty="0">
                <a:solidFill>
                  <a:schemeClr val="tx1">
                    <a:lumMod val="95000"/>
                    <a:lumOff val="5000"/>
                  </a:schemeClr>
                </a:solidFill>
                <a:latin typeface="Calisto MT" panose="02040603050505030304" pitchFamily="18" charset="0"/>
              </a:rPr>
              <a:t>: Hydro electric power generation requires water.</a:t>
            </a:r>
          </a:p>
          <a:p>
            <a:pPr marL="0" indent="0">
              <a:buNone/>
            </a:pPr>
            <a:r>
              <a:rPr lang="en-IN" sz="2400" dirty="0">
                <a:solidFill>
                  <a:schemeClr val="tx1">
                    <a:lumMod val="95000"/>
                    <a:lumOff val="5000"/>
                  </a:schemeClr>
                </a:solidFill>
                <a:latin typeface="Calisto MT" panose="02040603050505030304" pitchFamily="18" charset="0"/>
              </a:rPr>
              <a:t> </a:t>
            </a:r>
          </a:p>
        </p:txBody>
      </p:sp>
    </p:spTree>
    <p:extLst>
      <p:ext uri="{BB962C8B-B14F-4D97-AF65-F5344CB8AC3E}">
        <p14:creationId xmlns:p14="http://schemas.microsoft.com/office/powerpoint/2010/main" val="1228005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DC4D2-F81A-21B4-BB07-5E62E80DCB6E}"/>
              </a:ext>
            </a:extLst>
          </p:cNvPr>
          <p:cNvSpPr>
            <a:spLocks noGrp="1"/>
          </p:cNvSpPr>
          <p:nvPr>
            <p:ph type="title"/>
          </p:nvPr>
        </p:nvSpPr>
        <p:spPr>
          <a:xfrm>
            <a:off x="279324" y="0"/>
            <a:ext cx="4772025" cy="1600200"/>
          </a:xfrm>
        </p:spPr>
        <p:txBody>
          <a:bodyPr>
            <a:normAutofit fontScale="90000"/>
          </a:bodyPr>
          <a:lstStyle/>
          <a:p>
            <a:br>
              <a:rPr lang="en-US" sz="6000" b="1" dirty="0"/>
            </a:br>
            <a:r>
              <a:rPr lang="en-US" sz="6000" b="1" dirty="0">
                <a:solidFill>
                  <a:srgbClr val="C00000"/>
                </a:solidFill>
                <a:latin typeface="Arial Black" panose="020B0A04020102020204" pitchFamily="34" charset="0"/>
              </a:rPr>
              <a:t>FLOOD</a:t>
            </a:r>
          </a:p>
        </p:txBody>
      </p:sp>
      <p:sp>
        <p:nvSpPr>
          <p:cNvPr id="4" name="Text Placeholder 3">
            <a:extLst>
              <a:ext uri="{FF2B5EF4-FFF2-40B4-BE49-F238E27FC236}">
                <a16:creationId xmlns:a16="http://schemas.microsoft.com/office/drawing/2014/main" id="{500CFA89-E2C8-2D1E-3447-A42819D6BF2F}"/>
              </a:ext>
            </a:extLst>
          </p:cNvPr>
          <p:cNvSpPr>
            <a:spLocks noGrp="1"/>
          </p:cNvSpPr>
          <p:nvPr>
            <p:ph type="body" sz="half" idx="2"/>
          </p:nvPr>
        </p:nvSpPr>
        <p:spPr>
          <a:xfrm>
            <a:off x="0" y="2300749"/>
            <a:ext cx="12192000" cy="3406878"/>
          </a:xfrm>
        </p:spPr>
        <p:txBody>
          <a:bodyPr>
            <a:noAutofit/>
          </a:bodyPr>
          <a:lstStyle/>
          <a:p>
            <a:pPr marL="342900" indent="-342900">
              <a:buFont typeface="Wingdings" panose="05000000000000000000" pitchFamily="2" charset="2"/>
              <a:buChar char="Ø"/>
            </a:pPr>
            <a:r>
              <a:rPr lang="en-US" sz="2400" b="1" dirty="0">
                <a:latin typeface="Calisto MT" panose="02040603050505030304" pitchFamily="18" charset="0"/>
                <a:cs typeface="Times New Roman" panose="02020603050405020304" pitchFamily="18" charset="0"/>
              </a:rPr>
              <a:t>flood is an overflow of water that submerge land which is normally dry </a:t>
            </a:r>
          </a:p>
          <a:p>
            <a:pPr marL="342900" indent="-342900">
              <a:buFont typeface="Wingdings" panose="05000000000000000000" pitchFamily="2" charset="2"/>
              <a:buChar char="Ø"/>
            </a:pPr>
            <a:r>
              <a:rPr lang="en-US" sz="2400" b="1" dirty="0">
                <a:latin typeface="Calisto MT" panose="02040603050505030304" pitchFamily="18" charset="0"/>
                <a:cs typeface="Times New Roman" panose="02020603050405020304" pitchFamily="18" charset="0"/>
              </a:rPr>
              <a:t>Occurs as overflow of water from water bodies , from river and lakes , in which water overtops or breaks, resulting in water escaping its usual boundaries , </a:t>
            </a:r>
          </a:p>
          <a:p>
            <a:pPr marL="342900" indent="-342900">
              <a:buFont typeface="Wingdings" panose="05000000000000000000" pitchFamily="2" charset="2"/>
              <a:buChar char="Ø"/>
            </a:pPr>
            <a:r>
              <a:rPr lang="en-US" sz="2400" b="1" dirty="0">
                <a:latin typeface="Calisto MT" panose="02040603050505030304" pitchFamily="18" charset="0"/>
                <a:cs typeface="Times New Roman" panose="02020603050405020304" pitchFamily="18" charset="0"/>
              </a:rPr>
              <a:t>Occur due to accumulation on saturated ground in an area flood.</a:t>
            </a:r>
          </a:p>
          <a:p>
            <a:pPr marL="342900" indent="-342900">
              <a:buFont typeface="Wingdings" panose="05000000000000000000" pitchFamily="2" charset="2"/>
              <a:buChar char="Ø"/>
            </a:pPr>
            <a:r>
              <a:rPr lang="en-US" sz="2400" b="1" dirty="0">
                <a:latin typeface="Calisto MT" panose="02040603050505030304" pitchFamily="18" charset="0"/>
                <a:cs typeface="Times New Roman" panose="02020603050405020304" pitchFamily="18" charset="0"/>
              </a:rPr>
              <a:t>Floods can also occur in river when the flow rate exceeds the capacity of the river channel </a:t>
            </a:r>
          </a:p>
          <a:p>
            <a:pPr marL="342900" indent="-342900">
              <a:buFont typeface="Wingdings" panose="05000000000000000000" pitchFamily="2" charset="2"/>
              <a:buChar char="Ø"/>
            </a:pPr>
            <a:r>
              <a:rPr lang="en-US" sz="2400" b="1" dirty="0">
                <a:latin typeface="Calisto MT" panose="02040603050505030304" pitchFamily="18" charset="0"/>
                <a:cs typeface="Times New Roman" panose="02020603050405020304" pitchFamily="18" charset="0"/>
              </a:rPr>
              <a:t>Floods often cause damage to homes and businesses  if they are in the natural flood plains of rivers  </a:t>
            </a:r>
          </a:p>
        </p:txBody>
      </p:sp>
      <p:sp>
        <p:nvSpPr>
          <p:cNvPr id="5" name="Oval 4">
            <a:extLst>
              <a:ext uri="{FF2B5EF4-FFF2-40B4-BE49-F238E27FC236}">
                <a16:creationId xmlns:a16="http://schemas.microsoft.com/office/drawing/2014/main" id="{8E7D18A0-E354-FEFE-0763-CFB82EB8F67B}"/>
              </a:ext>
            </a:extLst>
          </p:cNvPr>
          <p:cNvSpPr/>
          <p:nvPr/>
        </p:nvSpPr>
        <p:spPr>
          <a:xfrm>
            <a:off x="7532405" y="129049"/>
            <a:ext cx="4380271" cy="2042652"/>
          </a:xfrm>
          <a:prstGeom prst="ellipse">
            <a:avLst/>
          </a:prstGeom>
          <a:blipFill>
            <a:blip r:embed="rId2"/>
            <a:stretch>
              <a:fillRect l="-15000" r="-15000"/>
            </a:stretch>
          </a:blipFill>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5628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6B90-77EF-2E44-986F-8BAB09920A91}"/>
              </a:ext>
            </a:extLst>
          </p:cNvPr>
          <p:cNvSpPr>
            <a:spLocks noGrp="1"/>
          </p:cNvSpPr>
          <p:nvPr>
            <p:ph type="title"/>
          </p:nvPr>
        </p:nvSpPr>
        <p:spPr/>
        <p:txBody>
          <a:bodyPr>
            <a:normAutofit fontScale="90000"/>
          </a:bodyPr>
          <a:lstStyle/>
          <a:p>
            <a:r>
              <a:rPr lang="en-US" sz="6000" b="1" dirty="0">
                <a:solidFill>
                  <a:srgbClr val="C00000"/>
                </a:solidFill>
                <a:latin typeface="Arial Black" panose="020B0A04020102020204" pitchFamily="34" charset="0"/>
              </a:rPr>
              <a:t>CONFLICTS OVER WATER</a:t>
            </a:r>
          </a:p>
        </p:txBody>
      </p:sp>
      <p:sp>
        <p:nvSpPr>
          <p:cNvPr id="3" name="Content Placeholder 2">
            <a:extLst>
              <a:ext uri="{FF2B5EF4-FFF2-40B4-BE49-F238E27FC236}">
                <a16:creationId xmlns:a16="http://schemas.microsoft.com/office/drawing/2014/main" id="{28E35486-0751-768D-27AD-8CEEC57EE062}"/>
              </a:ext>
            </a:extLst>
          </p:cNvPr>
          <p:cNvSpPr>
            <a:spLocks noGrp="1"/>
          </p:cNvSpPr>
          <p:nvPr>
            <p:ph idx="1"/>
          </p:nvPr>
        </p:nvSpPr>
        <p:spPr>
          <a:xfrm>
            <a:off x="838200" y="1825624"/>
            <a:ext cx="10515600" cy="4667251"/>
          </a:xfrm>
        </p:spPr>
        <p:txBody>
          <a:bodyPr>
            <a:normAutofit fontScale="92500" lnSpcReduction="20000"/>
          </a:bodyPr>
          <a:lstStyle/>
          <a:p>
            <a:pPr>
              <a:buFont typeface="Wingdings" panose="05000000000000000000" pitchFamily="2" charset="2"/>
              <a:buChar char="Ø"/>
            </a:pPr>
            <a:r>
              <a:rPr lang="en-US" sz="2400" dirty="0"/>
              <a:t> </a:t>
            </a:r>
            <a:r>
              <a:rPr lang="en-US" sz="2400" b="1" dirty="0">
                <a:latin typeface="Calisto MT" panose="02040603050505030304" pitchFamily="18" charset="0"/>
              </a:rPr>
              <a:t>Water conflict is a term describing a conflict between countries , states , groups over an access to water resources</a:t>
            </a:r>
          </a:p>
          <a:p>
            <a:pPr>
              <a:buFont typeface="Wingdings" panose="05000000000000000000" pitchFamily="2" charset="2"/>
              <a:buChar char="Ø"/>
            </a:pPr>
            <a:r>
              <a:rPr lang="en-US" sz="2400" b="1" dirty="0">
                <a:latin typeface="Calisto MT" panose="02040603050505030304" pitchFamily="18" charset="0"/>
              </a:rPr>
              <a:t> A wide range of water conflicts appear throughout history , water has historically been a source of tension and a factor in conflict </a:t>
            </a:r>
          </a:p>
          <a:p>
            <a:pPr>
              <a:buFont typeface="Wingdings" panose="05000000000000000000" pitchFamily="2" charset="2"/>
              <a:buChar char="Ø"/>
            </a:pPr>
            <a:r>
              <a:rPr lang="en-US" sz="2400" b="1" dirty="0">
                <a:latin typeface="Calisto MT" panose="02040603050505030304" pitchFamily="18" charset="0"/>
              </a:rPr>
              <a:t> Water conflict arise for several reason , territorial disputes , a fight for resources and strategic advantages.</a:t>
            </a:r>
          </a:p>
          <a:p>
            <a:pPr>
              <a:buFont typeface="Wingdings" panose="05000000000000000000" pitchFamily="2" charset="2"/>
              <a:buChar char="Ø"/>
            </a:pPr>
            <a:r>
              <a:rPr lang="en-US" sz="2400" b="1" dirty="0">
                <a:latin typeface="Calisto MT" panose="02040603050505030304" pitchFamily="18" charset="0"/>
              </a:rPr>
              <a:t> conflict occur in both freshwater and saltwater and between international boundaries </a:t>
            </a:r>
          </a:p>
          <a:p>
            <a:pPr>
              <a:buFont typeface="Wingdings" panose="05000000000000000000" pitchFamily="2" charset="2"/>
              <a:buChar char="Ø"/>
            </a:pPr>
            <a:r>
              <a:rPr lang="en-US" sz="2400" b="1" dirty="0">
                <a:latin typeface="Calisto MT" panose="02040603050505030304" pitchFamily="18" charset="0"/>
              </a:rPr>
              <a:t> occurs mostly over freshwater because freshwater resources are necessary, unevenly distributed natural resources  they are center of water disputes arising out of need for potable water, its available often impacts living and economic condition of a country and region </a:t>
            </a:r>
          </a:p>
          <a:p>
            <a:pPr>
              <a:buFont typeface="Wingdings" panose="05000000000000000000" pitchFamily="2" charset="2"/>
              <a:buChar char="Ø"/>
            </a:pPr>
            <a:r>
              <a:rPr lang="en-US" sz="2400" b="1" dirty="0">
                <a:latin typeface="Calisto MT" panose="02040603050505030304" pitchFamily="18" charset="0"/>
              </a:rPr>
              <a:t> water conflict occur due to demand for water resources and potable water extend for beyond the amount of water actually available </a:t>
            </a:r>
          </a:p>
          <a:p>
            <a:pPr>
              <a:buFont typeface="Wingdings" panose="05000000000000000000" pitchFamily="2" charset="2"/>
              <a:buChar char="Ø"/>
            </a:pPr>
            <a:r>
              <a:rPr lang="en-US" sz="2400" b="1" dirty="0">
                <a:latin typeface="Calisto MT" panose="02040603050505030304" pitchFamily="18" charset="0"/>
              </a:rPr>
              <a:t> elements of water crisis many put pressure , causing diplomatic tension or outright conflict </a:t>
            </a:r>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2222426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032B7-BDC9-6085-AC61-E2AA9C8759D9}"/>
              </a:ext>
            </a:extLst>
          </p:cNvPr>
          <p:cNvSpPr>
            <a:spLocks noGrp="1"/>
          </p:cNvSpPr>
          <p:nvPr>
            <p:ph type="title"/>
          </p:nvPr>
        </p:nvSpPr>
        <p:spPr/>
        <p:txBody>
          <a:bodyPr>
            <a:noAutofit/>
          </a:bodyPr>
          <a:lstStyle/>
          <a:p>
            <a:r>
              <a:rPr lang="en-US" b="1" dirty="0">
                <a:solidFill>
                  <a:srgbClr val="C00000"/>
                </a:solidFill>
                <a:latin typeface="Arial Black" panose="020B0A04020102020204" pitchFamily="34" charset="0"/>
              </a:rPr>
              <a:t>DAMS BENEFITS AND PROBLEMS </a:t>
            </a:r>
          </a:p>
        </p:txBody>
      </p:sp>
      <p:sp>
        <p:nvSpPr>
          <p:cNvPr id="3" name="Content Placeholder 2">
            <a:extLst>
              <a:ext uri="{FF2B5EF4-FFF2-40B4-BE49-F238E27FC236}">
                <a16:creationId xmlns:a16="http://schemas.microsoft.com/office/drawing/2014/main" id="{1652ADE0-831D-5B2C-DDAB-C22363CA74BC}"/>
              </a:ext>
            </a:extLst>
          </p:cNvPr>
          <p:cNvSpPr>
            <a:spLocks noGrp="1"/>
          </p:cNvSpPr>
          <p:nvPr>
            <p:ph idx="1"/>
          </p:nvPr>
        </p:nvSpPr>
        <p:spPr/>
        <p:txBody>
          <a:bodyPr/>
          <a:lstStyle/>
          <a:p>
            <a:pPr>
              <a:buFont typeface="Wingdings" panose="05000000000000000000" pitchFamily="2" charset="2"/>
              <a:buChar char="Ø"/>
            </a:pPr>
            <a:r>
              <a:rPr lang="en-US" b="1" dirty="0">
                <a:latin typeface="Calisto MT" panose="02040603050505030304" pitchFamily="18" charset="0"/>
              </a:rPr>
              <a:t>There are more than 45000 large dams around the world . Which paly an important role in communities and economies </a:t>
            </a:r>
          </a:p>
          <a:p>
            <a:pPr>
              <a:buFont typeface="Wingdings" panose="05000000000000000000" pitchFamily="2" charset="2"/>
              <a:buChar char="Ø"/>
            </a:pPr>
            <a:r>
              <a:rPr lang="en-US" b="1" dirty="0">
                <a:latin typeface="Calisto MT" panose="02040603050505030304" pitchFamily="18" charset="0"/>
              </a:rPr>
              <a:t>Current estimation suggest some 30-40% of irrigation land worldwide relies on dams</a:t>
            </a:r>
          </a:p>
          <a:p>
            <a:pPr>
              <a:buFont typeface="Wingdings" panose="05000000000000000000" pitchFamily="2" charset="2"/>
              <a:buChar char="Ø"/>
            </a:pPr>
            <a:r>
              <a:rPr lang="en-US" b="1" dirty="0">
                <a:latin typeface="Calisto MT" panose="02040603050505030304" pitchFamily="18" charset="0"/>
              </a:rPr>
              <a:t>Hydropower , another contender for the use of stored water , currently supplies 19% of the worlds total electric power supply </a:t>
            </a:r>
            <a:r>
              <a:rPr lang="en-US" b="1" dirty="0" err="1">
                <a:latin typeface="Calisto MT" panose="02040603050505030304" pitchFamily="18" charset="0"/>
              </a:rPr>
              <a:t>ans</a:t>
            </a:r>
            <a:r>
              <a:rPr lang="en-US" b="1" dirty="0">
                <a:latin typeface="Calisto MT" panose="02040603050505030304" pitchFamily="18" charset="0"/>
              </a:rPr>
              <a:t> is used in over 150 countries </a:t>
            </a:r>
          </a:p>
          <a:p>
            <a:pPr>
              <a:buFont typeface="Wingdings" panose="05000000000000000000" pitchFamily="2" charset="2"/>
              <a:buChar char="Ø"/>
            </a:pPr>
            <a:r>
              <a:rPr lang="en-US" b="1" dirty="0">
                <a:latin typeface="Calisto MT" panose="02040603050505030304" pitchFamily="18" charset="0"/>
              </a:rPr>
              <a:t>The worlds two most popular countries China and India </a:t>
            </a:r>
            <a:r>
              <a:rPr lang="en-US" b="1" dirty="0" err="1">
                <a:latin typeface="Calisto MT" panose="02040603050505030304" pitchFamily="18" charset="0"/>
              </a:rPr>
              <a:t>hve</a:t>
            </a:r>
            <a:r>
              <a:rPr lang="en-US" b="1" dirty="0">
                <a:latin typeface="Calisto MT" panose="02040603050505030304" pitchFamily="18" charset="0"/>
              </a:rPr>
              <a:t> built around 57% of the worlds largest dams </a:t>
            </a:r>
          </a:p>
        </p:txBody>
      </p:sp>
    </p:spTree>
    <p:extLst>
      <p:ext uri="{BB962C8B-B14F-4D97-AF65-F5344CB8AC3E}">
        <p14:creationId xmlns:p14="http://schemas.microsoft.com/office/powerpoint/2010/main" val="1196743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24C14-AD62-660B-D7BD-FA62DAEDF784}"/>
              </a:ext>
            </a:extLst>
          </p:cNvPr>
          <p:cNvSpPr>
            <a:spLocks noGrp="1"/>
          </p:cNvSpPr>
          <p:nvPr>
            <p:ph type="title"/>
          </p:nvPr>
        </p:nvSpPr>
        <p:spPr/>
        <p:txBody>
          <a:bodyPr>
            <a:noAutofit/>
          </a:bodyPr>
          <a:lstStyle/>
          <a:p>
            <a:r>
              <a:rPr lang="en-US" sz="4000" b="1" dirty="0">
                <a:solidFill>
                  <a:srgbClr val="C00000"/>
                </a:solidFill>
                <a:latin typeface="Arial Black" panose="020B0A04020102020204" pitchFamily="34" charset="0"/>
              </a:rPr>
              <a:t>DAMS BENEFITS AND PROBLEMS</a:t>
            </a:r>
          </a:p>
        </p:txBody>
      </p:sp>
      <p:sp>
        <p:nvSpPr>
          <p:cNvPr id="3" name="Text Placeholder 2">
            <a:extLst>
              <a:ext uri="{FF2B5EF4-FFF2-40B4-BE49-F238E27FC236}">
                <a16:creationId xmlns:a16="http://schemas.microsoft.com/office/drawing/2014/main" id="{8DC6637C-8C00-737D-527E-559999C6CA05}"/>
              </a:ext>
            </a:extLst>
          </p:cNvPr>
          <p:cNvSpPr>
            <a:spLocks noGrp="1"/>
          </p:cNvSpPr>
          <p:nvPr>
            <p:ph type="body" idx="1"/>
          </p:nvPr>
        </p:nvSpPr>
        <p:spPr/>
        <p:txBody>
          <a:bodyPr>
            <a:normAutofit/>
          </a:bodyPr>
          <a:lstStyle/>
          <a:p>
            <a:r>
              <a:rPr lang="en-US" sz="3200" dirty="0">
                <a:solidFill>
                  <a:srgbClr val="C00000"/>
                </a:solidFill>
                <a:latin typeface="Arial Black" panose="020B0A04020102020204" pitchFamily="34" charset="0"/>
              </a:rPr>
              <a:t>BENIFITS </a:t>
            </a:r>
          </a:p>
        </p:txBody>
      </p:sp>
      <p:sp>
        <p:nvSpPr>
          <p:cNvPr id="4" name="Content Placeholder 3">
            <a:extLst>
              <a:ext uri="{FF2B5EF4-FFF2-40B4-BE49-F238E27FC236}">
                <a16:creationId xmlns:a16="http://schemas.microsoft.com/office/drawing/2014/main" id="{CDCEF450-C3C5-030E-E51B-1E11236EA8D3}"/>
              </a:ext>
            </a:extLst>
          </p:cNvPr>
          <p:cNvSpPr>
            <a:spLocks noGrp="1"/>
          </p:cNvSpPr>
          <p:nvPr>
            <p:ph sz="half" idx="2"/>
          </p:nvPr>
        </p:nvSpPr>
        <p:spPr/>
        <p:txBody>
          <a:bodyPr>
            <a:noAutofit/>
          </a:bodyPr>
          <a:lstStyle/>
          <a:p>
            <a:pPr marL="457200" indent="-457200">
              <a:buFont typeface="+mj-lt"/>
              <a:buAutoNum type="arabicParenR"/>
            </a:pPr>
            <a:r>
              <a:rPr lang="en-US" sz="2400" b="1" dirty="0">
                <a:latin typeface="Calisto MT" panose="02040603050505030304" pitchFamily="18" charset="0"/>
              </a:rPr>
              <a:t>play a key in development process due to multi uses </a:t>
            </a:r>
          </a:p>
          <a:p>
            <a:pPr marL="457200" indent="-457200">
              <a:buFont typeface="+mj-lt"/>
              <a:buAutoNum type="arabicParenR"/>
            </a:pPr>
            <a:r>
              <a:rPr lang="en-US" sz="2400" b="1" dirty="0">
                <a:latin typeface="Calisto MT" panose="02040603050505030304" pitchFamily="18" charset="0"/>
              </a:rPr>
              <a:t>India has largest number of river valleys projects </a:t>
            </a:r>
          </a:p>
          <a:p>
            <a:pPr marL="457200" indent="-457200">
              <a:buFont typeface="+mj-lt"/>
              <a:buAutoNum type="arabicParenR"/>
            </a:pPr>
            <a:r>
              <a:rPr lang="en-US" sz="2400" b="1" dirty="0">
                <a:latin typeface="Calisto MT" panose="02040603050505030304" pitchFamily="18" charset="0"/>
              </a:rPr>
              <a:t>The tribal living area aim at providing employment and rising the standard and quantity of life </a:t>
            </a:r>
          </a:p>
          <a:p>
            <a:pPr marL="457200" indent="-457200">
              <a:buFont typeface="+mj-lt"/>
              <a:buAutoNum type="arabicParenR"/>
            </a:pPr>
            <a:r>
              <a:rPr lang="en-US" sz="2400" b="1" dirty="0">
                <a:latin typeface="Calisto MT" panose="02040603050505030304" pitchFamily="18" charset="0"/>
              </a:rPr>
              <a:t>The dams have tremendous potential for economic </a:t>
            </a:r>
            <a:r>
              <a:rPr lang="en-US" sz="2400" b="1" dirty="0" err="1">
                <a:latin typeface="Calisto MT" panose="02040603050505030304" pitchFamily="18" charset="0"/>
              </a:rPr>
              <a:t>uplifment</a:t>
            </a:r>
            <a:r>
              <a:rPr lang="en-US" sz="2400" b="1" dirty="0">
                <a:latin typeface="Calisto MT" panose="02040603050505030304" pitchFamily="18" charset="0"/>
              </a:rPr>
              <a:t> and growth</a:t>
            </a:r>
          </a:p>
        </p:txBody>
      </p:sp>
      <p:sp>
        <p:nvSpPr>
          <p:cNvPr id="5" name="Text Placeholder 4">
            <a:extLst>
              <a:ext uri="{FF2B5EF4-FFF2-40B4-BE49-F238E27FC236}">
                <a16:creationId xmlns:a16="http://schemas.microsoft.com/office/drawing/2014/main" id="{5BE9C6D9-05EF-B4E4-C50B-EB8DB09BAB83}"/>
              </a:ext>
            </a:extLst>
          </p:cNvPr>
          <p:cNvSpPr>
            <a:spLocks noGrp="1"/>
          </p:cNvSpPr>
          <p:nvPr>
            <p:ph type="body" sz="quarter" idx="3"/>
          </p:nvPr>
        </p:nvSpPr>
        <p:spPr/>
        <p:txBody>
          <a:bodyPr/>
          <a:lstStyle/>
          <a:p>
            <a:r>
              <a:rPr lang="en-US" sz="3600" dirty="0">
                <a:solidFill>
                  <a:srgbClr val="C00000"/>
                </a:solidFill>
                <a:latin typeface="Arial Black" panose="020B0A04020102020204" pitchFamily="34" charset="0"/>
              </a:rPr>
              <a:t>PROBLEMS</a:t>
            </a:r>
            <a:r>
              <a:rPr lang="en-US" dirty="0"/>
              <a:t> </a:t>
            </a:r>
          </a:p>
        </p:txBody>
      </p:sp>
      <p:sp>
        <p:nvSpPr>
          <p:cNvPr id="6" name="Content Placeholder 5">
            <a:extLst>
              <a:ext uri="{FF2B5EF4-FFF2-40B4-BE49-F238E27FC236}">
                <a16:creationId xmlns:a16="http://schemas.microsoft.com/office/drawing/2014/main" id="{0D56979D-6CEA-D15D-2738-BA2860F5936A}"/>
              </a:ext>
            </a:extLst>
          </p:cNvPr>
          <p:cNvSpPr>
            <a:spLocks noGrp="1"/>
          </p:cNvSpPr>
          <p:nvPr>
            <p:ph sz="quarter" idx="4"/>
          </p:nvPr>
        </p:nvSpPr>
        <p:spPr>
          <a:xfrm>
            <a:off x="6172200" y="2505074"/>
            <a:ext cx="5183188" cy="4352925"/>
          </a:xfrm>
        </p:spPr>
        <p:txBody>
          <a:bodyPr>
            <a:normAutofit fontScale="85000" lnSpcReduction="10000"/>
          </a:bodyPr>
          <a:lstStyle/>
          <a:p>
            <a:pPr marL="514350" indent="-514350">
              <a:buFont typeface="+mj-lt"/>
              <a:buAutoNum type="arabicPeriod"/>
            </a:pPr>
            <a:r>
              <a:rPr lang="en-US" b="1" dirty="0">
                <a:latin typeface="Calisto MT" panose="02040603050505030304" pitchFamily="18" charset="0"/>
              </a:rPr>
              <a:t>Fragmentation and physical transformation of rivers </a:t>
            </a:r>
          </a:p>
          <a:p>
            <a:pPr marL="514350" indent="-514350">
              <a:buFont typeface="+mj-lt"/>
              <a:buAutoNum type="arabicPeriod"/>
            </a:pPr>
            <a:r>
              <a:rPr lang="en-US" b="1" dirty="0">
                <a:latin typeface="Calisto MT" panose="02040603050505030304" pitchFamily="18" charset="0"/>
              </a:rPr>
              <a:t>Serious impacts on river ecosystem </a:t>
            </a:r>
          </a:p>
          <a:p>
            <a:pPr marL="514350" indent="-514350">
              <a:buFont typeface="+mj-lt"/>
              <a:buAutoNum type="arabicPeriod"/>
            </a:pPr>
            <a:r>
              <a:rPr lang="en-US" b="1" dirty="0">
                <a:latin typeface="Calisto MT" panose="02040603050505030304" pitchFamily="18" charset="0"/>
              </a:rPr>
              <a:t>Social consequences of largest dams due to displacements of people </a:t>
            </a:r>
          </a:p>
          <a:p>
            <a:pPr marL="514350" indent="-514350">
              <a:buFont typeface="+mj-lt"/>
              <a:buAutoNum type="arabicPeriod"/>
            </a:pPr>
            <a:r>
              <a:rPr lang="en-US" b="1" dirty="0">
                <a:latin typeface="Calisto MT" panose="02040603050505030304" pitchFamily="18" charset="0"/>
              </a:rPr>
              <a:t>Water logging and </a:t>
            </a:r>
            <a:r>
              <a:rPr lang="en-US" b="1" dirty="0" err="1">
                <a:latin typeface="Calisto MT" panose="02040603050505030304" pitchFamily="18" charset="0"/>
              </a:rPr>
              <a:t>stalinization</a:t>
            </a:r>
            <a:r>
              <a:rPr lang="en-US" b="1" dirty="0">
                <a:latin typeface="Calisto MT" panose="02040603050505030304" pitchFamily="18" charset="0"/>
              </a:rPr>
              <a:t> of surrounding lands </a:t>
            </a:r>
          </a:p>
          <a:p>
            <a:pPr marL="514350" indent="-514350">
              <a:buFont typeface="+mj-lt"/>
              <a:buAutoNum type="arabicPeriod"/>
            </a:pPr>
            <a:r>
              <a:rPr lang="en-US" b="1" dirty="0">
                <a:latin typeface="Calisto MT" panose="02040603050505030304" pitchFamily="18" charset="0"/>
              </a:rPr>
              <a:t>Dislodging animals populations, damaging their habitat and cutting off their migration routes </a:t>
            </a:r>
          </a:p>
        </p:txBody>
      </p:sp>
    </p:spTree>
    <p:extLst>
      <p:ext uri="{BB962C8B-B14F-4D97-AF65-F5344CB8AC3E}">
        <p14:creationId xmlns:p14="http://schemas.microsoft.com/office/powerpoint/2010/main" val="2996662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68A7-4B97-728B-20D7-80A53AEC6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0F2B3-ACDE-620D-E605-CF7B824AF75E}"/>
              </a:ext>
            </a:extLst>
          </p:cNvPr>
          <p:cNvSpPr>
            <a:spLocks noGrp="1"/>
          </p:cNvSpPr>
          <p:nvPr>
            <p:ph type="title"/>
          </p:nvPr>
        </p:nvSpPr>
        <p:spPr/>
        <p:txBody>
          <a:bodyPr>
            <a:noAutofit/>
          </a:bodyPr>
          <a:lstStyle/>
          <a:p>
            <a:r>
              <a:rPr lang="en-US" sz="4000" b="1" dirty="0">
                <a:solidFill>
                  <a:srgbClr val="C00000"/>
                </a:solidFill>
                <a:latin typeface="Arial Black" panose="020B0A04020102020204" pitchFamily="34" charset="0"/>
              </a:rPr>
              <a:t>DAMS BENEFITS AND PROBLEMS</a:t>
            </a:r>
          </a:p>
        </p:txBody>
      </p:sp>
      <p:sp>
        <p:nvSpPr>
          <p:cNvPr id="3" name="Text Placeholder 2">
            <a:extLst>
              <a:ext uri="{FF2B5EF4-FFF2-40B4-BE49-F238E27FC236}">
                <a16:creationId xmlns:a16="http://schemas.microsoft.com/office/drawing/2014/main" id="{D93A9F41-A8DD-D518-BAEA-F9833AF0A87E}"/>
              </a:ext>
            </a:extLst>
          </p:cNvPr>
          <p:cNvSpPr>
            <a:spLocks noGrp="1"/>
          </p:cNvSpPr>
          <p:nvPr>
            <p:ph type="body" idx="1"/>
          </p:nvPr>
        </p:nvSpPr>
        <p:spPr/>
        <p:txBody>
          <a:bodyPr>
            <a:normAutofit/>
          </a:bodyPr>
          <a:lstStyle/>
          <a:p>
            <a:r>
              <a:rPr lang="en-US" sz="3200" dirty="0">
                <a:solidFill>
                  <a:srgbClr val="C00000"/>
                </a:solidFill>
                <a:latin typeface="Bodoni MT Black" panose="02070A03080606020203" pitchFamily="18" charset="0"/>
              </a:rPr>
              <a:t>BENIFITS </a:t>
            </a:r>
          </a:p>
        </p:txBody>
      </p:sp>
      <p:sp>
        <p:nvSpPr>
          <p:cNvPr id="4" name="Content Placeholder 3">
            <a:extLst>
              <a:ext uri="{FF2B5EF4-FFF2-40B4-BE49-F238E27FC236}">
                <a16:creationId xmlns:a16="http://schemas.microsoft.com/office/drawing/2014/main" id="{54B99E8D-392D-9AB8-EECD-BBC9C38A75AF}"/>
              </a:ext>
            </a:extLst>
          </p:cNvPr>
          <p:cNvSpPr>
            <a:spLocks noGrp="1"/>
          </p:cNvSpPr>
          <p:nvPr>
            <p:ph sz="half" idx="2"/>
          </p:nvPr>
        </p:nvSpPr>
        <p:spPr/>
        <p:txBody>
          <a:bodyPr>
            <a:normAutofit/>
          </a:bodyPr>
          <a:lstStyle/>
          <a:p>
            <a:pPr marL="0" indent="0">
              <a:buNone/>
            </a:pPr>
            <a:r>
              <a:rPr lang="en-US" sz="2400" dirty="0"/>
              <a:t>5. </a:t>
            </a:r>
            <a:r>
              <a:rPr lang="en-US" sz="2400" b="1" dirty="0"/>
              <a:t>Help in checking floods and famines ,       generate electricity and reduce water and power shortage, providing irrigation water to lower area , providing drinking water to remote area and promote navigation, fishery </a:t>
            </a:r>
          </a:p>
        </p:txBody>
      </p:sp>
      <p:sp>
        <p:nvSpPr>
          <p:cNvPr id="5" name="Text Placeholder 4">
            <a:extLst>
              <a:ext uri="{FF2B5EF4-FFF2-40B4-BE49-F238E27FC236}">
                <a16:creationId xmlns:a16="http://schemas.microsoft.com/office/drawing/2014/main" id="{6A103163-F601-318F-8298-FAD1EA9FB5CB}"/>
              </a:ext>
            </a:extLst>
          </p:cNvPr>
          <p:cNvSpPr>
            <a:spLocks noGrp="1"/>
          </p:cNvSpPr>
          <p:nvPr>
            <p:ph type="body" sz="quarter" idx="3"/>
          </p:nvPr>
        </p:nvSpPr>
        <p:spPr/>
        <p:txBody>
          <a:bodyPr/>
          <a:lstStyle/>
          <a:p>
            <a:r>
              <a:rPr lang="en-US" sz="3600" dirty="0">
                <a:solidFill>
                  <a:srgbClr val="C00000"/>
                </a:solidFill>
                <a:latin typeface="Bodoni MT Black" panose="02070A03080606020203" pitchFamily="18" charset="0"/>
              </a:rPr>
              <a:t>PROBLEMS</a:t>
            </a:r>
            <a:r>
              <a:rPr lang="en-US" dirty="0">
                <a:solidFill>
                  <a:srgbClr val="C00000"/>
                </a:solidFill>
              </a:rPr>
              <a:t> </a:t>
            </a:r>
          </a:p>
        </p:txBody>
      </p:sp>
      <p:sp>
        <p:nvSpPr>
          <p:cNvPr id="6" name="Content Placeholder 5">
            <a:extLst>
              <a:ext uri="{FF2B5EF4-FFF2-40B4-BE49-F238E27FC236}">
                <a16:creationId xmlns:a16="http://schemas.microsoft.com/office/drawing/2014/main" id="{62C31832-EF1E-A7AC-6E78-D81FA9EA404E}"/>
              </a:ext>
            </a:extLst>
          </p:cNvPr>
          <p:cNvSpPr>
            <a:spLocks noGrp="1"/>
          </p:cNvSpPr>
          <p:nvPr>
            <p:ph sz="quarter" idx="4"/>
          </p:nvPr>
        </p:nvSpPr>
        <p:spPr/>
        <p:txBody>
          <a:bodyPr>
            <a:normAutofit/>
          </a:bodyPr>
          <a:lstStyle/>
          <a:p>
            <a:pPr marL="514350" indent="-514350">
              <a:buFont typeface="+mj-lt"/>
              <a:buAutoNum type="arabicPeriod"/>
            </a:pPr>
            <a:r>
              <a:rPr lang="en-US" sz="2400" b="1" dirty="0"/>
              <a:t>Fishing and travel by boat disrupt </a:t>
            </a:r>
          </a:p>
          <a:p>
            <a:pPr marL="514350" indent="-514350">
              <a:buFont typeface="+mj-lt"/>
              <a:buAutoNum type="arabicPeriod"/>
            </a:pPr>
            <a:r>
              <a:rPr lang="en-US" sz="2400" b="1" dirty="0"/>
              <a:t>Large dams have serious impact on lives , livelihoods, cultures and spiritual existence of indigenous and tribal people </a:t>
            </a:r>
          </a:p>
          <a:p>
            <a:pPr marL="514350" indent="-514350">
              <a:buFont typeface="+mj-lt"/>
              <a:buAutoNum type="arabicPeriod"/>
            </a:pPr>
            <a:r>
              <a:rPr lang="en-US" sz="2400" b="1" dirty="0"/>
              <a:t>They have </a:t>
            </a:r>
            <a:r>
              <a:rPr lang="en-US" sz="2400" b="1" dirty="0" err="1"/>
              <a:t>sufferd</a:t>
            </a:r>
            <a:r>
              <a:rPr lang="en-US" sz="2400" b="1" dirty="0"/>
              <a:t> disproportionately from the negative impacts of dams and often been excluded from sharing the benefits </a:t>
            </a:r>
          </a:p>
        </p:txBody>
      </p:sp>
    </p:spTree>
    <p:extLst>
      <p:ext uri="{BB962C8B-B14F-4D97-AF65-F5344CB8AC3E}">
        <p14:creationId xmlns:p14="http://schemas.microsoft.com/office/powerpoint/2010/main" val="2944455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873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0C46-E698-E757-8380-14EC52B3872D}"/>
              </a:ext>
            </a:extLst>
          </p:cNvPr>
          <p:cNvSpPr>
            <a:spLocks noGrp="1"/>
          </p:cNvSpPr>
          <p:nvPr>
            <p:ph type="title"/>
          </p:nvPr>
        </p:nvSpPr>
        <p:spPr/>
        <p:txBody>
          <a:bodyPr/>
          <a:lstStyle/>
          <a:p>
            <a:r>
              <a:rPr lang="en-US" b="1" dirty="0">
                <a:solidFill>
                  <a:srgbClr val="C00000"/>
                </a:solidFill>
                <a:latin typeface="Arial Black" panose="020B0A04020102020204" pitchFamily="34" charset="0"/>
              </a:rPr>
              <a:t>MINERAL RESOURCES</a:t>
            </a:r>
          </a:p>
        </p:txBody>
      </p:sp>
      <p:sp>
        <p:nvSpPr>
          <p:cNvPr id="3" name="Content Placeholder 2">
            <a:extLst>
              <a:ext uri="{FF2B5EF4-FFF2-40B4-BE49-F238E27FC236}">
                <a16:creationId xmlns:a16="http://schemas.microsoft.com/office/drawing/2014/main" id="{2FF20623-168B-238F-069A-84A2B07767BD}"/>
              </a:ext>
            </a:extLst>
          </p:cNvPr>
          <p:cNvSpPr>
            <a:spLocks noGrp="1"/>
          </p:cNvSpPr>
          <p:nvPr>
            <p:ph idx="1"/>
          </p:nvPr>
        </p:nvSpPr>
        <p:spPr>
          <a:xfrm>
            <a:off x="838200" y="1690688"/>
            <a:ext cx="10515600" cy="4486274"/>
          </a:xfrm>
        </p:spPr>
        <p:txBody>
          <a:bodyPr>
            <a:normAutofit fontScale="85000" lnSpcReduction="20000"/>
          </a:bodyPr>
          <a:lstStyle/>
          <a:p>
            <a:r>
              <a:rPr lang="en-US" sz="3000" b="1" dirty="0">
                <a:latin typeface="Calisto MT" panose="02040603050505030304" pitchFamily="18" charset="0"/>
              </a:rPr>
              <a:t>A mineral resources is a naturally occurring substance of definite chemical composition and identifiable physical properties </a:t>
            </a:r>
          </a:p>
          <a:p>
            <a:r>
              <a:rPr lang="en-US" sz="3000" b="1" dirty="0">
                <a:latin typeface="Calisto MT" panose="02040603050505030304" pitchFamily="18" charset="0"/>
              </a:rPr>
              <a:t>An ore is a mineral or combination of minerals from useful substance such as metal which can be extracted or manufactured a useful product </a:t>
            </a:r>
          </a:p>
          <a:p>
            <a:r>
              <a:rPr lang="en-US" sz="3000" b="1" dirty="0">
                <a:latin typeface="Calisto MT" panose="02040603050505030304" pitchFamily="18" charset="0"/>
              </a:rPr>
              <a:t>The geological processes are caused for the formation of the mineral over million years ago in the earths crust</a:t>
            </a:r>
          </a:p>
          <a:p>
            <a:r>
              <a:rPr lang="en-US" sz="3000" b="1" dirty="0">
                <a:latin typeface="Calisto MT" panose="02040603050505030304" pitchFamily="18" charset="0"/>
              </a:rPr>
              <a:t>Mineral resources are non renewable which is extracted by the process of mining</a:t>
            </a:r>
          </a:p>
          <a:p>
            <a:r>
              <a:rPr lang="en-US" sz="3000" b="1" dirty="0">
                <a:latin typeface="Calisto MT" panose="02040603050505030304" pitchFamily="18" charset="0"/>
              </a:rPr>
              <a:t>Iron, aluminum, zinc, manganese and copper are important raw materials for industrial use </a:t>
            </a:r>
          </a:p>
          <a:p>
            <a:r>
              <a:rPr lang="en-US" sz="3000" b="1" dirty="0">
                <a:latin typeface="Calisto MT" panose="02040603050505030304" pitchFamily="18" charset="0"/>
              </a:rPr>
              <a:t>Non mental resources include coal, salt, clay, cement and silica</a:t>
            </a:r>
          </a:p>
          <a:p>
            <a:pPr marL="0" indent="0">
              <a:buNone/>
            </a:pPr>
            <a:endParaRPr lang="en-US" sz="3000" b="1" dirty="0">
              <a:latin typeface="Calisto MT" panose="02040603050505030304" pitchFamily="18" charset="0"/>
            </a:endParaRPr>
          </a:p>
          <a:p>
            <a:endParaRPr lang="en-US" sz="3000" dirty="0"/>
          </a:p>
          <a:p>
            <a:endParaRPr lang="en-US" dirty="0"/>
          </a:p>
        </p:txBody>
      </p:sp>
    </p:spTree>
    <p:extLst>
      <p:ext uri="{BB962C8B-B14F-4D97-AF65-F5344CB8AC3E}">
        <p14:creationId xmlns:p14="http://schemas.microsoft.com/office/powerpoint/2010/main" val="8582095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1C13-F3BE-8355-E609-7DA78FEA3D3E}"/>
              </a:ext>
            </a:extLst>
          </p:cNvPr>
          <p:cNvSpPr>
            <a:spLocks noGrp="1"/>
          </p:cNvSpPr>
          <p:nvPr>
            <p:ph type="title"/>
          </p:nvPr>
        </p:nvSpPr>
        <p:spPr>
          <a:xfrm>
            <a:off x="838200" y="1"/>
            <a:ext cx="10515600" cy="855405"/>
          </a:xfrm>
        </p:spPr>
        <p:txBody>
          <a:bodyPr/>
          <a:lstStyle/>
          <a:p>
            <a:r>
              <a:rPr lang="en-US" b="1" dirty="0">
                <a:solidFill>
                  <a:srgbClr val="C00000"/>
                </a:solidFill>
                <a:latin typeface="Arial Black" panose="020B0A04020102020204" pitchFamily="34" charset="0"/>
              </a:rPr>
              <a:t>MINERAL RESOURCES </a:t>
            </a:r>
          </a:p>
        </p:txBody>
      </p:sp>
      <p:sp>
        <p:nvSpPr>
          <p:cNvPr id="3" name="Content Placeholder 2">
            <a:extLst>
              <a:ext uri="{FF2B5EF4-FFF2-40B4-BE49-F238E27FC236}">
                <a16:creationId xmlns:a16="http://schemas.microsoft.com/office/drawing/2014/main" id="{37893CD3-F928-4157-9BBA-0D6AD3493386}"/>
              </a:ext>
            </a:extLst>
          </p:cNvPr>
          <p:cNvSpPr>
            <a:spLocks noGrp="1"/>
          </p:cNvSpPr>
          <p:nvPr>
            <p:ph idx="1"/>
          </p:nvPr>
        </p:nvSpPr>
        <p:spPr>
          <a:xfrm>
            <a:off x="838200" y="1165123"/>
            <a:ext cx="10515600" cy="5560142"/>
          </a:xfrm>
        </p:spPr>
        <p:txBody>
          <a:bodyPr/>
          <a:lstStyle/>
          <a:p>
            <a:r>
              <a:rPr lang="en-US" b="1" dirty="0">
                <a:latin typeface="Calisto MT" panose="02040603050505030304" pitchFamily="18" charset="0"/>
              </a:rPr>
              <a:t>Diamonds, emeralds and rubies are the aesthetic and ornamental gems </a:t>
            </a:r>
          </a:p>
          <a:p>
            <a:r>
              <a:rPr lang="en-US" b="1" dirty="0">
                <a:latin typeface="Calisto MT" panose="02040603050505030304" pitchFamily="18" charset="0"/>
              </a:rPr>
              <a:t>The luster of gold, silver and platinum is used for ornaments </a:t>
            </a:r>
          </a:p>
          <a:p>
            <a:r>
              <a:rPr lang="en-US" b="1" dirty="0">
                <a:latin typeface="Calisto MT" panose="02040603050505030304" pitchFamily="18" charset="0"/>
              </a:rPr>
              <a:t>Mineral in the form of oil, gas and coal were formed when ancient plants and animals were converted into underground fossil fuels</a:t>
            </a:r>
          </a:p>
          <a:p>
            <a:r>
              <a:rPr lang="en-US" b="1" dirty="0">
                <a:latin typeface="Calisto MT" panose="02040603050505030304" pitchFamily="18" charset="0"/>
              </a:rPr>
              <a:t>Stone used for building materials , such as granite, marble , limestone</a:t>
            </a:r>
          </a:p>
          <a:p>
            <a:pPr marL="0" indent="0">
              <a:buNone/>
            </a:pPr>
            <a:r>
              <a:rPr lang="en-US" b="1" dirty="0">
                <a:latin typeface="Calisto MT" panose="02040603050505030304" pitchFamily="18" charset="0"/>
              </a:rPr>
              <a:t> </a:t>
            </a:r>
          </a:p>
        </p:txBody>
      </p:sp>
    </p:spTree>
    <p:extLst>
      <p:ext uri="{BB962C8B-B14F-4D97-AF65-F5344CB8AC3E}">
        <p14:creationId xmlns:p14="http://schemas.microsoft.com/office/powerpoint/2010/main" val="3308305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5BDB3-141D-7718-C45F-3164C01D071B}"/>
              </a:ext>
            </a:extLst>
          </p:cNvPr>
          <p:cNvSpPr>
            <a:spLocks noGrp="1"/>
          </p:cNvSpPr>
          <p:nvPr>
            <p:ph type="title"/>
          </p:nvPr>
        </p:nvSpPr>
        <p:spPr>
          <a:xfrm>
            <a:off x="838200" y="-398205"/>
            <a:ext cx="10515600" cy="2035276"/>
          </a:xfrm>
        </p:spPr>
        <p:txBody>
          <a:bodyPr>
            <a:normAutofit/>
          </a:bodyPr>
          <a:lstStyle/>
          <a:p>
            <a:r>
              <a:rPr lang="en-US" b="1" dirty="0">
                <a:solidFill>
                  <a:srgbClr val="C00000"/>
                </a:solidFill>
                <a:latin typeface="Arial Black" panose="020B0A04020102020204" pitchFamily="34" charset="0"/>
              </a:rPr>
              <a:t>USES OF MINERALS </a:t>
            </a:r>
          </a:p>
        </p:txBody>
      </p:sp>
      <p:sp>
        <p:nvSpPr>
          <p:cNvPr id="3" name="Content Placeholder 2">
            <a:extLst>
              <a:ext uri="{FF2B5EF4-FFF2-40B4-BE49-F238E27FC236}">
                <a16:creationId xmlns:a16="http://schemas.microsoft.com/office/drawing/2014/main" id="{111BACE2-9FED-92F2-42B6-440BA8BC481E}"/>
              </a:ext>
            </a:extLst>
          </p:cNvPr>
          <p:cNvSpPr>
            <a:spLocks noGrp="1"/>
          </p:cNvSpPr>
          <p:nvPr>
            <p:ph idx="1"/>
          </p:nvPr>
        </p:nvSpPr>
        <p:spPr>
          <a:xfrm>
            <a:off x="820994" y="1356850"/>
            <a:ext cx="10515600" cy="5397911"/>
          </a:xfrm>
        </p:spPr>
        <p:txBody>
          <a:bodyPr/>
          <a:lstStyle/>
          <a:p>
            <a:pPr marL="0" indent="0">
              <a:buNone/>
            </a:pPr>
            <a:r>
              <a:rPr lang="en-US" b="1" dirty="0">
                <a:latin typeface="Calisto MT" panose="02040603050505030304" pitchFamily="18" charset="0"/>
              </a:rPr>
              <a:t>Minerals are used in a large number of ways for domestic , industrial and commercial sectors</a:t>
            </a:r>
          </a:p>
          <a:p>
            <a:pPr marL="0" indent="0">
              <a:buNone/>
            </a:pPr>
            <a:endParaRPr lang="en-US" b="1" dirty="0">
              <a:latin typeface="Calisto MT" panose="02040603050505030304" pitchFamily="18" charset="0"/>
            </a:endParaRPr>
          </a:p>
          <a:p>
            <a:pPr marL="514350" indent="-514350">
              <a:buAutoNum type="arabicPeriod"/>
            </a:pPr>
            <a:r>
              <a:rPr lang="en-US" b="1" dirty="0">
                <a:latin typeface="Calisto MT" panose="02040603050505030304" pitchFamily="18" charset="0"/>
              </a:rPr>
              <a:t>Generation of energy by using coal, uranium, gold, silver, platinum, diamond are used as </a:t>
            </a:r>
            <a:r>
              <a:rPr lang="en-US" b="1" dirty="0" err="1">
                <a:latin typeface="Calisto MT" panose="02040603050505030304" pitchFamily="18" charset="0"/>
              </a:rPr>
              <a:t>jewellery</a:t>
            </a:r>
            <a:r>
              <a:rPr lang="en-US" b="1" dirty="0">
                <a:latin typeface="Calisto MT" panose="02040603050505030304" pitchFamily="18" charset="0"/>
              </a:rPr>
              <a:t>. </a:t>
            </a:r>
          </a:p>
          <a:p>
            <a:pPr marL="0" indent="0">
              <a:buNone/>
            </a:pPr>
            <a:r>
              <a:rPr lang="en-US" b="1" dirty="0">
                <a:latin typeface="Calisto MT" panose="02040603050505030304" pitchFamily="18" charset="0"/>
              </a:rPr>
              <a:t>       Copper and aluminum is used for cables for transmission of   	power</a:t>
            </a:r>
          </a:p>
          <a:p>
            <a:pPr marL="514350" indent="-514350">
              <a:buAutoNum type="arabicPeriod" startAt="2"/>
            </a:pPr>
            <a:r>
              <a:rPr lang="en-US" b="1" dirty="0">
                <a:latin typeface="Calisto MT" panose="02040603050505030304" pitchFamily="18" charset="0"/>
              </a:rPr>
              <a:t>Some of the minerals are used in </a:t>
            </a:r>
            <a:r>
              <a:rPr lang="en-US" b="1" dirty="0" err="1">
                <a:latin typeface="Calisto MT" panose="02040603050505030304" pitchFamily="18" charset="0"/>
              </a:rPr>
              <a:t>ayurvedam</a:t>
            </a:r>
            <a:r>
              <a:rPr lang="en-US" b="1" dirty="0">
                <a:latin typeface="Calisto MT" panose="02040603050505030304" pitchFamily="18" charset="0"/>
              </a:rPr>
              <a:t> as medicine</a:t>
            </a:r>
          </a:p>
          <a:p>
            <a:pPr marL="0" indent="0">
              <a:buNone/>
            </a:pPr>
            <a:r>
              <a:rPr lang="en-US" b="1" dirty="0">
                <a:latin typeface="Calisto MT" panose="02040603050505030304" pitchFamily="18" charset="0"/>
              </a:rPr>
              <a:t>      Gold is reputed to strengthen the heart muscle and increase 	energy and stamina </a:t>
            </a:r>
          </a:p>
        </p:txBody>
      </p:sp>
    </p:spTree>
    <p:extLst>
      <p:ext uri="{BB962C8B-B14F-4D97-AF65-F5344CB8AC3E}">
        <p14:creationId xmlns:p14="http://schemas.microsoft.com/office/powerpoint/2010/main" val="3490312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C69E7-603E-5E8F-16ED-A2EE66CC4D80}"/>
              </a:ext>
            </a:extLst>
          </p:cNvPr>
          <p:cNvSpPr>
            <a:spLocks noGrp="1"/>
          </p:cNvSpPr>
          <p:nvPr>
            <p:ph type="title"/>
          </p:nvPr>
        </p:nvSpPr>
        <p:spPr>
          <a:xfrm>
            <a:off x="1132114" y="365125"/>
            <a:ext cx="10221686" cy="1325563"/>
          </a:xfrm>
        </p:spPr>
        <p:txBody>
          <a:bodyPr/>
          <a:lstStyle/>
          <a:p>
            <a:r>
              <a:rPr lang="en-US" b="1" dirty="0">
                <a:solidFill>
                  <a:srgbClr val="C00000"/>
                </a:solidFill>
                <a:latin typeface="Arial Black" panose="020B0A04020102020204" pitchFamily="34" charset="0"/>
              </a:rPr>
              <a:t>MINING AND ITS PROCESS</a:t>
            </a:r>
            <a:r>
              <a:rPr lang="en-US" b="1" dirty="0">
                <a:latin typeface="Bodoni MT Black" panose="02070A03080606020203" pitchFamily="18" charset="0"/>
              </a:rPr>
              <a:t>:</a:t>
            </a:r>
          </a:p>
        </p:txBody>
      </p:sp>
      <p:sp>
        <p:nvSpPr>
          <p:cNvPr id="3" name="Content Placeholder 2">
            <a:extLst>
              <a:ext uri="{FF2B5EF4-FFF2-40B4-BE49-F238E27FC236}">
                <a16:creationId xmlns:a16="http://schemas.microsoft.com/office/drawing/2014/main" id="{1D53E9E3-2601-9C1B-3685-AA85B770CD1A}"/>
              </a:ext>
            </a:extLst>
          </p:cNvPr>
          <p:cNvSpPr>
            <a:spLocks noGrp="1"/>
          </p:cNvSpPr>
          <p:nvPr>
            <p:ph idx="1"/>
          </p:nvPr>
        </p:nvSpPr>
        <p:spPr>
          <a:xfrm>
            <a:off x="838200" y="1825624"/>
            <a:ext cx="10515600" cy="5032375"/>
          </a:xfrm>
        </p:spPr>
        <p:txBody>
          <a:bodyPr>
            <a:normAutofit fontScale="92500" lnSpcReduction="10000"/>
          </a:bodyPr>
          <a:lstStyle/>
          <a:p>
            <a:r>
              <a:rPr lang="en-US" b="1" dirty="0">
                <a:latin typeface="Calisto MT" panose="02040603050505030304" pitchFamily="18" charset="0"/>
              </a:rPr>
              <a:t>Mineral and their ore need to be extracted from the earths interior so they can be used </a:t>
            </a:r>
          </a:p>
          <a:p>
            <a:r>
              <a:rPr lang="en-US" b="1" dirty="0">
                <a:latin typeface="Calisto MT" panose="02040603050505030304" pitchFamily="18" charset="0"/>
              </a:rPr>
              <a:t>This process is known as mining </a:t>
            </a:r>
          </a:p>
          <a:p>
            <a:r>
              <a:rPr lang="en-US" b="1" dirty="0">
                <a:latin typeface="Calisto MT" panose="02040603050505030304" pitchFamily="18" charset="0"/>
              </a:rPr>
              <a:t>Mining is the extraction of valuable minerals or other geological </a:t>
            </a:r>
            <a:r>
              <a:rPr lang="en-US" b="1" dirty="0" err="1">
                <a:latin typeface="Calisto MT" panose="02040603050505030304" pitchFamily="18" charset="0"/>
              </a:rPr>
              <a:t>matrials</a:t>
            </a:r>
            <a:r>
              <a:rPr lang="en-US" b="1" dirty="0">
                <a:latin typeface="Calisto MT" panose="02040603050505030304" pitchFamily="18" charset="0"/>
              </a:rPr>
              <a:t> from earth </a:t>
            </a:r>
          </a:p>
          <a:p>
            <a:pPr marL="0" indent="0">
              <a:buNone/>
            </a:pPr>
            <a:endParaRPr lang="en-US" b="1" dirty="0">
              <a:latin typeface="Calisto MT" panose="02040603050505030304" pitchFamily="18" charset="0"/>
            </a:endParaRPr>
          </a:p>
          <a:p>
            <a:pPr marL="0" indent="0">
              <a:buNone/>
            </a:pPr>
            <a:r>
              <a:rPr lang="en-US" b="1" dirty="0">
                <a:latin typeface="Calisto MT" panose="02040603050505030304" pitchFamily="18" charset="0"/>
              </a:rPr>
              <a:t>Mining operation generally progress through four stages:</a:t>
            </a:r>
          </a:p>
          <a:p>
            <a:pPr marL="514350" indent="-514350">
              <a:buAutoNum type="arabicPeriod"/>
            </a:pPr>
            <a:r>
              <a:rPr lang="en-US" b="1" dirty="0">
                <a:latin typeface="Calisto MT" panose="02040603050505030304" pitchFamily="18" charset="0"/>
              </a:rPr>
              <a:t>Prospecting: searching for minerals </a:t>
            </a:r>
          </a:p>
          <a:p>
            <a:pPr marL="514350" indent="-514350">
              <a:buAutoNum type="arabicPeriod"/>
            </a:pPr>
            <a:r>
              <a:rPr lang="en-US" b="1" dirty="0">
                <a:latin typeface="Calisto MT" panose="02040603050505030304" pitchFamily="18" charset="0"/>
              </a:rPr>
              <a:t>Exploration: assessing the size ,shape, location.</a:t>
            </a:r>
          </a:p>
          <a:p>
            <a:pPr marL="514350" indent="-514350">
              <a:buAutoNum type="arabicPeriod"/>
            </a:pPr>
            <a:r>
              <a:rPr lang="en-US" b="1" dirty="0">
                <a:latin typeface="Calisto MT" panose="02040603050505030304" pitchFamily="18" charset="0"/>
              </a:rPr>
              <a:t>Development : work of preparing access to the deposit so that the minerals can be extracted from it </a:t>
            </a:r>
          </a:p>
          <a:p>
            <a:pPr marL="514350" indent="-514350">
              <a:buAutoNum type="arabicPeriod"/>
            </a:pPr>
            <a:r>
              <a:rPr lang="en-US" b="1" dirty="0">
                <a:latin typeface="Calisto MT" panose="02040603050505030304" pitchFamily="18" charset="0"/>
              </a:rPr>
              <a:t>Exploitation : extracting the minerals from the mines    </a:t>
            </a:r>
          </a:p>
        </p:txBody>
      </p:sp>
    </p:spTree>
    <p:extLst>
      <p:ext uri="{BB962C8B-B14F-4D97-AF65-F5344CB8AC3E}">
        <p14:creationId xmlns:p14="http://schemas.microsoft.com/office/powerpoint/2010/main" val="629842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F03F9-64BD-9201-4DCE-1A2DD463882A}"/>
              </a:ext>
            </a:extLst>
          </p:cNvPr>
          <p:cNvSpPr>
            <a:spLocks noGrp="1"/>
          </p:cNvSpPr>
          <p:nvPr>
            <p:ph type="title"/>
          </p:nvPr>
        </p:nvSpPr>
        <p:spPr/>
        <p:txBody>
          <a:bodyPr/>
          <a:lstStyle/>
          <a:p>
            <a:r>
              <a:rPr lang="en-US" b="1" dirty="0">
                <a:solidFill>
                  <a:srgbClr val="C00000"/>
                </a:solidFill>
                <a:latin typeface="Arial Black" panose="020B0A04020102020204" pitchFamily="34" charset="0"/>
              </a:rPr>
              <a:t>TYPES OF MINING </a:t>
            </a:r>
          </a:p>
        </p:txBody>
      </p:sp>
      <p:sp>
        <p:nvSpPr>
          <p:cNvPr id="3" name="Content Placeholder 2">
            <a:extLst>
              <a:ext uri="{FF2B5EF4-FFF2-40B4-BE49-F238E27FC236}">
                <a16:creationId xmlns:a16="http://schemas.microsoft.com/office/drawing/2014/main" id="{E9F67DCA-A0E5-BA0A-CEAD-648754DDF8F7}"/>
              </a:ext>
            </a:extLst>
          </p:cNvPr>
          <p:cNvSpPr>
            <a:spLocks noGrp="1"/>
          </p:cNvSpPr>
          <p:nvPr>
            <p:ph idx="1"/>
          </p:nvPr>
        </p:nvSpPr>
        <p:spPr/>
        <p:txBody>
          <a:bodyPr/>
          <a:lstStyle/>
          <a:p>
            <a:pPr marL="514350" indent="-514350">
              <a:buFont typeface="+mj-lt"/>
              <a:buAutoNum type="alphaLcParenR"/>
            </a:pPr>
            <a:r>
              <a:rPr lang="en-US" dirty="0">
                <a:latin typeface="Calisto MT" panose="02040603050505030304" pitchFamily="18" charset="0"/>
              </a:rPr>
              <a:t>Surface (open cut or strip mines)</a:t>
            </a:r>
          </a:p>
          <a:p>
            <a:pPr marL="514350" indent="-514350">
              <a:buFont typeface="+mj-lt"/>
              <a:buAutoNum type="alphaLcParenR"/>
            </a:pPr>
            <a:r>
              <a:rPr lang="en-US" dirty="0">
                <a:latin typeface="Calisto MT" panose="02040603050505030304" pitchFamily="18" charset="0"/>
              </a:rPr>
              <a:t>Deep or shaft mines</a:t>
            </a:r>
          </a:p>
        </p:txBody>
      </p:sp>
    </p:spTree>
    <p:extLst>
      <p:ext uri="{BB962C8B-B14F-4D97-AF65-F5344CB8AC3E}">
        <p14:creationId xmlns:p14="http://schemas.microsoft.com/office/powerpoint/2010/main" val="647287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CA5BC-9BDE-35CE-C39F-58C940B33465}"/>
              </a:ext>
            </a:extLst>
          </p:cNvPr>
          <p:cNvSpPr>
            <a:spLocks noGrp="1"/>
          </p:cNvSpPr>
          <p:nvPr>
            <p:ph type="title"/>
          </p:nvPr>
        </p:nvSpPr>
        <p:spPr/>
        <p:txBody>
          <a:bodyPr/>
          <a:lstStyle/>
          <a:p>
            <a:r>
              <a:rPr lang="en-US" b="1" dirty="0">
                <a:solidFill>
                  <a:srgbClr val="C00000"/>
                </a:solidFill>
                <a:latin typeface="Bodoni MT Black" panose="02070A03080606020203" pitchFamily="18" charset="0"/>
              </a:rPr>
              <a:t>SURFACE MINING </a:t>
            </a:r>
          </a:p>
        </p:txBody>
      </p:sp>
      <p:sp>
        <p:nvSpPr>
          <p:cNvPr id="3" name="Content Placeholder 2">
            <a:extLst>
              <a:ext uri="{FF2B5EF4-FFF2-40B4-BE49-F238E27FC236}">
                <a16:creationId xmlns:a16="http://schemas.microsoft.com/office/drawing/2014/main" id="{ED50BBA3-B1E6-FB9D-BA04-BDFC8277CC35}"/>
              </a:ext>
            </a:extLst>
          </p:cNvPr>
          <p:cNvSpPr>
            <a:spLocks noGrp="1"/>
          </p:cNvSpPr>
          <p:nvPr>
            <p:ph idx="1"/>
          </p:nvPr>
        </p:nvSpPr>
        <p:spPr>
          <a:xfrm>
            <a:off x="838200" y="1825624"/>
            <a:ext cx="10515600" cy="5032375"/>
          </a:xfrm>
        </p:spPr>
        <p:txBody>
          <a:bodyPr>
            <a:normAutofit fontScale="92500" lnSpcReduction="10000"/>
          </a:bodyPr>
          <a:lstStyle/>
          <a:p>
            <a:r>
              <a:rPr lang="en-US" b="1" dirty="0"/>
              <a:t>It is used to obtain mineral ore that are close to Earth’s surface </a:t>
            </a:r>
          </a:p>
          <a:p>
            <a:r>
              <a:rPr lang="en-US" b="1" dirty="0"/>
              <a:t>The soil and rock over the ore are removed by blasting , remaining ore is drilled </a:t>
            </a:r>
          </a:p>
          <a:p>
            <a:r>
              <a:rPr lang="en-US" b="1" dirty="0"/>
              <a:t>Surface mining includes open-pit mining , quarrying and strip mining</a:t>
            </a:r>
          </a:p>
          <a:p>
            <a:pPr marL="0" indent="0">
              <a:buNone/>
            </a:pPr>
            <a:endParaRPr lang="en-US" b="1" dirty="0"/>
          </a:p>
          <a:p>
            <a:pPr marL="514350" indent="-514350">
              <a:buFont typeface="+mj-lt"/>
              <a:buAutoNum type="arabicPeriod"/>
            </a:pPr>
            <a:r>
              <a:rPr lang="en-US" b="1" dirty="0"/>
              <a:t>Open-pit mining creates a big pit from which the ore is  mined. The size of the pit grows until it is no longer profitable to mine the remaining  ore </a:t>
            </a:r>
          </a:p>
          <a:p>
            <a:pPr marL="514350" indent="-514350">
              <a:buFont typeface="+mj-lt"/>
              <a:buAutoNum type="arabicPeriod"/>
            </a:pPr>
            <a:r>
              <a:rPr lang="en-US" b="1" dirty="0"/>
              <a:t>Strip mining are similar to pit mine, but the ore is removed in large strip  </a:t>
            </a:r>
          </a:p>
          <a:p>
            <a:pPr marL="514350" indent="-514350">
              <a:buFont typeface="+mj-lt"/>
              <a:buAutoNum type="arabicPeriod"/>
            </a:pPr>
            <a:r>
              <a:rPr lang="en-US" b="1" dirty="0"/>
              <a:t>A quarry is a type of open-pit mine that produces  rocks and minerals that are used to make buildings </a:t>
            </a:r>
          </a:p>
        </p:txBody>
      </p:sp>
    </p:spTree>
    <p:extLst>
      <p:ext uri="{BB962C8B-B14F-4D97-AF65-F5344CB8AC3E}">
        <p14:creationId xmlns:p14="http://schemas.microsoft.com/office/powerpoint/2010/main" val="1717048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2765-3AE3-75DC-0DE7-34A6E3764B5C}"/>
              </a:ext>
            </a:extLst>
          </p:cNvPr>
          <p:cNvSpPr>
            <a:spLocks noGrp="1"/>
          </p:cNvSpPr>
          <p:nvPr>
            <p:ph type="title"/>
          </p:nvPr>
        </p:nvSpPr>
        <p:spPr/>
        <p:txBody>
          <a:bodyPr/>
          <a:lstStyle/>
          <a:p>
            <a:r>
              <a:rPr lang="en-US" b="1" dirty="0">
                <a:solidFill>
                  <a:srgbClr val="C00000"/>
                </a:solidFill>
                <a:latin typeface="Bodoni MT Black" panose="02070A03080606020203" pitchFamily="18" charset="0"/>
              </a:rPr>
              <a:t>UNDERGROUND MINING </a:t>
            </a:r>
          </a:p>
        </p:txBody>
      </p:sp>
      <p:sp>
        <p:nvSpPr>
          <p:cNvPr id="3" name="Content Placeholder 2">
            <a:extLst>
              <a:ext uri="{FF2B5EF4-FFF2-40B4-BE49-F238E27FC236}">
                <a16:creationId xmlns:a16="http://schemas.microsoft.com/office/drawing/2014/main" id="{561F9909-D102-4C91-14BF-0C5648EC151E}"/>
              </a:ext>
            </a:extLst>
          </p:cNvPr>
          <p:cNvSpPr>
            <a:spLocks noGrp="1"/>
          </p:cNvSpPr>
          <p:nvPr>
            <p:ph idx="1"/>
          </p:nvPr>
        </p:nvSpPr>
        <p:spPr>
          <a:xfrm>
            <a:off x="838200" y="1825625"/>
            <a:ext cx="10515600" cy="4825898"/>
          </a:xfrm>
        </p:spPr>
        <p:txBody>
          <a:bodyPr/>
          <a:lstStyle/>
          <a:p>
            <a:r>
              <a:rPr lang="en-US" b="1" dirty="0"/>
              <a:t>It is used for ores that are deep in earth surface </a:t>
            </a:r>
          </a:p>
          <a:p>
            <a:r>
              <a:rPr lang="en-US" b="1" dirty="0"/>
              <a:t>It is expensive to remove all of the rocks above the ore </a:t>
            </a:r>
          </a:p>
          <a:p>
            <a:r>
              <a:rPr lang="en-US" b="1" dirty="0"/>
              <a:t>The deepest gold mine in south Africa is more than 3700 meters deep </a:t>
            </a:r>
          </a:p>
          <a:p>
            <a:r>
              <a:rPr lang="en-US" b="1" dirty="0"/>
              <a:t>These are various methods of underground mining </a:t>
            </a:r>
          </a:p>
          <a:p>
            <a:r>
              <a:rPr lang="en-US" b="1" dirty="0"/>
              <a:t>It is more expensive than surface mining because tunnels are made in the rocks so that miners and equipment can get to the ore </a:t>
            </a:r>
          </a:p>
          <a:p>
            <a:r>
              <a:rPr lang="en-US" b="1" dirty="0"/>
              <a:t>It is a dangerous work </a:t>
            </a:r>
          </a:p>
        </p:txBody>
      </p:sp>
    </p:spTree>
    <p:extLst>
      <p:ext uri="{BB962C8B-B14F-4D97-AF65-F5344CB8AC3E}">
        <p14:creationId xmlns:p14="http://schemas.microsoft.com/office/powerpoint/2010/main" val="1244881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96B6182-FC43-C406-49C5-F45C39F2F507}"/>
              </a:ext>
            </a:extLst>
          </p:cNvPr>
          <p:cNvSpPr txBox="1"/>
          <p:nvPr/>
        </p:nvSpPr>
        <p:spPr>
          <a:xfrm>
            <a:off x="1637071" y="159688"/>
            <a:ext cx="9556955" cy="830997"/>
          </a:xfrm>
          <a:prstGeom prst="rect">
            <a:avLst/>
          </a:prstGeom>
          <a:noFill/>
        </p:spPr>
        <p:txBody>
          <a:bodyPr wrap="square" rtlCol="0">
            <a:spAutoFit/>
          </a:bodyPr>
          <a:lstStyle/>
          <a:p>
            <a:r>
              <a:rPr lang="en-US" sz="4800" b="1" dirty="0">
                <a:solidFill>
                  <a:schemeClr val="bg1"/>
                </a:solidFill>
                <a:latin typeface="Bodoni MT Black" panose="02070A03080606020203" pitchFamily="18" charset="0"/>
              </a:rPr>
              <a:t>ENVIRONMETAL EFFECTS </a:t>
            </a:r>
          </a:p>
        </p:txBody>
      </p:sp>
    </p:spTree>
    <p:extLst>
      <p:ext uri="{BB962C8B-B14F-4D97-AF65-F5344CB8AC3E}">
        <p14:creationId xmlns:p14="http://schemas.microsoft.com/office/powerpoint/2010/main" val="3016005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0303F-9E36-8428-63FB-3A397BE3D6CE}"/>
              </a:ext>
            </a:extLst>
          </p:cNvPr>
          <p:cNvSpPr>
            <a:spLocks noGrp="1"/>
          </p:cNvSpPr>
          <p:nvPr>
            <p:ph type="title"/>
          </p:nvPr>
        </p:nvSpPr>
        <p:spPr/>
        <p:txBody>
          <a:bodyPr/>
          <a:lstStyle/>
          <a:p>
            <a:r>
              <a:rPr lang="en-US" b="1" dirty="0">
                <a:solidFill>
                  <a:srgbClr val="C00000"/>
                </a:solidFill>
                <a:latin typeface="Bodoni MT Black" panose="02070A03080606020203" pitchFamily="18" charset="0"/>
              </a:rPr>
              <a:t>ENVIRONMENTAL EFFECTS </a:t>
            </a:r>
          </a:p>
        </p:txBody>
      </p:sp>
      <p:sp>
        <p:nvSpPr>
          <p:cNvPr id="3" name="Content Placeholder 2">
            <a:extLst>
              <a:ext uri="{FF2B5EF4-FFF2-40B4-BE49-F238E27FC236}">
                <a16:creationId xmlns:a16="http://schemas.microsoft.com/office/drawing/2014/main" id="{99F7E1E1-68E3-5697-BC87-F8763F9F40FA}"/>
              </a:ext>
            </a:extLst>
          </p:cNvPr>
          <p:cNvSpPr>
            <a:spLocks noGrp="1"/>
          </p:cNvSpPr>
          <p:nvPr>
            <p:ph idx="1"/>
          </p:nvPr>
        </p:nvSpPr>
        <p:spPr>
          <a:xfrm>
            <a:off x="838200" y="1825625"/>
            <a:ext cx="10515600" cy="4667250"/>
          </a:xfrm>
        </p:spPr>
        <p:txBody>
          <a:bodyPr/>
          <a:lstStyle/>
          <a:p>
            <a:r>
              <a:rPr lang="en-US" b="1" dirty="0"/>
              <a:t>Mining process involves removal of over burden of soil, ore extraction and transportation , crushing and grinding of ore , water treatment of ore, storage of waste materials </a:t>
            </a:r>
          </a:p>
          <a:p>
            <a:r>
              <a:rPr lang="en-US" b="1" dirty="0"/>
              <a:t>These activities cause air, noise, water pollutions, loss of habitat of  wildlife, concentration of toxic substance in tailing ponds and spreading of dust </a:t>
            </a:r>
          </a:p>
          <a:p>
            <a:r>
              <a:rPr lang="en-US" b="1" dirty="0"/>
              <a:t>People working in mines often suffer from respiratory system and skin diseases</a:t>
            </a:r>
          </a:p>
          <a:p>
            <a:r>
              <a:rPr lang="en-US" b="1" dirty="0"/>
              <a:t>Mining often cause tilting of building, cracks in houses, buckling of roads , bending of rail tracks</a:t>
            </a:r>
          </a:p>
        </p:txBody>
      </p:sp>
    </p:spTree>
    <p:extLst>
      <p:ext uri="{BB962C8B-B14F-4D97-AF65-F5344CB8AC3E}">
        <p14:creationId xmlns:p14="http://schemas.microsoft.com/office/powerpoint/2010/main" val="1410994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0BE06-9548-14F6-FFCD-95F133FD32ED}"/>
              </a:ext>
            </a:extLst>
          </p:cNvPr>
          <p:cNvSpPr>
            <a:spLocks noGrp="1"/>
          </p:cNvSpPr>
          <p:nvPr>
            <p:ph type="title"/>
          </p:nvPr>
        </p:nvSpPr>
        <p:spPr>
          <a:xfrm>
            <a:off x="838200" y="1"/>
            <a:ext cx="10515600" cy="1091380"/>
          </a:xfrm>
        </p:spPr>
        <p:txBody>
          <a:bodyPr/>
          <a:lstStyle/>
          <a:p>
            <a:r>
              <a:rPr lang="en-US" b="1" dirty="0">
                <a:solidFill>
                  <a:srgbClr val="C00000"/>
                </a:solidFill>
                <a:latin typeface="Bodoni MT Black" panose="02070A03080606020203" pitchFamily="18" charset="0"/>
              </a:rPr>
              <a:t>Environmental effects </a:t>
            </a:r>
          </a:p>
        </p:txBody>
      </p:sp>
      <p:sp>
        <p:nvSpPr>
          <p:cNvPr id="3" name="Content Placeholder 2">
            <a:extLst>
              <a:ext uri="{FF2B5EF4-FFF2-40B4-BE49-F238E27FC236}">
                <a16:creationId xmlns:a16="http://schemas.microsoft.com/office/drawing/2014/main" id="{7D973829-F8AB-5CE2-D28A-C0031F1F4463}"/>
              </a:ext>
            </a:extLst>
          </p:cNvPr>
          <p:cNvSpPr>
            <a:spLocks noGrp="1"/>
          </p:cNvSpPr>
          <p:nvPr>
            <p:ph idx="1"/>
          </p:nvPr>
        </p:nvSpPr>
        <p:spPr>
          <a:xfrm>
            <a:off x="838200" y="1327354"/>
            <a:ext cx="10515600" cy="5309419"/>
          </a:xfrm>
        </p:spPr>
        <p:txBody>
          <a:bodyPr/>
          <a:lstStyle/>
          <a:p>
            <a:pPr marL="0" indent="0">
              <a:buNone/>
            </a:pPr>
            <a:r>
              <a:rPr lang="en-US" b="1" dirty="0">
                <a:solidFill>
                  <a:srgbClr val="C00000"/>
                </a:solidFill>
              </a:rPr>
              <a:t>  Acid mine drainage</a:t>
            </a:r>
            <a:r>
              <a:rPr lang="en-US" dirty="0"/>
              <a:t>(AMD) or </a:t>
            </a:r>
            <a:r>
              <a:rPr lang="en-US" b="1" dirty="0">
                <a:solidFill>
                  <a:srgbClr val="C00000"/>
                </a:solidFill>
              </a:rPr>
              <a:t>Acid rock drainage</a:t>
            </a:r>
            <a:r>
              <a:rPr lang="en-US" dirty="0"/>
              <a:t>(ARD):</a:t>
            </a:r>
          </a:p>
          <a:p>
            <a:pPr marL="0" indent="0">
              <a:buNone/>
            </a:pPr>
            <a:r>
              <a:rPr lang="en-US" dirty="0"/>
              <a:t>  </a:t>
            </a:r>
          </a:p>
          <a:p>
            <a:pPr marL="0" indent="0">
              <a:buNone/>
            </a:pPr>
            <a:r>
              <a:rPr lang="en-US" b="1" dirty="0"/>
              <a:t> The outflow of acidic water from (usually abandoned) metal mines or coal mines. </a:t>
            </a:r>
          </a:p>
          <a:p>
            <a:pPr marL="0" indent="0">
              <a:buNone/>
            </a:pPr>
            <a:r>
              <a:rPr lang="en-US" b="1" dirty="0"/>
              <a:t>However, other area where the earth has been disturbed (e.g. construction sites, subdivision, transportation corridors )</a:t>
            </a:r>
          </a:p>
          <a:p>
            <a:pPr marL="0" indent="0">
              <a:buNone/>
            </a:pPr>
            <a:r>
              <a:rPr lang="en-US" b="1" dirty="0"/>
              <a:t>May also contribute acid rock drainage to the environment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44067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3DCD-17B4-A56D-11F3-0474E23F9C64}"/>
              </a:ext>
            </a:extLst>
          </p:cNvPr>
          <p:cNvSpPr>
            <a:spLocks noGrp="1"/>
          </p:cNvSpPr>
          <p:nvPr>
            <p:ph type="ctrTitle"/>
          </p:nvPr>
        </p:nvSpPr>
        <p:spPr/>
        <p:txBody>
          <a:bodyPr/>
          <a:lstStyle/>
          <a:p>
            <a:r>
              <a:rPr lang="en-IN" b="1" dirty="0">
                <a:latin typeface="Arial Black" panose="020B0A04020102020204" pitchFamily="34" charset="0"/>
              </a:rPr>
              <a:t>FOOD RESOURCES </a:t>
            </a:r>
          </a:p>
        </p:txBody>
      </p:sp>
      <p:sp>
        <p:nvSpPr>
          <p:cNvPr id="3" name="Subtitle 2">
            <a:extLst>
              <a:ext uri="{FF2B5EF4-FFF2-40B4-BE49-F238E27FC236}">
                <a16:creationId xmlns:a16="http://schemas.microsoft.com/office/drawing/2014/main" id="{54731A43-200F-BBF7-3A19-A700AFEFC928}"/>
              </a:ext>
            </a:extLst>
          </p:cNvPr>
          <p:cNvSpPr>
            <a:spLocks noGrp="1"/>
          </p:cNvSpPr>
          <p:nvPr>
            <p:ph type="subTitle" idx="1"/>
          </p:nvPr>
        </p:nvSpPr>
        <p:spPr/>
        <p:txBody>
          <a:bodyPr/>
          <a:lstStyle/>
          <a:p>
            <a:r>
              <a:rPr lang="en-IN" dirty="0">
                <a:latin typeface="Calisto MT" panose="02040603050505030304" pitchFamily="18" charset="0"/>
              </a:rPr>
              <a:t>By Supriya</a:t>
            </a:r>
          </a:p>
        </p:txBody>
      </p:sp>
    </p:spTree>
    <p:extLst>
      <p:ext uri="{BB962C8B-B14F-4D97-AF65-F5344CB8AC3E}">
        <p14:creationId xmlns:p14="http://schemas.microsoft.com/office/powerpoint/2010/main" val="1274997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A4204-9658-C5AF-B78A-0E554E88E666}"/>
              </a:ext>
            </a:extLst>
          </p:cNvPr>
          <p:cNvSpPr>
            <a:spLocks noGrp="1"/>
          </p:cNvSpPr>
          <p:nvPr>
            <p:ph type="title"/>
          </p:nvPr>
        </p:nvSpPr>
        <p:spPr/>
        <p:txBody>
          <a:bodyPr>
            <a:normAutofit fontScale="90000"/>
          </a:bodyPr>
          <a:lstStyle/>
          <a:p>
            <a:r>
              <a:rPr lang="en-IN" sz="4800" b="1" dirty="0">
                <a:solidFill>
                  <a:srgbClr val="C00000"/>
                </a:solidFill>
                <a:latin typeface="Arial Black" panose="020B0A04020102020204" pitchFamily="34" charset="0"/>
              </a:rPr>
              <a:t>DEFINITION OF FOOD RESOURCES</a:t>
            </a:r>
          </a:p>
        </p:txBody>
      </p:sp>
      <p:sp>
        <p:nvSpPr>
          <p:cNvPr id="3" name="Content Placeholder 2">
            <a:extLst>
              <a:ext uri="{FF2B5EF4-FFF2-40B4-BE49-F238E27FC236}">
                <a16:creationId xmlns:a16="http://schemas.microsoft.com/office/drawing/2014/main" id="{68F97A81-306A-2628-2EA8-C088D7906C8C}"/>
              </a:ext>
            </a:extLst>
          </p:cNvPr>
          <p:cNvSpPr>
            <a:spLocks noGrp="1"/>
          </p:cNvSpPr>
          <p:nvPr>
            <p:ph idx="1"/>
          </p:nvPr>
        </p:nvSpPr>
        <p:spPr/>
        <p:txBody>
          <a:bodyPr/>
          <a:lstStyle/>
          <a:p>
            <a:pPr marL="0" indent="0">
              <a:buNone/>
            </a:pPr>
            <a:endParaRPr lang="en-US" dirty="0"/>
          </a:p>
          <a:p>
            <a:pPr marL="0" indent="0">
              <a:buNone/>
            </a:pPr>
            <a:r>
              <a:rPr lang="en-US" dirty="0">
                <a:latin typeface="Calisto MT" panose="02040603050505030304" pitchFamily="18" charset="0"/>
              </a:rPr>
              <a:t>Food resources refers to all the natural and human-made sources from which humans obtain food to meet their nutritional needs. These include plant-based, animal-based, and aquatic sources that provide essential nutrients like carbohydrates, proteins, fats, vitamins, and minerals.</a:t>
            </a:r>
          </a:p>
          <a:p>
            <a:endParaRPr lang="en-IN" dirty="0"/>
          </a:p>
        </p:txBody>
      </p:sp>
    </p:spTree>
    <p:extLst>
      <p:ext uri="{BB962C8B-B14F-4D97-AF65-F5344CB8AC3E}">
        <p14:creationId xmlns:p14="http://schemas.microsoft.com/office/powerpoint/2010/main" val="18202156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8036C-7027-306D-EEF6-3E2B7132D82F}"/>
              </a:ext>
            </a:extLst>
          </p:cNvPr>
          <p:cNvSpPr>
            <a:spLocks noGrp="1"/>
          </p:cNvSpPr>
          <p:nvPr>
            <p:ph type="title"/>
          </p:nvPr>
        </p:nvSpPr>
        <p:spPr>
          <a:xfrm>
            <a:off x="338254" y="367990"/>
            <a:ext cx="6921190" cy="925551"/>
          </a:xfrm>
        </p:spPr>
        <p:txBody>
          <a:bodyPr/>
          <a:lstStyle/>
          <a:p>
            <a:r>
              <a:rPr lang="en-IN" dirty="0">
                <a:solidFill>
                  <a:srgbClr val="C00000"/>
                </a:solidFill>
                <a:latin typeface="Arial Black" panose="020B0A04020102020204" pitchFamily="34" charset="0"/>
              </a:rPr>
              <a:t>WORLD FOOD PROBLEMS</a:t>
            </a:r>
          </a:p>
        </p:txBody>
      </p:sp>
      <p:sp>
        <p:nvSpPr>
          <p:cNvPr id="4" name="Text Placeholder 3">
            <a:extLst>
              <a:ext uri="{FF2B5EF4-FFF2-40B4-BE49-F238E27FC236}">
                <a16:creationId xmlns:a16="http://schemas.microsoft.com/office/drawing/2014/main" id="{7D9E5F6A-871E-B3B3-27FA-382EAD0D14CE}"/>
              </a:ext>
            </a:extLst>
          </p:cNvPr>
          <p:cNvSpPr>
            <a:spLocks noGrp="1"/>
          </p:cNvSpPr>
          <p:nvPr>
            <p:ph type="body" sz="half" idx="2"/>
          </p:nvPr>
        </p:nvSpPr>
        <p:spPr>
          <a:xfrm>
            <a:off x="338254" y="1405054"/>
            <a:ext cx="6921190" cy="5084956"/>
          </a:xfrm>
        </p:spPr>
        <p:txBody>
          <a:bodyPr>
            <a:normAutofit/>
          </a:bodyPr>
          <a:lstStyle/>
          <a:p>
            <a:r>
              <a:rPr lang="en-US" sz="2800" dirty="0">
                <a:latin typeface="Calisto MT" panose="02040603050505030304" pitchFamily="18" charset="0"/>
              </a:rPr>
              <a:t>The world’s population keeps growing, increasing food demand. Although food production has tripled in the last 50 years, rapid population growth has outpaced it. Food scarcity is mainly due to poverty and lack of access, not actual shortage. Famines result from poor technology, limited fertilizers, and pesticides. The Green Revolution, led by Norman Borlaug, introduced high-yield crops, fertilizers, and improved methods, boosting food production—especially in developing countries like India</a:t>
            </a:r>
            <a:r>
              <a:rPr lang="en-US" sz="2400" dirty="0">
                <a:latin typeface="Calisto MT" panose="02040603050505030304" pitchFamily="18" charset="0"/>
              </a:rPr>
              <a:t>.</a:t>
            </a:r>
            <a:endParaRPr lang="en-IN" sz="2400" dirty="0">
              <a:latin typeface="Calisto MT" panose="02040603050505030304" pitchFamily="18" charset="0"/>
            </a:endParaRPr>
          </a:p>
        </p:txBody>
      </p:sp>
      <p:sp>
        <p:nvSpPr>
          <p:cNvPr id="5" name="Content Placeholder 4">
            <a:extLst>
              <a:ext uri="{FF2B5EF4-FFF2-40B4-BE49-F238E27FC236}">
                <a16:creationId xmlns:a16="http://schemas.microsoft.com/office/drawing/2014/main" id="{A82966CC-B37F-7B6F-C7F1-969B8397CC6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56674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E20ED-7907-D73A-DA66-C7BF0B691CEC}"/>
              </a:ext>
            </a:extLst>
          </p:cNvPr>
          <p:cNvSpPr>
            <a:spLocks noGrp="1"/>
          </p:cNvSpPr>
          <p:nvPr>
            <p:ph type="title"/>
          </p:nvPr>
        </p:nvSpPr>
        <p:spPr/>
        <p:txBody>
          <a:bodyPr>
            <a:normAutofit/>
          </a:bodyPr>
          <a:lstStyle/>
          <a:p>
            <a:pPr algn="ctr"/>
            <a:r>
              <a:rPr lang="en-IN" sz="3600" dirty="0">
                <a:solidFill>
                  <a:srgbClr val="C00000"/>
                </a:solidFill>
                <a:latin typeface="Arial Black" panose="020B0A04020102020204" pitchFamily="34" charset="0"/>
              </a:rPr>
              <a:t>CHANGES CAUSED BY AGRICULTURE</a:t>
            </a:r>
            <a:endParaRPr lang="en-IN" sz="3600" dirty="0"/>
          </a:p>
        </p:txBody>
      </p:sp>
      <p:sp>
        <p:nvSpPr>
          <p:cNvPr id="3" name="Content Placeholder 2">
            <a:extLst>
              <a:ext uri="{FF2B5EF4-FFF2-40B4-BE49-F238E27FC236}">
                <a16:creationId xmlns:a16="http://schemas.microsoft.com/office/drawing/2014/main" id="{9941816F-B6F4-3EF4-9A38-6CF653F48F8A}"/>
              </a:ext>
            </a:extLst>
          </p:cNvPr>
          <p:cNvSpPr>
            <a:spLocks noGrp="1"/>
          </p:cNvSpPr>
          <p:nvPr>
            <p:ph idx="1"/>
          </p:nvPr>
        </p:nvSpPr>
        <p:spPr>
          <a:xfrm>
            <a:off x="239485" y="1690688"/>
            <a:ext cx="11756571" cy="5047569"/>
          </a:xfrm>
        </p:spPr>
        <p:txBody>
          <a:bodyPr>
            <a:normAutofit/>
          </a:bodyPr>
          <a:lstStyle/>
          <a:p>
            <a:pPr marL="0" indent="0" algn="ctr">
              <a:buNone/>
            </a:pPr>
            <a:r>
              <a:rPr lang="en-IN" b="1" dirty="0">
                <a:solidFill>
                  <a:srgbClr val="C00000"/>
                </a:solidFill>
                <a:latin typeface="Calisto MT" panose="02040603050505030304" pitchFamily="18" charset="0"/>
              </a:rPr>
              <a:t>AGRICULTURAL SYSTEMS</a:t>
            </a:r>
          </a:p>
          <a:p>
            <a:pPr marL="0" indent="0" algn="ctr">
              <a:buNone/>
            </a:pPr>
            <a:endParaRPr lang="en-IN" b="1" dirty="0">
              <a:solidFill>
                <a:srgbClr val="C00000"/>
              </a:solidFill>
              <a:latin typeface="Calisto MT" panose="02040603050505030304" pitchFamily="18" charset="0"/>
            </a:endParaRPr>
          </a:p>
        </p:txBody>
      </p:sp>
      <p:sp>
        <p:nvSpPr>
          <p:cNvPr id="15" name="Flowchart: Process 14">
            <a:extLst>
              <a:ext uri="{FF2B5EF4-FFF2-40B4-BE49-F238E27FC236}">
                <a16:creationId xmlns:a16="http://schemas.microsoft.com/office/drawing/2014/main" id="{60101F42-DABB-DF68-BB37-25C8DDC50887}"/>
              </a:ext>
            </a:extLst>
          </p:cNvPr>
          <p:cNvSpPr/>
          <p:nvPr/>
        </p:nvSpPr>
        <p:spPr>
          <a:xfrm>
            <a:off x="838200" y="2732316"/>
            <a:ext cx="4125685" cy="914400"/>
          </a:xfrm>
          <a:prstGeom prst="flowChartProcess">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latin typeface="Calisto MT" panose="02040603050505030304" pitchFamily="18" charset="0"/>
              </a:rPr>
              <a:t>TRADITIONAL SYSTEM</a:t>
            </a:r>
          </a:p>
        </p:txBody>
      </p:sp>
      <p:sp>
        <p:nvSpPr>
          <p:cNvPr id="16" name="Flowchart: Process 15">
            <a:extLst>
              <a:ext uri="{FF2B5EF4-FFF2-40B4-BE49-F238E27FC236}">
                <a16:creationId xmlns:a16="http://schemas.microsoft.com/office/drawing/2014/main" id="{61C82E66-8803-97F5-C933-5B755552F174}"/>
              </a:ext>
            </a:extLst>
          </p:cNvPr>
          <p:cNvSpPr/>
          <p:nvPr/>
        </p:nvSpPr>
        <p:spPr>
          <a:xfrm>
            <a:off x="7380518" y="2732315"/>
            <a:ext cx="4125684" cy="914400"/>
          </a:xfrm>
          <a:prstGeom prst="flowChartProcess">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latin typeface="Calisto MT" panose="02040603050505030304" pitchFamily="18" charset="0"/>
              </a:rPr>
              <a:t>MODERN AND INDUSTRIALIZED  SYSTEM</a:t>
            </a:r>
          </a:p>
        </p:txBody>
      </p:sp>
      <p:cxnSp>
        <p:nvCxnSpPr>
          <p:cNvPr id="18" name="Straight Arrow Connector 17">
            <a:extLst>
              <a:ext uri="{FF2B5EF4-FFF2-40B4-BE49-F238E27FC236}">
                <a16:creationId xmlns:a16="http://schemas.microsoft.com/office/drawing/2014/main" id="{A5F03108-77CE-B029-FAE4-F31C5D17F0ED}"/>
              </a:ext>
            </a:extLst>
          </p:cNvPr>
          <p:cNvCxnSpPr/>
          <p:nvPr/>
        </p:nvCxnSpPr>
        <p:spPr>
          <a:xfrm>
            <a:off x="9753600" y="2231571"/>
            <a:ext cx="0" cy="41365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9EB6645-8255-14F6-D91D-B1E2A387F92C}"/>
              </a:ext>
            </a:extLst>
          </p:cNvPr>
          <p:cNvCxnSpPr/>
          <p:nvPr/>
        </p:nvCxnSpPr>
        <p:spPr>
          <a:xfrm>
            <a:off x="2231571" y="2231571"/>
            <a:ext cx="0" cy="41365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4F9AECD-BFCA-5F4A-8335-DF32202E762E}"/>
              </a:ext>
            </a:extLst>
          </p:cNvPr>
          <p:cNvCxnSpPr>
            <a:cxnSpLocks/>
          </p:cNvCxnSpPr>
          <p:nvPr/>
        </p:nvCxnSpPr>
        <p:spPr>
          <a:xfrm>
            <a:off x="2231571" y="2231571"/>
            <a:ext cx="7522029"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FC901E9-FDFE-5A58-55A7-911472F20591}"/>
              </a:ext>
            </a:extLst>
          </p:cNvPr>
          <p:cNvCxnSpPr/>
          <p:nvPr/>
        </p:nvCxnSpPr>
        <p:spPr>
          <a:xfrm>
            <a:off x="838200" y="3864429"/>
            <a:ext cx="5116286"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DB6784C-0550-C03F-3C10-37C1652A6489}"/>
              </a:ext>
            </a:extLst>
          </p:cNvPr>
          <p:cNvCxnSpPr>
            <a:cxnSpLocks/>
          </p:cNvCxnSpPr>
          <p:nvPr/>
        </p:nvCxnSpPr>
        <p:spPr>
          <a:xfrm>
            <a:off x="838200" y="3864429"/>
            <a:ext cx="0" cy="413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37A2634-92A6-1B8B-8DB2-DC100210FB17}"/>
              </a:ext>
            </a:extLst>
          </p:cNvPr>
          <p:cNvCxnSpPr>
            <a:cxnSpLocks/>
          </p:cNvCxnSpPr>
          <p:nvPr/>
        </p:nvCxnSpPr>
        <p:spPr>
          <a:xfrm>
            <a:off x="5954486" y="3864429"/>
            <a:ext cx="0" cy="413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3" name="Flowchart: Process 32">
            <a:extLst>
              <a:ext uri="{FF2B5EF4-FFF2-40B4-BE49-F238E27FC236}">
                <a16:creationId xmlns:a16="http://schemas.microsoft.com/office/drawing/2014/main" id="{6D463A0E-F4AD-41D0-48B1-64DC88BE5363}"/>
              </a:ext>
            </a:extLst>
          </p:cNvPr>
          <p:cNvSpPr/>
          <p:nvPr/>
        </p:nvSpPr>
        <p:spPr>
          <a:xfrm>
            <a:off x="108858" y="4419599"/>
            <a:ext cx="3069770" cy="1077679"/>
          </a:xfrm>
          <a:prstGeom prst="flowChartProcess">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latin typeface="Calisto MT" panose="02040603050505030304" pitchFamily="18" charset="0"/>
              </a:rPr>
              <a:t>TRADITIONAL SUBSISTENCE AGRICULTURE [TSA]</a:t>
            </a:r>
          </a:p>
        </p:txBody>
      </p:sp>
      <p:sp>
        <p:nvSpPr>
          <p:cNvPr id="34" name="Flowchart: Process 33">
            <a:extLst>
              <a:ext uri="{FF2B5EF4-FFF2-40B4-BE49-F238E27FC236}">
                <a16:creationId xmlns:a16="http://schemas.microsoft.com/office/drawing/2014/main" id="{612F6F5F-D713-F0B7-8DF8-F50E9955A8A1}"/>
              </a:ext>
            </a:extLst>
          </p:cNvPr>
          <p:cNvSpPr/>
          <p:nvPr/>
        </p:nvSpPr>
        <p:spPr>
          <a:xfrm>
            <a:off x="4223668" y="4419600"/>
            <a:ext cx="3069771" cy="1077677"/>
          </a:xfrm>
          <a:prstGeom prst="flowChartProcess">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latin typeface="Calisto MT" panose="02040603050505030304" pitchFamily="18" charset="0"/>
              </a:rPr>
              <a:t>TRADITIONAL INTENSIVE AGRICULTURE [TIA]</a:t>
            </a:r>
          </a:p>
        </p:txBody>
      </p:sp>
    </p:spTree>
    <p:extLst>
      <p:ext uri="{BB962C8B-B14F-4D97-AF65-F5344CB8AC3E}">
        <p14:creationId xmlns:p14="http://schemas.microsoft.com/office/powerpoint/2010/main" val="9383186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6BECAC3-70F4-9173-EF35-5622CB1B793C}"/>
              </a:ext>
            </a:extLst>
          </p:cNvPr>
          <p:cNvSpPr>
            <a:spLocks noGrp="1"/>
          </p:cNvSpPr>
          <p:nvPr>
            <p:ph sz="half" idx="2"/>
          </p:nvPr>
        </p:nvSpPr>
        <p:spPr>
          <a:xfrm>
            <a:off x="228600" y="936171"/>
            <a:ext cx="5768975" cy="5562599"/>
          </a:xfrm>
        </p:spPr>
        <p:txBody>
          <a:bodyPr>
            <a:normAutofit/>
          </a:bodyPr>
          <a:lstStyle/>
          <a:p>
            <a:r>
              <a:rPr lang="en-US" sz="2400" dirty="0">
                <a:latin typeface="Calisto MT" panose="02040603050505030304" pitchFamily="18" charset="0"/>
              </a:rPr>
              <a:t>It is a type of farming where a farmer grows crops mainly to feed himself and his family. Very little or no surplus is left for selling. </a:t>
            </a:r>
          </a:p>
          <a:p>
            <a:r>
              <a:rPr lang="en-US" sz="2400" dirty="0">
                <a:latin typeface="Calisto MT" panose="02040603050505030304" pitchFamily="18" charset="0"/>
              </a:rPr>
              <a:t>It uses simple tools, small land areas, and depends on rainfall and family labor.</a:t>
            </a:r>
          </a:p>
          <a:p>
            <a:r>
              <a:rPr lang="en-US" sz="2400" dirty="0">
                <a:latin typeface="Calisto MT" panose="02040603050505030304" pitchFamily="18" charset="0"/>
              </a:rPr>
              <a:t> Example: A family in a village growing rice, maize, or vegetables only for their own use.</a:t>
            </a:r>
            <a:endParaRPr lang="en-IN" sz="2400" dirty="0">
              <a:latin typeface="Calisto MT" panose="02040603050505030304" pitchFamily="18" charset="0"/>
            </a:endParaRPr>
          </a:p>
        </p:txBody>
      </p:sp>
      <p:sp>
        <p:nvSpPr>
          <p:cNvPr id="5" name="Text Placeholder 4">
            <a:extLst>
              <a:ext uri="{FF2B5EF4-FFF2-40B4-BE49-F238E27FC236}">
                <a16:creationId xmlns:a16="http://schemas.microsoft.com/office/drawing/2014/main" id="{02844CE2-0D75-4DC8-F251-684694397C03}"/>
              </a:ext>
            </a:extLst>
          </p:cNvPr>
          <p:cNvSpPr>
            <a:spLocks noGrp="1"/>
          </p:cNvSpPr>
          <p:nvPr>
            <p:ph type="body" sz="quarter" idx="3"/>
          </p:nvPr>
        </p:nvSpPr>
        <p:spPr>
          <a:xfrm>
            <a:off x="6172200" y="163286"/>
            <a:ext cx="5183188" cy="772885"/>
          </a:xfrm>
        </p:spPr>
        <p:txBody>
          <a:bodyPr>
            <a:normAutofit fontScale="25000" lnSpcReduction="20000"/>
          </a:bodyPr>
          <a:lstStyle/>
          <a:p>
            <a:pPr algn="ctr"/>
            <a:r>
              <a:rPr lang="en-IN" sz="9600" dirty="0">
                <a:solidFill>
                  <a:srgbClr val="C00000"/>
                </a:solidFill>
                <a:latin typeface="Calisto MT" panose="02040603050505030304" pitchFamily="18" charset="0"/>
              </a:rPr>
              <a:t>TRADITIONAL INTENSIVE AGRICULTURE [TIA]</a:t>
            </a:r>
          </a:p>
          <a:p>
            <a:endParaRPr lang="en-IN" dirty="0"/>
          </a:p>
        </p:txBody>
      </p:sp>
      <p:sp>
        <p:nvSpPr>
          <p:cNvPr id="6" name="Content Placeholder 5">
            <a:extLst>
              <a:ext uri="{FF2B5EF4-FFF2-40B4-BE49-F238E27FC236}">
                <a16:creationId xmlns:a16="http://schemas.microsoft.com/office/drawing/2014/main" id="{3ABA0761-E472-012B-FF1C-E67B7AADF573}"/>
              </a:ext>
            </a:extLst>
          </p:cNvPr>
          <p:cNvSpPr>
            <a:spLocks noGrp="1"/>
          </p:cNvSpPr>
          <p:nvPr>
            <p:ph sz="quarter" idx="4"/>
          </p:nvPr>
        </p:nvSpPr>
        <p:spPr>
          <a:xfrm>
            <a:off x="6172200" y="859971"/>
            <a:ext cx="5768974" cy="5638800"/>
          </a:xfrm>
        </p:spPr>
        <p:txBody>
          <a:bodyPr>
            <a:normAutofit/>
          </a:bodyPr>
          <a:lstStyle/>
          <a:p>
            <a:r>
              <a:rPr lang="en-US" sz="2400" dirty="0">
                <a:latin typeface="Calisto MT" panose="02040603050505030304" pitchFamily="18" charset="0"/>
              </a:rPr>
              <a:t>It is a type of farming practiced in areas with dense population, where farmers use more labor and inputs (like manure, irrigation, and crop rotation) on a small piece of land to get higher yields.</a:t>
            </a:r>
          </a:p>
          <a:p>
            <a:r>
              <a:rPr lang="en-US" sz="2400" dirty="0">
                <a:latin typeface="Calisto MT" panose="02040603050505030304" pitchFamily="18" charset="0"/>
              </a:rPr>
              <a:t> Sometimes, a small surplus is produced for selling.</a:t>
            </a:r>
          </a:p>
          <a:p>
            <a:r>
              <a:rPr lang="en-US" sz="2400" dirty="0">
                <a:latin typeface="Calisto MT" panose="02040603050505030304" pitchFamily="18" charset="0"/>
              </a:rPr>
              <a:t> Example: Paddy (rice) cultivation in India, China, and Southeast Asia.</a:t>
            </a:r>
            <a:endParaRPr lang="en-IN" sz="2400" dirty="0">
              <a:latin typeface="Calisto MT" panose="02040603050505030304" pitchFamily="18" charset="0"/>
            </a:endParaRPr>
          </a:p>
        </p:txBody>
      </p:sp>
      <p:sp>
        <p:nvSpPr>
          <p:cNvPr id="8" name="Title 1">
            <a:extLst>
              <a:ext uri="{FF2B5EF4-FFF2-40B4-BE49-F238E27FC236}">
                <a16:creationId xmlns:a16="http://schemas.microsoft.com/office/drawing/2014/main" id="{54DABA87-7143-3D52-C430-809C0DFDE703}"/>
              </a:ext>
            </a:extLst>
          </p:cNvPr>
          <p:cNvSpPr>
            <a:spLocks noGrp="1"/>
          </p:cNvSpPr>
          <p:nvPr>
            <p:ph type="body" idx="1"/>
          </p:nvPr>
        </p:nvSpPr>
        <p:spPr>
          <a:xfrm>
            <a:off x="228600" y="163286"/>
            <a:ext cx="5768975" cy="772885"/>
          </a:xfrm>
        </p:spPr>
        <p:txBody>
          <a:bodyPr>
            <a:normAutofit fontScale="25000" lnSpcReduction="20000"/>
          </a:bodyPr>
          <a:lstStyle/>
          <a:p>
            <a:pPr algn="ctr"/>
            <a:endParaRPr lang="en-IN" sz="2000" dirty="0">
              <a:latin typeface="Calisto MT" panose="02040603050505030304" pitchFamily="18" charset="0"/>
            </a:endParaRPr>
          </a:p>
          <a:p>
            <a:pPr algn="ctr"/>
            <a:endParaRPr lang="en-IN" sz="2000" dirty="0">
              <a:latin typeface="Calisto MT" panose="02040603050505030304" pitchFamily="18" charset="0"/>
            </a:endParaRPr>
          </a:p>
          <a:p>
            <a:pPr algn="ctr"/>
            <a:r>
              <a:rPr lang="en-IN" sz="9600" dirty="0">
                <a:solidFill>
                  <a:srgbClr val="C00000"/>
                </a:solidFill>
                <a:latin typeface="Calisto MT" panose="02040603050505030304" pitchFamily="18" charset="0"/>
              </a:rPr>
              <a:t>TRADITIONAL SUBSISTENCE AGRICULTURE [TSA]</a:t>
            </a:r>
          </a:p>
          <a:p>
            <a:endParaRPr lang="en-IN" dirty="0">
              <a:latin typeface="Calisto MT" panose="02040603050505030304" pitchFamily="18" charset="0"/>
            </a:endParaRPr>
          </a:p>
        </p:txBody>
      </p:sp>
    </p:spTree>
    <p:extLst>
      <p:ext uri="{BB962C8B-B14F-4D97-AF65-F5344CB8AC3E}">
        <p14:creationId xmlns:p14="http://schemas.microsoft.com/office/powerpoint/2010/main" val="1680500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E8DC2-E7C4-7090-4C4D-0FC6759BEBA9}"/>
              </a:ext>
            </a:extLst>
          </p:cNvPr>
          <p:cNvSpPr>
            <a:spLocks noGrp="1"/>
          </p:cNvSpPr>
          <p:nvPr>
            <p:ph type="title"/>
          </p:nvPr>
        </p:nvSpPr>
        <p:spPr>
          <a:xfrm>
            <a:off x="228601" y="217714"/>
            <a:ext cx="11713028" cy="762000"/>
          </a:xfrm>
        </p:spPr>
        <p:txBody>
          <a:bodyPr>
            <a:noAutofit/>
          </a:bodyPr>
          <a:lstStyle/>
          <a:p>
            <a:pPr algn="ctr"/>
            <a:r>
              <a:rPr lang="en-IN" sz="3600" dirty="0">
                <a:solidFill>
                  <a:srgbClr val="C00000"/>
                </a:solidFill>
                <a:latin typeface="Arial Black" panose="020B0A04020102020204" pitchFamily="34" charset="0"/>
              </a:rPr>
              <a:t>MODERN AND INDUSTRIALIZED FARMING</a:t>
            </a:r>
          </a:p>
        </p:txBody>
      </p:sp>
      <p:sp>
        <p:nvSpPr>
          <p:cNvPr id="3" name="Content Placeholder 2">
            <a:extLst>
              <a:ext uri="{FF2B5EF4-FFF2-40B4-BE49-F238E27FC236}">
                <a16:creationId xmlns:a16="http://schemas.microsoft.com/office/drawing/2014/main" id="{7B8895FC-B58C-6C69-CC1D-1D2F7C93B27F}"/>
              </a:ext>
            </a:extLst>
          </p:cNvPr>
          <p:cNvSpPr>
            <a:spLocks noGrp="1"/>
          </p:cNvSpPr>
          <p:nvPr>
            <p:ph idx="1"/>
          </p:nvPr>
        </p:nvSpPr>
        <p:spPr>
          <a:xfrm>
            <a:off x="239486" y="1055914"/>
            <a:ext cx="11713028" cy="5584372"/>
          </a:xfrm>
        </p:spPr>
        <p:txBody>
          <a:bodyPr>
            <a:noAutofit/>
          </a:bodyPr>
          <a:lstStyle/>
          <a:p>
            <a:pPr marL="0" indent="0">
              <a:buNone/>
            </a:pPr>
            <a:r>
              <a:rPr lang="en-US" sz="2400" dirty="0">
                <a:latin typeface="Calisto MT" panose="02040603050505030304" pitchFamily="18" charset="0"/>
              </a:rPr>
              <a:t>Modern and industrialized agriculture uses vast amounts of land and huge quantities of fuel, energy, water, chemical fertilizers, and pesticides to grow large amounts of a single crop just for selling. </a:t>
            </a:r>
          </a:p>
          <a:p>
            <a:pPr marL="0" indent="0">
              <a:buNone/>
            </a:pPr>
            <a:r>
              <a:rPr lang="en-US" sz="2400" dirty="0">
                <a:latin typeface="Calisto MT" panose="02040603050505030304" pitchFamily="18" charset="0"/>
              </a:rPr>
              <a:t>This farming method is common in India and is part of what's called the Green Revolution.</a:t>
            </a:r>
          </a:p>
          <a:p>
            <a:pPr marL="0" indent="0">
              <a:buNone/>
            </a:pPr>
            <a:r>
              <a:rPr lang="en-US" sz="2400" dirty="0">
                <a:latin typeface="Calisto MT" panose="02040603050505030304" pitchFamily="18" charset="0"/>
              </a:rPr>
              <a:t>However, this modern farming system has several harmful effects on the environment:</a:t>
            </a:r>
          </a:p>
          <a:p>
            <a:r>
              <a:rPr lang="en-US" sz="2400" dirty="0">
                <a:latin typeface="Calisto MT" panose="02040603050505030304" pitchFamily="18" charset="0"/>
              </a:rPr>
              <a:t>Chemical fertilizers are overused to make crops grow better. This can cause groundwater contamination with nitrate. Too much nitrate in drinking water is bad for people's health. Excess nitrate reacts with blood and can lead to "Blue Baby Syndrome," which is deadly for infants.</a:t>
            </a:r>
          </a:p>
          <a:p>
            <a:r>
              <a:rPr lang="en-US" sz="2400" dirty="0">
                <a:latin typeface="Calisto MT" panose="02040603050505030304" pitchFamily="18" charset="0"/>
              </a:rPr>
              <a:t>Excessive N P K fertilizers (nitrogen, phosphorus, and potassium) wash off farm fields into water, causing algal blooming and Eutrophication. Phosphates have been building up in soils and lake bottoms for decades, changing the environment. Higher levels of phosphates in water lead to Eutrophication, which is the excessive growth of unwanted plants.</a:t>
            </a:r>
          </a:p>
        </p:txBody>
      </p:sp>
    </p:spTree>
    <p:extLst>
      <p:ext uri="{BB962C8B-B14F-4D97-AF65-F5344CB8AC3E}">
        <p14:creationId xmlns:p14="http://schemas.microsoft.com/office/powerpoint/2010/main" val="4244458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23D1294-D3C4-7988-4745-2610815F9528}"/>
              </a:ext>
            </a:extLst>
          </p:cNvPr>
          <p:cNvSpPr>
            <a:spLocks noGrp="1"/>
          </p:cNvSpPr>
          <p:nvPr>
            <p:ph idx="1"/>
          </p:nvPr>
        </p:nvSpPr>
        <p:spPr>
          <a:xfrm>
            <a:off x="195263" y="130175"/>
            <a:ext cx="11757025" cy="6727825"/>
          </a:xfrm>
        </p:spPr>
        <p:txBody>
          <a:bodyPr>
            <a:normAutofit/>
          </a:bodyPr>
          <a:lstStyle/>
          <a:p>
            <a:r>
              <a:rPr lang="en-US" sz="2400" dirty="0">
                <a:latin typeface="Calisto MT" panose="02040603050505030304" pitchFamily="18" charset="0"/>
              </a:rPr>
              <a:t>The overuse of pesticides gets into the food chain, which makes them dangerous for human health.</a:t>
            </a:r>
          </a:p>
          <a:p>
            <a:r>
              <a:rPr lang="en-US" sz="2400" dirty="0">
                <a:latin typeface="Calisto MT" panose="02040603050505030304" pitchFamily="18" charset="0"/>
              </a:rPr>
              <a:t>Too much irrigation has caused a lot of fertile land to become salty (saline) in recent years.</a:t>
            </a:r>
          </a:p>
          <a:p>
            <a:r>
              <a:rPr lang="en-US" sz="2400" dirty="0">
                <a:latin typeface="Calisto MT" panose="02040603050505030304" pitchFamily="18" charset="0"/>
              </a:rPr>
              <a:t> Fuel energy is used more when farmers replace human and animal labor with farming machinery. Burning fuel causes air pollution.</a:t>
            </a:r>
          </a:p>
          <a:p>
            <a:r>
              <a:rPr lang="en-US" sz="2400" dirty="0">
                <a:latin typeface="Calisto MT" panose="02040603050505030304" pitchFamily="18" charset="0"/>
              </a:rPr>
              <a:t> Constantly adding more fertilizers, water, and pesticides eventually stops increasing the crop yield. In fact, it starts to reduce the farm's overall productivity.</a:t>
            </a:r>
          </a:p>
          <a:p>
            <a:r>
              <a:rPr lang="en-US" sz="2400" dirty="0">
                <a:latin typeface="Calisto MT" panose="02040603050505030304" pitchFamily="18" charset="0"/>
              </a:rPr>
              <a:t>Because more water is being used for farming (irrigation), the underground water sources (aquifers) are slowly but surely drying up. We are taking out this water much faster than it can naturally refill itself.</a:t>
            </a:r>
          </a:p>
          <a:p>
            <a:r>
              <a:rPr lang="en-US" sz="2400" dirty="0">
                <a:latin typeface="Calisto MT" panose="02040603050505030304" pitchFamily="18" charset="0"/>
              </a:rPr>
              <a:t> Putting too many chemical fertilizers on the soil increases its saltiness. Waste and dirty water (sewage) from homes and factories also add salt, making the soil more saline.</a:t>
            </a:r>
          </a:p>
          <a:p>
            <a:r>
              <a:rPr lang="en-US" sz="2400" dirty="0">
                <a:latin typeface="Calisto MT" panose="02040603050505030304" pitchFamily="18" charset="0"/>
              </a:rPr>
              <a:t> When water sits still in the upper layers of the soil (waterlogging), it causes problems for plants. This standing water reduces the amount of oxygen available for the plant roots to breathe.</a:t>
            </a:r>
            <a:endParaRPr lang="en-IN" sz="2400" dirty="0">
              <a:latin typeface="Calisto MT" panose="02040603050505030304" pitchFamily="18" charset="0"/>
            </a:endParaRPr>
          </a:p>
        </p:txBody>
      </p:sp>
    </p:spTree>
    <p:extLst>
      <p:ext uri="{BB962C8B-B14F-4D97-AF65-F5344CB8AC3E}">
        <p14:creationId xmlns:p14="http://schemas.microsoft.com/office/powerpoint/2010/main" val="39766592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FA161-5E3D-DEBD-568F-EAE071287E32}"/>
              </a:ext>
            </a:extLst>
          </p:cNvPr>
          <p:cNvSpPr>
            <a:spLocks noGrp="1"/>
          </p:cNvSpPr>
          <p:nvPr>
            <p:ph type="title"/>
          </p:nvPr>
        </p:nvSpPr>
        <p:spPr>
          <a:xfrm>
            <a:off x="250371" y="141514"/>
            <a:ext cx="11658599" cy="870858"/>
          </a:xfrm>
        </p:spPr>
        <p:txBody>
          <a:bodyPr>
            <a:normAutofit/>
          </a:bodyPr>
          <a:lstStyle/>
          <a:p>
            <a:pPr algn="ctr"/>
            <a:r>
              <a:rPr lang="en-IN" sz="3600" dirty="0">
                <a:solidFill>
                  <a:srgbClr val="C00000"/>
                </a:solidFill>
                <a:latin typeface="Arial Black" panose="020B0A04020102020204" pitchFamily="34" charset="0"/>
              </a:rPr>
              <a:t>PROBLEMS WITH MODERN FARMING</a:t>
            </a:r>
          </a:p>
        </p:txBody>
      </p:sp>
      <p:sp>
        <p:nvSpPr>
          <p:cNvPr id="3" name="Content Placeholder 2">
            <a:extLst>
              <a:ext uri="{FF2B5EF4-FFF2-40B4-BE49-F238E27FC236}">
                <a16:creationId xmlns:a16="http://schemas.microsoft.com/office/drawing/2014/main" id="{EDC5EACA-0CB5-C936-4567-4218F9324114}"/>
              </a:ext>
            </a:extLst>
          </p:cNvPr>
          <p:cNvSpPr>
            <a:spLocks noGrp="1"/>
          </p:cNvSpPr>
          <p:nvPr>
            <p:ph idx="1"/>
          </p:nvPr>
        </p:nvSpPr>
        <p:spPr>
          <a:xfrm>
            <a:off x="250371" y="903514"/>
            <a:ext cx="11658599" cy="5812971"/>
          </a:xfrm>
        </p:spPr>
        <p:txBody>
          <a:bodyPr>
            <a:normAutofit fontScale="92500" lnSpcReduction="10000"/>
          </a:bodyPr>
          <a:lstStyle/>
          <a:p>
            <a:pPr marL="0" indent="0">
              <a:buNone/>
            </a:pPr>
            <a:r>
              <a:rPr lang="en-US" sz="2400" dirty="0">
                <a:latin typeface="Calisto MT" panose="02040603050505030304" pitchFamily="18" charset="0"/>
              </a:rPr>
              <a:t>Modern intensive farming methods, which rely heavily on chemicals, lead to several serious issues:</a:t>
            </a:r>
          </a:p>
          <a:p>
            <a:r>
              <a:rPr lang="en-US" sz="2400" dirty="0">
                <a:latin typeface="Calisto MT" panose="02040603050505030304" pitchFamily="18" charset="0"/>
              </a:rPr>
              <a:t>Water Pollution: Chemical fertilizers and weed killers wash easily out of the soil and end up polluting our rivers, lakes, and water sources.</a:t>
            </a:r>
          </a:p>
          <a:p>
            <a:r>
              <a:rPr lang="en-US" sz="2400" dirty="0">
                <a:latin typeface="Calisto MT" panose="02040603050505030304" pitchFamily="18" charset="0"/>
              </a:rPr>
              <a:t>Poor Soil: Using chemical fertilizers for a long time makes the soil have very little organic matter (the natural, healthy stuff). This makes the soil weak and easily washed away by wind and rain.</a:t>
            </a:r>
          </a:p>
          <a:p>
            <a:r>
              <a:rPr lang="en-US" sz="2400" dirty="0">
                <a:latin typeface="Calisto MT" panose="02040603050505030304" pitchFamily="18" charset="0"/>
              </a:rPr>
              <a:t>Chemical Addiction: Farmers become more and more dependent on fertilizers. They need to use larger amounts each year just to grow the same number of crops.</a:t>
            </a:r>
          </a:p>
          <a:p>
            <a:r>
              <a:rPr lang="en-US" sz="2400" dirty="0">
                <a:latin typeface="Calisto MT" panose="02040603050505030304" pitchFamily="18" charset="0"/>
              </a:rPr>
              <a:t>Health Risks: Chemical bug-killers (pesticides) don't break down quickly. They stay in the soil and eventually get into the food we eat, building up in the bodies of animals and people, which can cause health problems.</a:t>
            </a:r>
          </a:p>
          <a:p>
            <a:r>
              <a:rPr lang="en-US" sz="2400" dirty="0">
                <a:latin typeface="Calisto MT" panose="02040603050505030304" pitchFamily="18" charset="0"/>
              </a:rPr>
              <a:t>Destroyed Soil Life: These artificial chemicals kill the tiny living things (micro-organisms) in the soil. This makes the soil structure poor and reduces its ability to hold air and provide nutrients to the plants.</a:t>
            </a:r>
          </a:p>
          <a:p>
            <a:r>
              <a:rPr lang="en-US" sz="2400" dirty="0">
                <a:latin typeface="Calisto MT" panose="02040603050505030304" pitchFamily="18" charset="0"/>
              </a:rPr>
              <a:t>Tougher Pests: Bugs and diseases (pests) become resistant to the artificial pesticides, making them harder to control. Also, the pesticides and loss of natural areas kill the natural enemies of the pests (like beneficial insects), which would normally help keep the pest population in check.</a:t>
            </a:r>
            <a:endParaRPr lang="en-IN" sz="2400" dirty="0">
              <a:latin typeface="Calisto MT" panose="02040603050505030304" pitchFamily="18" charset="0"/>
            </a:endParaRPr>
          </a:p>
        </p:txBody>
      </p:sp>
    </p:spTree>
    <p:extLst>
      <p:ext uri="{BB962C8B-B14F-4D97-AF65-F5344CB8AC3E}">
        <p14:creationId xmlns:p14="http://schemas.microsoft.com/office/powerpoint/2010/main" val="41559789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2B3D5-B330-0F02-1756-6F10D3E5E55E}"/>
              </a:ext>
            </a:extLst>
          </p:cNvPr>
          <p:cNvSpPr>
            <a:spLocks noGrp="1"/>
          </p:cNvSpPr>
          <p:nvPr>
            <p:ph type="title"/>
          </p:nvPr>
        </p:nvSpPr>
        <p:spPr>
          <a:xfrm>
            <a:off x="293915" y="130629"/>
            <a:ext cx="11560628" cy="1001485"/>
          </a:xfrm>
        </p:spPr>
        <p:txBody>
          <a:bodyPr>
            <a:normAutofit/>
          </a:bodyPr>
          <a:lstStyle/>
          <a:p>
            <a:pPr algn="ctr"/>
            <a:r>
              <a:rPr lang="en-IN" sz="4000" dirty="0">
                <a:solidFill>
                  <a:srgbClr val="C00000"/>
                </a:solidFill>
                <a:latin typeface="Arial Black" panose="020B0A04020102020204" pitchFamily="34" charset="0"/>
              </a:rPr>
              <a:t>WATER LOGGING</a:t>
            </a:r>
          </a:p>
        </p:txBody>
      </p:sp>
      <p:sp>
        <p:nvSpPr>
          <p:cNvPr id="3" name="Content Placeholder 2">
            <a:extLst>
              <a:ext uri="{FF2B5EF4-FFF2-40B4-BE49-F238E27FC236}">
                <a16:creationId xmlns:a16="http://schemas.microsoft.com/office/drawing/2014/main" id="{77DC167A-ED23-726F-8464-5BEFF85355A7}"/>
              </a:ext>
            </a:extLst>
          </p:cNvPr>
          <p:cNvSpPr>
            <a:spLocks noGrp="1"/>
          </p:cNvSpPr>
          <p:nvPr>
            <p:ph idx="1"/>
          </p:nvPr>
        </p:nvSpPr>
        <p:spPr>
          <a:xfrm>
            <a:off x="293915" y="1306286"/>
            <a:ext cx="11560627" cy="5421085"/>
          </a:xfrm>
        </p:spPr>
        <p:txBody>
          <a:bodyPr>
            <a:normAutofit/>
          </a:bodyPr>
          <a:lstStyle/>
          <a:p>
            <a:r>
              <a:rPr lang="en-US" sz="2400" dirty="0">
                <a:latin typeface="Calisto MT" panose="02040603050505030304" pitchFamily="18" charset="0"/>
              </a:rPr>
              <a:t>Water logging is when the soil gets completely soaked with water. You can consider soil to be waterlogged if the water table (the level of groundwater) is too high for a planned activity, such as farming, to be successful. </a:t>
            </a:r>
          </a:p>
          <a:p>
            <a:r>
              <a:rPr lang="en-US" sz="2400" b="1" dirty="0">
                <a:latin typeface="Calisto MT" panose="02040603050505030304" pitchFamily="18" charset="0"/>
              </a:rPr>
              <a:t>Impact on Farming:</a:t>
            </a:r>
          </a:p>
          <a:p>
            <a:pPr marL="0" indent="0">
              <a:buNone/>
            </a:pPr>
            <a:r>
              <a:rPr lang="en-US" sz="2400" dirty="0">
                <a:latin typeface="Calisto MT" panose="02040603050505030304" pitchFamily="18" charset="0"/>
              </a:rPr>
              <a:t> Crops need air in the soil. Water logging stops air from getting into the soil. The exact  level at which the water table must be to classify the ground as waterlogged changes depending on what you're trying to do. The amount of water a crop needs to be free from water logging can vary throughout the year and depends on the specific crop like growing rice.</a:t>
            </a:r>
          </a:p>
          <a:p>
            <a:r>
              <a:rPr lang="en-US" sz="2400" dirty="0">
                <a:latin typeface="Calisto MT" panose="02040603050505030304" pitchFamily="18" charset="0"/>
              </a:rPr>
              <a:t>In irrigated farmland, water logging often occurs alongside soil salinity because the waterlogged soil prevents the washing out (leaching) of salts brought in by the irrigation water.</a:t>
            </a:r>
            <a:endParaRPr lang="en-IN" sz="2400" dirty="0">
              <a:latin typeface="Calisto MT" panose="02040603050505030304" pitchFamily="18" charset="0"/>
            </a:endParaRPr>
          </a:p>
        </p:txBody>
      </p:sp>
    </p:spTree>
    <p:extLst>
      <p:ext uri="{BB962C8B-B14F-4D97-AF65-F5344CB8AC3E}">
        <p14:creationId xmlns:p14="http://schemas.microsoft.com/office/powerpoint/2010/main" val="36701848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48BB-FA0E-C478-33E5-5669E7C69F4B}"/>
              </a:ext>
            </a:extLst>
          </p:cNvPr>
          <p:cNvSpPr>
            <a:spLocks noGrp="1"/>
          </p:cNvSpPr>
          <p:nvPr>
            <p:ph type="title"/>
          </p:nvPr>
        </p:nvSpPr>
        <p:spPr>
          <a:xfrm>
            <a:off x="838200" y="76200"/>
            <a:ext cx="10515600" cy="696686"/>
          </a:xfrm>
        </p:spPr>
        <p:txBody>
          <a:bodyPr/>
          <a:lstStyle/>
          <a:p>
            <a:pPr algn="ctr"/>
            <a:r>
              <a:rPr lang="en-US" dirty="0">
                <a:solidFill>
                  <a:srgbClr val="C00000"/>
                </a:solidFill>
                <a:latin typeface="Arial Black" panose="020B0A04020102020204" pitchFamily="34" charset="0"/>
              </a:rPr>
              <a:t>SALINITY</a:t>
            </a:r>
            <a:endParaRPr lang="en-IN" dirty="0">
              <a:solidFill>
                <a:srgbClr val="C0000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F6C12A64-1634-2995-6C1B-F36BBCF12914}"/>
              </a:ext>
            </a:extLst>
          </p:cNvPr>
          <p:cNvSpPr>
            <a:spLocks noGrp="1"/>
          </p:cNvSpPr>
          <p:nvPr>
            <p:ph idx="1"/>
          </p:nvPr>
        </p:nvSpPr>
        <p:spPr>
          <a:xfrm>
            <a:off x="838200" y="772886"/>
            <a:ext cx="10515600" cy="5812971"/>
          </a:xfrm>
        </p:spPr>
        <p:txBody>
          <a:bodyPr>
            <a:normAutofit/>
          </a:bodyPr>
          <a:lstStyle/>
          <a:p>
            <a:r>
              <a:rPr lang="en-US" sz="2400" dirty="0">
                <a:latin typeface="Calisto MT" panose="02040603050505030304" pitchFamily="18" charset="0"/>
              </a:rPr>
              <a:t>Soil salinity is the amount of salt in the soil.</a:t>
            </a:r>
          </a:p>
          <a:p>
            <a:r>
              <a:rPr lang="en-US" sz="2400" dirty="0">
                <a:latin typeface="Calisto MT" panose="02040603050505030304" pitchFamily="18" charset="0"/>
              </a:rPr>
              <a:t>The process of increasing the salt content is called salinization.</a:t>
            </a:r>
          </a:p>
          <a:p>
            <a:r>
              <a:rPr lang="en-US" sz="2400" dirty="0">
                <a:latin typeface="Calisto MT" panose="02040603050505030304" pitchFamily="18" charset="0"/>
              </a:rPr>
              <a:t>Salt is naturally found in soils and water.</a:t>
            </a:r>
          </a:p>
          <a:p>
            <a:r>
              <a:rPr lang="en-US" sz="2400" dirty="0">
                <a:latin typeface="Calisto MT" panose="02040603050505030304" pitchFamily="18" charset="0"/>
              </a:rPr>
              <a:t>Salinization can happen naturally due to things like the breaking down of minerals or the slow retreat of an ocean.</a:t>
            </a:r>
          </a:p>
          <a:p>
            <a:r>
              <a:rPr lang="en-US" sz="2400" dirty="0">
                <a:latin typeface="Calisto MT" panose="02040603050505030304" pitchFamily="18" charset="0"/>
              </a:rPr>
              <a:t>It can also be caused by human activities like irrigation</a:t>
            </a:r>
            <a:r>
              <a:rPr lang="en-US" sz="2400" dirty="0"/>
              <a:t>.</a:t>
            </a:r>
          </a:p>
          <a:p>
            <a:pPr marL="0" indent="0">
              <a:buNone/>
            </a:pPr>
            <a:r>
              <a:rPr lang="en-US" sz="2400" b="1" dirty="0">
                <a:latin typeface="Calisto MT" panose="02040603050505030304" pitchFamily="18" charset="0"/>
              </a:rPr>
              <a:t>Salinization is a process that results from: </a:t>
            </a:r>
          </a:p>
          <a:p>
            <a:r>
              <a:rPr lang="en-US" sz="2400" dirty="0">
                <a:latin typeface="Calisto MT" panose="02040603050505030304" pitchFamily="18" charset="0"/>
              </a:rPr>
              <a:t>High levels of salt in the water.</a:t>
            </a:r>
          </a:p>
          <a:p>
            <a:r>
              <a:rPr lang="en-US" sz="2400" dirty="0">
                <a:latin typeface="Calisto MT" panose="02040603050505030304" pitchFamily="18" charset="0"/>
              </a:rPr>
              <a:t>Landscape features that allow salts to become mobile (movement of water table).</a:t>
            </a:r>
          </a:p>
          <a:p>
            <a:r>
              <a:rPr lang="en-US" sz="2400" dirty="0">
                <a:latin typeface="Calisto MT" panose="02040603050505030304" pitchFamily="18" charset="0"/>
              </a:rPr>
              <a:t>Climatic trends that favors accumulation.</a:t>
            </a:r>
          </a:p>
          <a:p>
            <a:r>
              <a:rPr lang="en-US" sz="2400" dirty="0">
                <a:latin typeface="Calisto MT" panose="02040603050505030304" pitchFamily="18" charset="0"/>
              </a:rPr>
              <a:t>Human activities such as land clearing, aquaculture activities and the salting of icy roads.</a:t>
            </a:r>
            <a:endParaRPr lang="en-IN" sz="2400" dirty="0">
              <a:latin typeface="Calisto MT" panose="02040603050505030304" pitchFamily="18" charset="0"/>
            </a:endParaRPr>
          </a:p>
        </p:txBody>
      </p:sp>
    </p:spTree>
    <p:extLst>
      <p:ext uri="{BB962C8B-B14F-4D97-AF65-F5344CB8AC3E}">
        <p14:creationId xmlns:p14="http://schemas.microsoft.com/office/powerpoint/2010/main" val="3501039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12DA5-394C-CD1D-E406-AB125063DA59}"/>
              </a:ext>
            </a:extLst>
          </p:cNvPr>
          <p:cNvSpPr>
            <a:spLocks noGrp="1"/>
          </p:cNvSpPr>
          <p:nvPr>
            <p:ph type="title"/>
          </p:nvPr>
        </p:nvSpPr>
        <p:spPr>
          <a:xfrm>
            <a:off x="838200" y="365126"/>
            <a:ext cx="10515600" cy="315911"/>
          </a:xfrm>
        </p:spPr>
        <p:txBody>
          <a:bodyPr>
            <a:noAutofit/>
          </a:bodyPr>
          <a:lstStyle/>
          <a:p>
            <a:pPr algn="ctr"/>
            <a:r>
              <a:rPr lang="en-IN" sz="3600" dirty="0">
                <a:solidFill>
                  <a:srgbClr val="C00000"/>
                </a:solidFill>
                <a:latin typeface="Arial Black" panose="020B0A04020102020204" pitchFamily="34" charset="0"/>
              </a:rPr>
              <a:t>CHANGES CAUSED BY OVERGAZING</a:t>
            </a:r>
          </a:p>
        </p:txBody>
      </p:sp>
      <p:sp>
        <p:nvSpPr>
          <p:cNvPr id="3" name="Content Placeholder 2">
            <a:extLst>
              <a:ext uri="{FF2B5EF4-FFF2-40B4-BE49-F238E27FC236}">
                <a16:creationId xmlns:a16="http://schemas.microsoft.com/office/drawing/2014/main" id="{36AD7577-1143-9A01-755E-90982353FA5B}"/>
              </a:ext>
            </a:extLst>
          </p:cNvPr>
          <p:cNvSpPr>
            <a:spLocks noGrp="1"/>
          </p:cNvSpPr>
          <p:nvPr>
            <p:ph idx="1"/>
          </p:nvPr>
        </p:nvSpPr>
        <p:spPr>
          <a:xfrm>
            <a:off x="141513" y="827314"/>
            <a:ext cx="11930743" cy="5910943"/>
          </a:xfrm>
        </p:spPr>
        <p:txBody>
          <a:bodyPr>
            <a:normAutofit fontScale="92500" lnSpcReduction="10000"/>
          </a:bodyPr>
          <a:lstStyle/>
          <a:p>
            <a:r>
              <a:rPr lang="en-US" sz="2400" dirty="0">
                <a:latin typeface="Calisto MT" panose="02040603050505030304" pitchFamily="18" charset="0"/>
              </a:rPr>
              <a:t>Overgrazing is when too many animals eat plants in one area for too long, or don't give the plants enough time to grow back. </a:t>
            </a:r>
          </a:p>
          <a:p>
            <a:r>
              <a:rPr lang="en-US" sz="2400" dirty="0">
                <a:latin typeface="Calisto MT" panose="02040603050505030304" pitchFamily="18" charset="0"/>
              </a:rPr>
              <a:t>This happens because people manage farm animals poorly or because there are too many wild animals.</a:t>
            </a:r>
          </a:p>
          <a:p>
            <a:pPr marL="0" indent="0">
              <a:buNone/>
            </a:pPr>
            <a:r>
              <a:rPr lang="en-US" sz="2400" b="1" dirty="0">
                <a:latin typeface="Calisto MT" panose="02040603050505030304" pitchFamily="18" charset="0"/>
              </a:rPr>
              <a:t>What Happens Due to Overgrazing?</a:t>
            </a:r>
          </a:p>
          <a:p>
            <a:pPr marL="0" indent="0">
              <a:buNone/>
            </a:pPr>
            <a:r>
              <a:rPr lang="en-US" sz="2400" dirty="0">
                <a:latin typeface="Calisto MT" panose="02040603050505030304" pitchFamily="18" charset="0"/>
              </a:rPr>
              <a:t>Less Useful Land: The ground becomes less helpful for farming or supporting life.</a:t>
            </a:r>
          </a:p>
          <a:p>
            <a:pPr marL="0" indent="0">
              <a:buNone/>
            </a:pPr>
            <a:r>
              <a:rPr lang="en-US" sz="2400" dirty="0">
                <a:latin typeface="Calisto MT" panose="02040603050505030304" pitchFamily="18" charset="0"/>
              </a:rPr>
              <a:t>Lower Production: The land grows fewer plants.</a:t>
            </a:r>
          </a:p>
          <a:p>
            <a:pPr>
              <a:buFont typeface="Wingdings" panose="05000000000000000000" pitchFamily="2" charset="2"/>
              <a:buChar char="§"/>
            </a:pPr>
            <a:r>
              <a:rPr lang="en-US" sz="2400" dirty="0">
                <a:latin typeface="Calisto MT" panose="02040603050505030304" pitchFamily="18" charset="0"/>
              </a:rPr>
              <a:t>Loss of Variety: There are fewer types of plants and animals (biodiversity).</a:t>
            </a:r>
          </a:p>
          <a:p>
            <a:pPr>
              <a:buFont typeface="Wingdings" panose="05000000000000000000" pitchFamily="2" charset="2"/>
              <a:buChar char="§"/>
            </a:pPr>
            <a:r>
              <a:rPr lang="en-US" sz="2400" dirty="0">
                <a:latin typeface="Calisto MT" panose="02040603050505030304" pitchFamily="18" charset="0"/>
              </a:rPr>
              <a:t>Desertification and Erosion: It helps turn fertile land into desert and causes the soil to wash away (erosion).</a:t>
            </a:r>
          </a:p>
          <a:p>
            <a:pPr>
              <a:buFont typeface="Wingdings" panose="05000000000000000000" pitchFamily="2" charset="2"/>
              <a:buChar char="§"/>
            </a:pPr>
            <a:r>
              <a:rPr lang="en-US" sz="2400" dirty="0">
                <a:latin typeface="Calisto MT" panose="02040603050505030304" pitchFamily="18" charset="0"/>
              </a:rPr>
              <a:t>Weed Growth: It makes it easier for unwanted, aggressive plants (invasive species) to spread.</a:t>
            </a:r>
          </a:p>
          <a:p>
            <a:pPr>
              <a:buFont typeface="Wingdings" panose="05000000000000000000" pitchFamily="2" charset="2"/>
              <a:buChar char="§"/>
            </a:pPr>
            <a:r>
              <a:rPr lang="en-US" sz="2400" dirty="0">
                <a:latin typeface="Calisto MT" panose="02040603050505030304" pitchFamily="18" charset="0"/>
              </a:rPr>
              <a:t>Poor Soil: Soil washes away (erosion increases).The soil gets thinner (less depth).The soil loses its natural goodness (organic matter and fertility), making it hard to grow crops and harder for the soil to hold water.</a:t>
            </a:r>
          </a:p>
          <a:p>
            <a:pPr marL="0" indent="0">
              <a:buNone/>
            </a:pPr>
            <a:r>
              <a:rPr lang="en-US" sz="2400" dirty="0">
                <a:latin typeface="Calisto MT" panose="02040603050505030304" pitchFamily="18" charset="0"/>
              </a:rPr>
              <a:t>The Long-Term Problem: We can add things like lime and fertilizers to help the soil get some of its richness (fertility) back, but it takes hundreds of years to fix the loss of soil depth and organic matter. This is a very long-lasting problem for the land.</a:t>
            </a:r>
            <a:endParaRPr lang="en-IN" sz="2400" dirty="0">
              <a:latin typeface="Calisto MT" panose="02040603050505030304" pitchFamily="18" charset="0"/>
            </a:endParaRPr>
          </a:p>
        </p:txBody>
      </p:sp>
    </p:spTree>
    <p:extLst>
      <p:ext uri="{BB962C8B-B14F-4D97-AF65-F5344CB8AC3E}">
        <p14:creationId xmlns:p14="http://schemas.microsoft.com/office/powerpoint/2010/main" val="994818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2888-75CE-AD42-8D0F-2107696A9F0C}"/>
              </a:ext>
            </a:extLst>
          </p:cNvPr>
          <p:cNvSpPr>
            <a:spLocks noGrp="1"/>
          </p:cNvSpPr>
          <p:nvPr>
            <p:ph type="ctrTitle"/>
          </p:nvPr>
        </p:nvSpPr>
        <p:spPr/>
        <p:txBody>
          <a:bodyPr>
            <a:normAutofit/>
          </a:bodyPr>
          <a:lstStyle/>
          <a:p>
            <a:r>
              <a:rPr lang="en-IN" sz="6600" dirty="0">
                <a:latin typeface="Arial Black" panose="020B0A04020102020204" pitchFamily="34" charset="0"/>
              </a:rPr>
              <a:t>ENERGY RESOURCES </a:t>
            </a:r>
          </a:p>
        </p:txBody>
      </p:sp>
      <p:sp>
        <p:nvSpPr>
          <p:cNvPr id="3" name="Subtitle 2">
            <a:extLst>
              <a:ext uri="{FF2B5EF4-FFF2-40B4-BE49-F238E27FC236}">
                <a16:creationId xmlns:a16="http://schemas.microsoft.com/office/drawing/2014/main" id="{92FA45AC-6E25-068E-2152-8F2CCFB053CC}"/>
              </a:ext>
            </a:extLst>
          </p:cNvPr>
          <p:cNvSpPr>
            <a:spLocks noGrp="1"/>
          </p:cNvSpPr>
          <p:nvPr>
            <p:ph type="subTitle" idx="1"/>
          </p:nvPr>
        </p:nvSpPr>
        <p:spPr/>
        <p:txBody>
          <a:bodyPr>
            <a:normAutofit/>
          </a:bodyPr>
          <a:lstStyle/>
          <a:p>
            <a:endParaRPr lang="en-IN" sz="4000" dirty="0">
              <a:latin typeface="Calisto MT" panose="02040603050505030304" pitchFamily="18" charset="0"/>
            </a:endParaRPr>
          </a:p>
          <a:p>
            <a:r>
              <a:rPr lang="en-IN" sz="4000" dirty="0">
                <a:latin typeface="Calisto MT" panose="02040603050505030304" pitchFamily="18" charset="0"/>
              </a:rPr>
              <a:t>By Supriya</a:t>
            </a:r>
          </a:p>
        </p:txBody>
      </p:sp>
    </p:spTree>
    <p:extLst>
      <p:ext uri="{BB962C8B-B14F-4D97-AF65-F5344CB8AC3E}">
        <p14:creationId xmlns:p14="http://schemas.microsoft.com/office/powerpoint/2010/main" val="12627995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014851-0D7A-694D-20BB-DFE189F6E6F1}"/>
              </a:ext>
            </a:extLst>
          </p:cNvPr>
          <p:cNvSpPr>
            <a:spLocks noGrp="1"/>
          </p:cNvSpPr>
          <p:nvPr>
            <p:ph idx="1"/>
          </p:nvPr>
        </p:nvSpPr>
        <p:spPr>
          <a:xfrm>
            <a:off x="838200" y="741405"/>
            <a:ext cx="10515600" cy="5435558"/>
          </a:xfrm>
        </p:spPr>
        <p:txBody>
          <a:bodyPr>
            <a:normAutofit/>
          </a:bodyPr>
          <a:lstStyle/>
          <a:p>
            <a:r>
              <a:rPr lang="en-US" sz="2400" dirty="0">
                <a:latin typeface="Calisto MT" panose="02040603050505030304" pitchFamily="18" charset="0"/>
              </a:rPr>
              <a:t>Energy means the ability to do work. It is available on Earth in many forms. Some forms of energy can be directly used, while others need to be changed into a useful form. </a:t>
            </a:r>
          </a:p>
          <a:p>
            <a:r>
              <a:rPr lang="en-US" sz="2400" dirty="0">
                <a:latin typeface="Calisto MT" panose="02040603050505030304" pitchFamily="18" charset="0"/>
              </a:rPr>
              <a:t>Energy cannot be created or destroyed, but it can be changed from one form to another.</a:t>
            </a:r>
          </a:p>
          <a:p>
            <a:r>
              <a:rPr lang="en-US" sz="2400" dirty="0">
                <a:latin typeface="Calisto MT" panose="02040603050505030304" pitchFamily="18" charset="0"/>
              </a:rPr>
              <a:t>When a force makes an object move, energy is transferred. Energy exists in different forms such as mechanical, thermal (heat), chemical, and biological.</a:t>
            </a:r>
          </a:p>
          <a:p>
            <a:r>
              <a:rPr lang="en-US" sz="2400" dirty="0">
                <a:latin typeface="Calisto MT" panose="02040603050505030304" pitchFamily="18" charset="0"/>
              </a:rPr>
              <a:t>Energy is very important for the development of a country. It is needed for industries, transport, and daily life.</a:t>
            </a:r>
          </a:p>
          <a:p>
            <a:r>
              <a:rPr lang="en-US" sz="2400" dirty="0">
                <a:latin typeface="Calisto MT" panose="02040603050505030304" pitchFamily="18" charset="0"/>
              </a:rPr>
              <a:t> However, producing and using energy can also cause pollution and harm the environment.</a:t>
            </a:r>
          </a:p>
          <a:p>
            <a:r>
              <a:rPr lang="en-US" sz="2400" dirty="0">
                <a:latin typeface="Calisto MT" panose="02040603050505030304" pitchFamily="18" charset="0"/>
              </a:rPr>
              <a:t> The way energy is produced affects economic growth, environmental balance, and the quality of life of people.</a:t>
            </a:r>
            <a:endParaRPr lang="en-IN" sz="2400" dirty="0">
              <a:latin typeface="Calisto MT" panose="02040603050505030304" pitchFamily="18" charset="0"/>
            </a:endParaRPr>
          </a:p>
        </p:txBody>
      </p:sp>
    </p:spTree>
    <p:extLst>
      <p:ext uri="{BB962C8B-B14F-4D97-AF65-F5344CB8AC3E}">
        <p14:creationId xmlns:p14="http://schemas.microsoft.com/office/powerpoint/2010/main" val="797837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2158-24DE-0684-43C7-A50E9138B56E}"/>
              </a:ext>
            </a:extLst>
          </p:cNvPr>
          <p:cNvSpPr>
            <a:spLocks noGrp="1"/>
          </p:cNvSpPr>
          <p:nvPr>
            <p:ph type="title"/>
          </p:nvPr>
        </p:nvSpPr>
        <p:spPr>
          <a:xfrm>
            <a:off x="838200" y="365126"/>
            <a:ext cx="10515600" cy="833480"/>
          </a:xfrm>
        </p:spPr>
        <p:txBody>
          <a:bodyPr/>
          <a:lstStyle/>
          <a:p>
            <a:pPr algn="ctr"/>
            <a:r>
              <a:rPr lang="en-IN" dirty="0">
                <a:solidFill>
                  <a:srgbClr val="C00000"/>
                </a:solidFill>
                <a:latin typeface="Arial Black" panose="020B0A04020102020204" pitchFamily="34" charset="0"/>
              </a:rPr>
              <a:t>GROWING ENERGY NEEDS</a:t>
            </a:r>
          </a:p>
        </p:txBody>
      </p:sp>
      <p:sp>
        <p:nvSpPr>
          <p:cNvPr id="3" name="Content Placeholder 2">
            <a:extLst>
              <a:ext uri="{FF2B5EF4-FFF2-40B4-BE49-F238E27FC236}">
                <a16:creationId xmlns:a16="http://schemas.microsoft.com/office/drawing/2014/main" id="{4213F9B6-E1E0-7E1F-5164-AA97C5CA4A78}"/>
              </a:ext>
            </a:extLst>
          </p:cNvPr>
          <p:cNvSpPr>
            <a:spLocks noGrp="1"/>
          </p:cNvSpPr>
          <p:nvPr>
            <p:ph idx="1"/>
          </p:nvPr>
        </p:nvSpPr>
        <p:spPr>
          <a:xfrm>
            <a:off x="838200" y="1198606"/>
            <a:ext cx="10515600" cy="5189837"/>
          </a:xfrm>
        </p:spPr>
        <p:txBody>
          <a:bodyPr>
            <a:normAutofit/>
          </a:bodyPr>
          <a:lstStyle/>
          <a:p>
            <a:r>
              <a:rPr lang="en-US" sz="2400" dirty="0">
                <a:latin typeface="Calisto MT" panose="02040603050505030304" pitchFamily="18" charset="0"/>
              </a:rPr>
              <a:t>Energy is very important for the economic growth of a country. </a:t>
            </a:r>
          </a:p>
          <a:p>
            <a:r>
              <a:rPr lang="en-US" sz="2400" dirty="0">
                <a:latin typeface="Calisto MT" panose="02040603050505030304" pitchFamily="18" charset="0"/>
              </a:rPr>
              <a:t>The progress and development of a nation depend on how well it can produce and use energy.</a:t>
            </a:r>
          </a:p>
          <a:p>
            <a:r>
              <a:rPr lang="en-US" sz="2400" dirty="0">
                <a:latin typeface="Calisto MT" panose="02040603050505030304" pitchFamily="18" charset="0"/>
              </a:rPr>
              <a:t>Energy is needed for agriculture, transport, business, and household work. Electricity is used in many ways in modern life, and the amount of energy used by each person shows how developed a country is.</a:t>
            </a:r>
          </a:p>
          <a:p>
            <a:r>
              <a:rPr lang="en-US" sz="2400" dirty="0">
                <a:latin typeface="Calisto MT" panose="02040603050505030304" pitchFamily="18" charset="0"/>
              </a:rPr>
              <a:t>Energy means the ability to do useful work. It is necessary for all kinds of activities like producing light, heat, and movement. </a:t>
            </a:r>
          </a:p>
          <a:p>
            <a:r>
              <a:rPr lang="en-US" sz="2400" dirty="0">
                <a:latin typeface="Calisto MT" panose="02040603050505030304" pitchFamily="18" charset="0"/>
              </a:rPr>
              <a:t>Energy can be in the form of electric, thermal (heat), light, mechanical, or chemical energy.</a:t>
            </a:r>
          </a:p>
          <a:p>
            <a:r>
              <a:rPr lang="en-US" sz="2400" dirty="0">
                <a:latin typeface="Calisto MT" panose="02040603050505030304" pitchFamily="18" charset="0"/>
              </a:rPr>
              <a:t>Energy is measured in joules (SI unit). The average energy use per person in developed countries is about 5 to 11 kW, while in developing countries it is only 1 to 1.5 kW.</a:t>
            </a:r>
            <a:endParaRPr lang="en-IN" sz="2400" dirty="0">
              <a:latin typeface="Calisto MT" panose="02040603050505030304" pitchFamily="18" charset="0"/>
            </a:endParaRPr>
          </a:p>
        </p:txBody>
      </p:sp>
    </p:spTree>
    <p:extLst>
      <p:ext uri="{BB962C8B-B14F-4D97-AF65-F5344CB8AC3E}">
        <p14:creationId xmlns:p14="http://schemas.microsoft.com/office/powerpoint/2010/main" val="459437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FF19-FE81-4D58-329C-B2D85EDCE9AF}"/>
              </a:ext>
            </a:extLst>
          </p:cNvPr>
          <p:cNvSpPr>
            <a:spLocks noGrp="1"/>
          </p:cNvSpPr>
          <p:nvPr>
            <p:ph type="title"/>
          </p:nvPr>
        </p:nvSpPr>
        <p:spPr/>
        <p:txBody>
          <a:bodyPr/>
          <a:lstStyle/>
          <a:p>
            <a:pPr algn="ctr"/>
            <a:r>
              <a:rPr lang="en-US" dirty="0">
                <a:solidFill>
                  <a:srgbClr val="C00000"/>
                </a:solidFill>
                <a:latin typeface="Arial Black" panose="020B0A04020102020204" pitchFamily="34" charset="0"/>
              </a:rPr>
              <a:t>USES OF ENERGY</a:t>
            </a:r>
            <a:endParaRPr lang="en-IN" dirty="0">
              <a:solidFill>
                <a:srgbClr val="C0000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26323DCC-5D2E-07F6-5DB9-9372B67A34DC}"/>
              </a:ext>
            </a:extLst>
          </p:cNvPr>
          <p:cNvSpPr>
            <a:spLocks noGrp="1"/>
          </p:cNvSpPr>
          <p:nvPr>
            <p:ph idx="1"/>
          </p:nvPr>
        </p:nvSpPr>
        <p:spPr/>
        <p:txBody>
          <a:bodyPr>
            <a:normAutofit/>
          </a:bodyPr>
          <a:lstStyle/>
          <a:p>
            <a:pPr marL="457200" indent="-457200">
              <a:buFont typeface="+mj-lt"/>
              <a:buAutoNum type="arabicPeriod"/>
            </a:pPr>
            <a:r>
              <a:rPr lang="en-US" sz="2400" dirty="0">
                <a:latin typeface="Calisto MT" panose="02040603050505030304" pitchFamily="18" charset="0"/>
              </a:rPr>
              <a:t> </a:t>
            </a:r>
            <a:r>
              <a:rPr lang="en-US" dirty="0">
                <a:latin typeface="Calisto MT" panose="02040603050505030304" pitchFamily="18" charset="0"/>
              </a:rPr>
              <a:t>Energy is the main requirement for running any industrial activity.</a:t>
            </a:r>
          </a:p>
          <a:p>
            <a:pPr marL="457200" indent="-457200">
              <a:buFont typeface="+mj-lt"/>
              <a:buAutoNum type="arabicPeriod"/>
            </a:pPr>
            <a:r>
              <a:rPr lang="en-US" dirty="0">
                <a:latin typeface="Calisto MT" panose="02040603050505030304" pitchFamily="18" charset="0"/>
              </a:rPr>
              <a:t> It is also important in areas like commerce, transport, and communication.</a:t>
            </a:r>
          </a:p>
          <a:p>
            <a:pPr marL="457200" indent="-457200">
              <a:buFont typeface="+mj-lt"/>
              <a:buAutoNum type="arabicPeriod"/>
            </a:pPr>
            <a:r>
              <a:rPr lang="en-US" dirty="0">
                <a:latin typeface="Calisto MT" panose="02040603050505030304" pitchFamily="18" charset="0"/>
              </a:rPr>
              <a:t> Energy is needed for many daily household and industrial services.</a:t>
            </a:r>
          </a:p>
          <a:p>
            <a:pPr marL="457200" indent="-457200">
              <a:buFont typeface="+mj-lt"/>
              <a:buAutoNum type="arabicPeriod"/>
            </a:pPr>
            <a:r>
              <a:rPr lang="en-US" dirty="0">
                <a:latin typeface="Calisto MT" panose="02040603050505030304" pitchFamily="18" charset="0"/>
              </a:rPr>
              <a:t> Because of the big changes in how energy is used, its role in human activities, research, and environmental studies has become very important</a:t>
            </a:r>
            <a:r>
              <a:rPr lang="en-US" sz="2400" dirty="0">
                <a:latin typeface="Calisto MT" panose="02040603050505030304" pitchFamily="18" charset="0"/>
              </a:rPr>
              <a:t>.</a:t>
            </a:r>
            <a:endParaRPr lang="en-IN" sz="2400" dirty="0">
              <a:latin typeface="Calisto MT" panose="02040603050505030304" pitchFamily="18" charset="0"/>
            </a:endParaRPr>
          </a:p>
        </p:txBody>
      </p:sp>
    </p:spTree>
    <p:extLst>
      <p:ext uri="{BB962C8B-B14F-4D97-AF65-F5344CB8AC3E}">
        <p14:creationId xmlns:p14="http://schemas.microsoft.com/office/powerpoint/2010/main" val="2632205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E87E1-D945-200E-F9BD-1CBF95AEA4B4}"/>
              </a:ext>
            </a:extLst>
          </p:cNvPr>
          <p:cNvSpPr>
            <a:spLocks noGrp="1"/>
          </p:cNvSpPr>
          <p:nvPr>
            <p:ph type="title"/>
          </p:nvPr>
        </p:nvSpPr>
        <p:spPr/>
        <p:txBody>
          <a:bodyPr/>
          <a:lstStyle/>
          <a:p>
            <a:pPr algn="ctr"/>
            <a:r>
              <a:rPr lang="en-IN" dirty="0">
                <a:solidFill>
                  <a:srgbClr val="C00000"/>
                </a:solidFill>
                <a:latin typeface="Arial Black" panose="020B0A04020102020204" pitchFamily="34" charset="0"/>
              </a:rPr>
              <a:t>TYPES OF ENERGY </a:t>
            </a:r>
          </a:p>
        </p:txBody>
      </p:sp>
      <p:sp>
        <p:nvSpPr>
          <p:cNvPr id="3" name="Content Placeholder 2">
            <a:extLst>
              <a:ext uri="{FF2B5EF4-FFF2-40B4-BE49-F238E27FC236}">
                <a16:creationId xmlns:a16="http://schemas.microsoft.com/office/drawing/2014/main" id="{34C56440-9ACC-C995-8A6C-DFEE988CB6AE}"/>
              </a:ext>
            </a:extLst>
          </p:cNvPr>
          <p:cNvSpPr>
            <a:spLocks noGrp="1"/>
          </p:cNvSpPr>
          <p:nvPr>
            <p:ph idx="1"/>
          </p:nvPr>
        </p:nvSpPr>
        <p:spPr/>
        <p:txBody>
          <a:bodyPr>
            <a:normAutofit/>
          </a:bodyPr>
          <a:lstStyle/>
          <a:p>
            <a:pPr marL="0" indent="0">
              <a:buNone/>
            </a:pPr>
            <a:r>
              <a:rPr lang="en-US" sz="3200" dirty="0">
                <a:latin typeface="Calisto MT" panose="02040603050505030304" pitchFamily="18" charset="0"/>
              </a:rPr>
              <a:t>There are three main types of energy: </a:t>
            </a:r>
          </a:p>
          <a:p>
            <a:pPr marL="0" indent="0">
              <a:buNone/>
            </a:pPr>
            <a:endParaRPr lang="en-US" sz="3200" dirty="0">
              <a:latin typeface="Calisto MT" panose="02040603050505030304" pitchFamily="18" charset="0"/>
            </a:endParaRPr>
          </a:p>
          <a:p>
            <a:r>
              <a:rPr lang="en-US" sz="3200" dirty="0">
                <a:latin typeface="Calisto MT" panose="02040603050505030304" pitchFamily="18" charset="0"/>
              </a:rPr>
              <a:t>Non-renewable energy</a:t>
            </a:r>
          </a:p>
          <a:p>
            <a:r>
              <a:rPr lang="en-US" sz="3200" dirty="0">
                <a:latin typeface="Calisto MT" panose="02040603050505030304" pitchFamily="18" charset="0"/>
              </a:rPr>
              <a:t>Renewable energy</a:t>
            </a:r>
          </a:p>
          <a:p>
            <a:r>
              <a:rPr lang="en-US" sz="3200" dirty="0">
                <a:latin typeface="Calisto MT" panose="02040603050505030304" pitchFamily="18" charset="0"/>
              </a:rPr>
              <a:t> Nuclear energy</a:t>
            </a:r>
            <a:endParaRPr lang="en-IN" sz="3200" dirty="0">
              <a:latin typeface="Calisto MT" panose="02040603050505030304" pitchFamily="18" charset="0"/>
            </a:endParaRPr>
          </a:p>
        </p:txBody>
      </p:sp>
    </p:spTree>
    <p:extLst>
      <p:ext uri="{BB962C8B-B14F-4D97-AF65-F5344CB8AC3E}">
        <p14:creationId xmlns:p14="http://schemas.microsoft.com/office/powerpoint/2010/main" val="18960842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DF7A9-7532-EF62-7F82-66DEE8A1FFE5}"/>
              </a:ext>
            </a:extLst>
          </p:cNvPr>
          <p:cNvSpPr>
            <a:spLocks noGrp="1"/>
          </p:cNvSpPr>
          <p:nvPr>
            <p:ph type="title"/>
          </p:nvPr>
        </p:nvSpPr>
        <p:spPr>
          <a:xfrm>
            <a:off x="838200" y="365125"/>
            <a:ext cx="10515600" cy="1105329"/>
          </a:xfrm>
        </p:spPr>
        <p:txBody>
          <a:bodyPr>
            <a:normAutofit fontScale="90000"/>
          </a:bodyPr>
          <a:lstStyle/>
          <a:p>
            <a:pPr algn="ctr"/>
            <a:r>
              <a:rPr lang="en-US" b="1" dirty="0">
                <a:solidFill>
                  <a:srgbClr val="C00000"/>
                </a:solidFill>
                <a:latin typeface="Arial Black" panose="020B0A04020102020204" pitchFamily="34" charset="0"/>
              </a:rPr>
              <a:t>NON-RENEWABLE ENERGY RESOURCES</a:t>
            </a:r>
            <a:endParaRPr lang="en-IN" b="1" dirty="0">
              <a:solidFill>
                <a:srgbClr val="C00000"/>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BF142642-D29F-645E-6AE9-CE33D71D12FF}"/>
              </a:ext>
            </a:extLst>
          </p:cNvPr>
          <p:cNvSpPr>
            <a:spLocks noGrp="1"/>
          </p:cNvSpPr>
          <p:nvPr>
            <p:ph idx="1"/>
          </p:nvPr>
        </p:nvSpPr>
        <p:spPr>
          <a:xfrm>
            <a:off x="516924" y="1791730"/>
            <a:ext cx="10836876" cy="4819134"/>
          </a:xfrm>
        </p:spPr>
        <p:txBody>
          <a:bodyPr>
            <a:normAutofit/>
          </a:bodyPr>
          <a:lstStyle/>
          <a:p>
            <a:pPr marL="0" indent="0">
              <a:buNone/>
            </a:pPr>
            <a:r>
              <a:rPr lang="en-US" dirty="0">
                <a:latin typeface="Calisto MT" panose="02040603050505030304" pitchFamily="18" charset="0"/>
              </a:rPr>
              <a:t>Non-renewable energy is energy that we use faster than nature can replace it. Once it's gone, it's gone for a very, very long time.</a:t>
            </a:r>
          </a:p>
          <a:p>
            <a:pPr marL="0" indent="0">
              <a:buNone/>
            </a:pPr>
            <a:endParaRPr lang="en-US" dirty="0">
              <a:latin typeface="Calisto MT" panose="02040603050505030304" pitchFamily="18" charset="0"/>
            </a:endParaRPr>
          </a:p>
          <a:p>
            <a:r>
              <a:rPr lang="en-US" b="1" dirty="0">
                <a:latin typeface="Calisto MT" panose="02040603050505030304" pitchFamily="18" charset="0"/>
              </a:rPr>
              <a:t>Fossil Fuels</a:t>
            </a:r>
            <a:r>
              <a:rPr lang="en-US" dirty="0">
                <a:latin typeface="Calisto MT" panose="02040603050505030304" pitchFamily="18" charset="0"/>
              </a:rPr>
              <a:t>: Fossil fuels are non-renewable resources made from the remains of ancient plants and animals that got buried and turned into rock over millions of years. They include solids like coal, liquids like crude oil (petroleum), and gases like natural gas.</a:t>
            </a:r>
          </a:p>
          <a:p>
            <a:pPr marL="0" indent="0">
              <a:buNone/>
            </a:pPr>
            <a:r>
              <a:rPr lang="en-US" dirty="0">
                <a:latin typeface="Calisto MT" panose="02040603050505030304" pitchFamily="18" charset="0"/>
              </a:rPr>
              <a:t>.</a:t>
            </a:r>
          </a:p>
        </p:txBody>
      </p:sp>
    </p:spTree>
    <p:extLst>
      <p:ext uri="{BB962C8B-B14F-4D97-AF65-F5344CB8AC3E}">
        <p14:creationId xmlns:p14="http://schemas.microsoft.com/office/powerpoint/2010/main" val="4169142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3CE0F-F18D-109D-8CDE-E1CADE6C6D26}"/>
              </a:ext>
            </a:extLst>
          </p:cNvPr>
          <p:cNvSpPr>
            <a:spLocks noGrp="1"/>
          </p:cNvSpPr>
          <p:nvPr>
            <p:ph idx="1"/>
          </p:nvPr>
        </p:nvSpPr>
        <p:spPr>
          <a:xfrm>
            <a:off x="838200" y="741405"/>
            <a:ext cx="10515600" cy="5435558"/>
          </a:xfrm>
        </p:spPr>
        <p:txBody>
          <a:bodyPr/>
          <a:lstStyle/>
          <a:p>
            <a:pPr marL="0" indent="0">
              <a:buNone/>
            </a:pPr>
            <a:r>
              <a:rPr lang="en-US" b="1" dirty="0">
                <a:latin typeface="Calisto MT" panose="02040603050505030304" pitchFamily="18" charset="0"/>
              </a:rPr>
              <a:t>1. COAL:</a:t>
            </a:r>
          </a:p>
          <a:p>
            <a:pPr>
              <a:lnSpc>
                <a:spcPct val="100000"/>
              </a:lnSpc>
            </a:pPr>
            <a:r>
              <a:rPr lang="en-US" b="1" dirty="0">
                <a:latin typeface="Calisto MT" panose="02040603050505030304" pitchFamily="18" charset="0"/>
              </a:rPr>
              <a:t>  </a:t>
            </a:r>
            <a:r>
              <a:rPr lang="en-US" dirty="0">
                <a:latin typeface="Calisto MT" panose="02040603050505030304" pitchFamily="18" charset="0"/>
              </a:rPr>
              <a:t>What it is: A massive amount of old plant material buried underground that   was turned into carbon-rich rock.</a:t>
            </a:r>
          </a:p>
          <a:p>
            <a:pPr>
              <a:lnSpc>
                <a:spcPct val="100000"/>
              </a:lnSpc>
            </a:pPr>
            <a:r>
              <a:rPr lang="en-US" dirty="0">
                <a:latin typeface="Calisto MT" panose="02040603050505030304" pitchFamily="18" charset="0"/>
              </a:rPr>
              <a:t>Why it's non-renewable: It takes millions of years to form. </a:t>
            </a:r>
          </a:p>
          <a:p>
            <a:pPr>
              <a:lnSpc>
                <a:spcPct val="100000"/>
              </a:lnSpc>
            </a:pPr>
            <a:r>
              <a:rPr lang="en-US" dirty="0">
                <a:latin typeface="Calisto MT" panose="02040603050505030304" pitchFamily="18" charset="0"/>
              </a:rPr>
              <a:t>The problems: Digging for coal causes mine collapses and pollution (groundwater and air). The process releases poisonous materials and explosive gases, which can cause diseases. Burning coal releases a lot of carbon dioxide, which causes the greenhouse effect and global warming</a:t>
            </a:r>
            <a:endParaRPr lang="en-IN" dirty="0"/>
          </a:p>
        </p:txBody>
      </p:sp>
    </p:spTree>
    <p:extLst>
      <p:ext uri="{BB962C8B-B14F-4D97-AF65-F5344CB8AC3E}">
        <p14:creationId xmlns:p14="http://schemas.microsoft.com/office/powerpoint/2010/main" val="36128721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6C7484-90F6-3C8A-128A-89C4E7811650}"/>
              </a:ext>
            </a:extLst>
          </p:cNvPr>
          <p:cNvSpPr>
            <a:spLocks noGrp="1"/>
          </p:cNvSpPr>
          <p:nvPr>
            <p:ph idx="1"/>
          </p:nvPr>
        </p:nvSpPr>
        <p:spPr>
          <a:xfrm>
            <a:off x="838200" y="1198605"/>
            <a:ext cx="10515600" cy="4547287"/>
          </a:xfrm>
        </p:spPr>
        <p:txBody>
          <a:bodyPr/>
          <a:lstStyle/>
          <a:p>
            <a:pPr marL="0" indent="0">
              <a:buNone/>
            </a:pPr>
            <a:r>
              <a:rPr lang="en-US" b="1" dirty="0">
                <a:latin typeface="Calisto MT" panose="02040603050505030304" pitchFamily="18" charset="0"/>
              </a:rPr>
              <a:t>2. CRUDE OIL (PETROLEUM):</a:t>
            </a:r>
          </a:p>
          <a:p>
            <a:r>
              <a:rPr lang="en-US" dirty="0">
                <a:latin typeface="Calisto MT" panose="02040603050505030304" pitchFamily="18" charset="0"/>
              </a:rPr>
              <a:t>What it is: A thick, black liquid found underground.</a:t>
            </a:r>
          </a:p>
          <a:p>
            <a:r>
              <a:rPr lang="en-US" dirty="0">
                <a:latin typeface="Calisto MT" panose="02040603050505030304" pitchFamily="18" charset="0"/>
              </a:rPr>
              <a:t>How it's used: It's heated up to 600 </a:t>
            </a:r>
            <a:r>
              <a:rPr lang="en-IN" dirty="0">
                <a:latin typeface="Calisto MT" panose="02040603050505030304" pitchFamily="18" charset="0"/>
              </a:rPr>
              <a:t>degree celsius</a:t>
            </a:r>
            <a:r>
              <a:rPr lang="en-US" dirty="0">
                <a:latin typeface="Calisto MT" panose="02040603050505030304" pitchFamily="18" charset="0"/>
              </a:rPr>
              <a:t> to separate and refine it into useful products like gasoline, diesel, and ingredients for things we use every day, like plastics, detergents, fertilizers, and rubber.</a:t>
            </a:r>
          </a:p>
          <a:p>
            <a:r>
              <a:rPr lang="en-US" dirty="0">
                <a:latin typeface="Calisto MT" panose="02040603050505030304" pitchFamily="18" charset="0"/>
              </a:rPr>
              <a:t>Where it's used: The transportation sector (cars, trucks, etc.) uses a large portion of its products (like diesel), and it's also used heavily by industries, households, and agriculture</a:t>
            </a:r>
            <a:r>
              <a:rPr lang="en-US" dirty="0"/>
              <a:t>.</a:t>
            </a:r>
            <a:endParaRPr lang="en-IN" dirty="0"/>
          </a:p>
        </p:txBody>
      </p:sp>
    </p:spTree>
    <p:extLst>
      <p:ext uri="{BB962C8B-B14F-4D97-AF65-F5344CB8AC3E}">
        <p14:creationId xmlns:p14="http://schemas.microsoft.com/office/powerpoint/2010/main" val="38427506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46FB0-F89F-F40B-015E-62A0554EC807}"/>
              </a:ext>
            </a:extLst>
          </p:cNvPr>
          <p:cNvSpPr>
            <a:spLocks noGrp="1"/>
          </p:cNvSpPr>
          <p:nvPr>
            <p:ph idx="1"/>
          </p:nvPr>
        </p:nvSpPr>
        <p:spPr>
          <a:xfrm>
            <a:off x="838200" y="840259"/>
            <a:ext cx="10515600" cy="5336704"/>
          </a:xfrm>
        </p:spPr>
        <p:txBody>
          <a:bodyPr/>
          <a:lstStyle/>
          <a:p>
            <a:pPr marL="0" indent="0">
              <a:buNone/>
            </a:pPr>
            <a:r>
              <a:rPr lang="en-US" b="1" dirty="0">
                <a:latin typeface="Calisto MT" panose="02040603050505030304" pitchFamily="18" charset="0"/>
              </a:rPr>
              <a:t>3. NATURAL GAS:</a:t>
            </a:r>
          </a:p>
          <a:p>
            <a:r>
              <a:rPr lang="en-US" dirty="0">
                <a:latin typeface="Calisto MT" panose="02040603050505030304" pitchFamily="18" charset="0"/>
              </a:rPr>
              <a:t>What it is: Gas trapped deep inside rock formations. We get it by drilling.</a:t>
            </a:r>
          </a:p>
          <a:p>
            <a:r>
              <a:rPr lang="en-US" dirty="0">
                <a:latin typeface="Calisto MT" panose="02040603050505030304" pitchFamily="18" charset="0"/>
              </a:rPr>
              <a:t>The benefit: When we burn natural gas, it releases less </a:t>
            </a:r>
            <a:r>
              <a:rPr lang="en-IN" dirty="0">
                <a:latin typeface="Calisto MT" panose="02040603050505030304" pitchFamily="18" charset="0"/>
              </a:rPr>
              <a:t>carbon dioxide</a:t>
            </a:r>
            <a:r>
              <a:rPr lang="en-US" dirty="0">
                <a:latin typeface="Calisto MT" panose="02040603050505030304" pitchFamily="18" charset="0"/>
              </a:rPr>
              <a:t> than coal or oil, so it contributes less to the greenhouse effect and global warming.</a:t>
            </a:r>
          </a:p>
          <a:p>
            <a:r>
              <a:rPr lang="en-US" dirty="0">
                <a:latin typeface="Calisto MT" panose="02040603050505030304" pitchFamily="18" charset="0"/>
              </a:rPr>
              <a:t>Reserves: We currently have an estimated total of 734 billion cubic meters of natural gas reserves.</a:t>
            </a:r>
            <a:endParaRPr lang="en-IN" dirty="0">
              <a:latin typeface="Calisto MT" panose="02040603050505030304" pitchFamily="18" charset="0"/>
            </a:endParaRPr>
          </a:p>
        </p:txBody>
      </p:sp>
    </p:spTree>
    <p:extLst>
      <p:ext uri="{BB962C8B-B14F-4D97-AF65-F5344CB8AC3E}">
        <p14:creationId xmlns:p14="http://schemas.microsoft.com/office/powerpoint/2010/main" val="34485986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7B58CA-741E-54A2-4AD2-7117C4E19031}"/>
              </a:ext>
            </a:extLst>
          </p:cNvPr>
          <p:cNvSpPr txBox="1"/>
          <p:nvPr/>
        </p:nvSpPr>
        <p:spPr>
          <a:xfrm>
            <a:off x="200416" y="513567"/>
            <a:ext cx="8818323" cy="646331"/>
          </a:xfrm>
          <a:prstGeom prst="rect">
            <a:avLst/>
          </a:prstGeom>
          <a:noFill/>
        </p:spPr>
        <p:txBody>
          <a:bodyPr wrap="square" rtlCol="0">
            <a:spAutoFit/>
          </a:bodyPr>
          <a:lstStyle/>
          <a:p>
            <a:r>
              <a:rPr lang="en-US" sz="3600" b="1" dirty="0">
                <a:solidFill>
                  <a:srgbClr val="C00000"/>
                </a:solidFill>
                <a:latin typeface="Arial Black" panose="020B0A04020102020204" pitchFamily="34" charset="0"/>
              </a:rPr>
              <a:t>RENEWABLE ENERGY RESOURCE</a:t>
            </a:r>
            <a:endParaRPr lang="en-IN" sz="3600" b="1" dirty="0">
              <a:solidFill>
                <a:srgbClr val="C00000"/>
              </a:solidFill>
              <a:latin typeface="Arial Black" panose="020B0A04020102020204" pitchFamily="34" charset="0"/>
            </a:endParaRPr>
          </a:p>
        </p:txBody>
      </p:sp>
      <p:sp>
        <p:nvSpPr>
          <p:cNvPr id="6" name="TextBox 5">
            <a:extLst>
              <a:ext uri="{FF2B5EF4-FFF2-40B4-BE49-F238E27FC236}">
                <a16:creationId xmlns:a16="http://schemas.microsoft.com/office/drawing/2014/main" id="{78DB57BA-8292-B6EE-6815-813E55CFDE8F}"/>
              </a:ext>
            </a:extLst>
          </p:cNvPr>
          <p:cNvSpPr txBox="1"/>
          <p:nvPr/>
        </p:nvSpPr>
        <p:spPr>
          <a:xfrm>
            <a:off x="200417" y="1540701"/>
            <a:ext cx="11774466" cy="4770537"/>
          </a:xfrm>
          <a:prstGeom prst="rect">
            <a:avLst/>
          </a:prstGeom>
          <a:noFill/>
        </p:spPr>
        <p:txBody>
          <a:bodyPr wrap="square" rtlCol="0">
            <a:spAutoFit/>
          </a:bodyPr>
          <a:lstStyle/>
          <a:p>
            <a:r>
              <a:rPr lang="en-US" sz="2800" dirty="0">
                <a:latin typeface="Calisto MT" panose="02040603050505030304" pitchFamily="18" charset="0"/>
              </a:rPr>
              <a:t>Renewable energy system use resource that are constantly replaced and are usually less polluting.</a:t>
            </a:r>
          </a:p>
          <a:p>
            <a:endParaRPr lang="en-US" sz="2800" dirty="0">
              <a:latin typeface="Calisto MT" panose="02040603050505030304" pitchFamily="18" charset="0"/>
            </a:endParaRPr>
          </a:p>
          <a:p>
            <a:r>
              <a:rPr lang="en-IN" sz="2400" b="1" dirty="0">
                <a:latin typeface="Calisto MT" panose="02040603050505030304" pitchFamily="18" charset="0"/>
              </a:rPr>
              <a:t>Examples</a:t>
            </a:r>
            <a:r>
              <a:rPr lang="en-IN" sz="2400" dirty="0">
                <a:latin typeface="Calisto MT" panose="02040603050505030304" pitchFamily="18" charset="0"/>
              </a:rPr>
              <a:t>: </a:t>
            </a:r>
          </a:p>
          <a:p>
            <a:pPr marL="457200" indent="-457200">
              <a:buFont typeface="Wingdings" panose="05000000000000000000" pitchFamily="2" charset="2"/>
              <a:buChar char="v"/>
            </a:pPr>
            <a:r>
              <a:rPr lang="en-IN" sz="2800" dirty="0">
                <a:latin typeface="Calisto MT" panose="02040603050505030304" pitchFamily="18" charset="0"/>
              </a:rPr>
              <a:t>  Solar Energy</a:t>
            </a:r>
          </a:p>
          <a:p>
            <a:pPr marL="457200" indent="-457200">
              <a:buFont typeface="Wingdings" panose="05000000000000000000" pitchFamily="2" charset="2"/>
              <a:buChar char="v"/>
            </a:pPr>
            <a:r>
              <a:rPr lang="en-IN" sz="2800" dirty="0">
                <a:latin typeface="Calisto MT" panose="02040603050505030304" pitchFamily="18" charset="0"/>
              </a:rPr>
              <a:t>  Hydro power Energy</a:t>
            </a:r>
          </a:p>
          <a:p>
            <a:pPr marL="457200" indent="-457200">
              <a:buFont typeface="Wingdings" panose="05000000000000000000" pitchFamily="2" charset="2"/>
              <a:buChar char="v"/>
            </a:pPr>
            <a:r>
              <a:rPr lang="en-IN" sz="2800" dirty="0">
                <a:latin typeface="Calisto MT" panose="02040603050505030304" pitchFamily="18" charset="0"/>
              </a:rPr>
              <a:t>  Geothermal Energy</a:t>
            </a:r>
          </a:p>
          <a:p>
            <a:pPr marL="457200" indent="-457200">
              <a:buFont typeface="Wingdings" panose="05000000000000000000" pitchFamily="2" charset="2"/>
              <a:buChar char="v"/>
            </a:pPr>
            <a:r>
              <a:rPr lang="en-IN" sz="2800" dirty="0">
                <a:latin typeface="Calisto MT" panose="02040603050505030304" pitchFamily="18" charset="0"/>
              </a:rPr>
              <a:t>  Wind Ener</a:t>
            </a:r>
          </a:p>
          <a:p>
            <a:pPr marL="457200" indent="-457200">
              <a:buFont typeface="Wingdings" panose="05000000000000000000" pitchFamily="2" charset="2"/>
              <a:buChar char="v"/>
            </a:pPr>
            <a:r>
              <a:rPr lang="en-IN" sz="2800" dirty="0">
                <a:latin typeface="Calisto MT" panose="02040603050505030304" pitchFamily="18" charset="0"/>
              </a:rPr>
              <a:t>  Ocean Energy</a:t>
            </a:r>
          </a:p>
          <a:p>
            <a:pPr marL="457200" indent="-457200">
              <a:buFont typeface="Wingdings" panose="05000000000000000000" pitchFamily="2" charset="2"/>
              <a:buChar char="v"/>
            </a:pPr>
            <a:r>
              <a:rPr lang="en-IN" sz="2800" dirty="0">
                <a:latin typeface="Calisto MT" panose="02040603050505030304" pitchFamily="18" charset="0"/>
              </a:rPr>
              <a:t>  Bio mass Energy</a:t>
            </a:r>
          </a:p>
          <a:p>
            <a:pPr marL="457200" indent="-457200">
              <a:buFont typeface="Wingdings" panose="05000000000000000000" pitchFamily="2" charset="2"/>
              <a:buChar char="v"/>
            </a:pPr>
            <a:r>
              <a:rPr lang="en-IN" sz="2800" dirty="0">
                <a:latin typeface="Calisto MT" panose="02040603050505030304" pitchFamily="18" charset="0"/>
              </a:rPr>
              <a:t>  Bio gas</a:t>
            </a:r>
          </a:p>
        </p:txBody>
      </p:sp>
    </p:spTree>
    <p:extLst>
      <p:ext uri="{BB962C8B-B14F-4D97-AF65-F5344CB8AC3E}">
        <p14:creationId xmlns:p14="http://schemas.microsoft.com/office/powerpoint/2010/main" val="24628212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9E4711-ECB0-15DA-4A49-08FAE019DBA7}"/>
              </a:ext>
            </a:extLst>
          </p:cNvPr>
          <p:cNvSpPr txBox="1"/>
          <p:nvPr/>
        </p:nvSpPr>
        <p:spPr>
          <a:xfrm>
            <a:off x="6295924" y="0"/>
            <a:ext cx="5653535" cy="584775"/>
          </a:xfrm>
          <a:prstGeom prst="rect">
            <a:avLst/>
          </a:prstGeom>
          <a:noFill/>
        </p:spPr>
        <p:txBody>
          <a:bodyPr wrap="none" rtlCol="0">
            <a:spAutoFit/>
          </a:bodyPr>
          <a:lstStyle/>
          <a:p>
            <a:r>
              <a:rPr lang="en-US" sz="3200" b="1" dirty="0">
                <a:solidFill>
                  <a:srgbClr val="C00000"/>
                </a:solidFill>
                <a:latin typeface="Arial Black" panose="020B0A04020102020204" pitchFamily="34" charset="0"/>
              </a:rPr>
              <a:t>HYDRO-POWER ENERGY</a:t>
            </a:r>
            <a:endParaRPr lang="en-IN" sz="3200" b="1" dirty="0">
              <a:solidFill>
                <a:srgbClr val="C00000"/>
              </a:solidFill>
              <a:latin typeface="Arial Black" panose="020B0A04020102020204" pitchFamily="34" charset="0"/>
            </a:endParaRPr>
          </a:p>
        </p:txBody>
      </p:sp>
      <p:sp>
        <p:nvSpPr>
          <p:cNvPr id="6" name="TextBox 5">
            <a:extLst>
              <a:ext uri="{FF2B5EF4-FFF2-40B4-BE49-F238E27FC236}">
                <a16:creationId xmlns:a16="http://schemas.microsoft.com/office/drawing/2014/main" id="{3DC08B44-5CCB-DE74-9EF1-F6755917A6E6}"/>
              </a:ext>
            </a:extLst>
          </p:cNvPr>
          <p:cNvSpPr txBox="1"/>
          <p:nvPr/>
        </p:nvSpPr>
        <p:spPr>
          <a:xfrm>
            <a:off x="422545" y="0"/>
            <a:ext cx="3777573" cy="584775"/>
          </a:xfrm>
          <a:prstGeom prst="rect">
            <a:avLst/>
          </a:prstGeom>
          <a:noFill/>
        </p:spPr>
        <p:txBody>
          <a:bodyPr wrap="none" rtlCol="0">
            <a:spAutoFit/>
          </a:bodyPr>
          <a:lstStyle/>
          <a:p>
            <a:r>
              <a:rPr lang="en-US" sz="3200" b="1" dirty="0">
                <a:solidFill>
                  <a:srgbClr val="C00000"/>
                </a:solidFill>
                <a:latin typeface="Arial Black" panose="020B0A04020102020204" pitchFamily="34" charset="0"/>
              </a:rPr>
              <a:t>SOLAR ENERGY</a:t>
            </a:r>
            <a:endParaRPr lang="en-IN" sz="3200" b="1" dirty="0">
              <a:solidFill>
                <a:srgbClr val="C00000"/>
              </a:solidFill>
              <a:latin typeface="Arial Black" panose="020B0A04020102020204" pitchFamily="34" charset="0"/>
            </a:endParaRPr>
          </a:p>
        </p:txBody>
      </p:sp>
      <p:sp>
        <p:nvSpPr>
          <p:cNvPr id="7" name="TextBox 6">
            <a:extLst>
              <a:ext uri="{FF2B5EF4-FFF2-40B4-BE49-F238E27FC236}">
                <a16:creationId xmlns:a16="http://schemas.microsoft.com/office/drawing/2014/main" id="{E5BBAF2E-525E-82F8-C84E-4194BFFA3B9D}"/>
              </a:ext>
            </a:extLst>
          </p:cNvPr>
          <p:cNvSpPr txBox="1"/>
          <p:nvPr/>
        </p:nvSpPr>
        <p:spPr>
          <a:xfrm>
            <a:off x="-449941" y="707886"/>
            <a:ext cx="6409307" cy="3539430"/>
          </a:xfrm>
          <a:prstGeom prst="rect">
            <a:avLst/>
          </a:prstGeom>
          <a:noFill/>
        </p:spPr>
        <p:txBody>
          <a:bodyPr wrap="square" rtlCol="0">
            <a:spAutoFit/>
          </a:bodyPr>
          <a:lstStyle/>
          <a:p>
            <a:pPr marL="914400" lvl="1" indent="-457200">
              <a:buFont typeface="Wingdings" panose="05000000000000000000" pitchFamily="2" charset="2"/>
              <a:buChar char="q"/>
            </a:pPr>
            <a:r>
              <a:rPr lang="en-US" sz="2800" dirty="0">
                <a:latin typeface="Calisto MT" panose="02040603050505030304" pitchFamily="18" charset="0"/>
              </a:rPr>
              <a:t>Solar energy is the radiant energy emitted by the sun, which can be harnessed to produce electricity, heat, and other forms of energy, making it a vital renewable resource for sustainable energy solution.</a:t>
            </a:r>
          </a:p>
          <a:p>
            <a:br>
              <a:rPr lang="en-US" sz="2800" dirty="0"/>
            </a:br>
            <a:endParaRPr lang="en-IN" sz="2800" dirty="0"/>
          </a:p>
        </p:txBody>
      </p:sp>
      <p:sp>
        <p:nvSpPr>
          <p:cNvPr id="11" name="TextBox 10">
            <a:extLst>
              <a:ext uri="{FF2B5EF4-FFF2-40B4-BE49-F238E27FC236}">
                <a16:creationId xmlns:a16="http://schemas.microsoft.com/office/drawing/2014/main" id="{83CAC151-BC7A-661C-F1AE-34AE44E56CD2}"/>
              </a:ext>
            </a:extLst>
          </p:cNvPr>
          <p:cNvSpPr txBox="1"/>
          <p:nvPr/>
        </p:nvSpPr>
        <p:spPr>
          <a:xfrm>
            <a:off x="6357258" y="785151"/>
            <a:ext cx="5775055" cy="2677656"/>
          </a:xfrm>
          <a:prstGeom prst="rect">
            <a:avLst/>
          </a:prstGeom>
          <a:noFill/>
        </p:spPr>
        <p:txBody>
          <a:bodyPr wrap="square" rtlCol="0">
            <a:spAutoFit/>
          </a:bodyPr>
          <a:lstStyle/>
          <a:p>
            <a:pPr marL="457200" indent="-457200">
              <a:buFont typeface="Wingdings" panose="05000000000000000000" pitchFamily="2" charset="2"/>
              <a:buChar char="q"/>
            </a:pPr>
            <a:r>
              <a:rPr lang="en-US" sz="2800" dirty="0">
                <a:latin typeface="Calisto MT" panose="02040603050505030304" pitchFamily="18" charset="0"/>
              </a:rPr>
              <a:t>Hydropower is a renewable source of energy that generates power by using a dam or diversion structure to alter the natural flow of a river or other body of water.</a:t>
            </a:r>
            <a:endParaRPr lang="en-IN" sz="2800" dirty="0">
              <a:latin typeface="Calisto MT" panose="02040603050505030304" pitchFamily="18" charset="0"/>
            </a:endParaRPr>
          </a:p>
        </p:txBody>
      </p:sp>
    </p:spTree>
    <p:extLst>
      <p:ext uri="{BB962C8B-B14F-4D97-AF65-F5344CB8AC3E}">
        <p14:creationId xmlns:p14="http://schemas.microsoft.com/office/powerpoint/2010/main" val="28899049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CA20B8-FECE-5BD0-AD8C-F638B026B286}"/>
              </a:ext>
            </a:extLst>
          </p:cNvPr>
          <p:cNvSpPr txBox="1"/>
          <p:nvPr/>
        </p:nvSpPr>
        <p:spPr>
          <a:xfrm>
            <a:off x="315310" y="283779"/>
            <a:ext cx="11035862" cy="646331"/>
          </a:xfrm>
          <a:prstGeom prst="rect">
            <a:avLst/>
          </a:prstGeom>
          <a:noFill/>
        </p:spPr>
        <p:txBody>
          <a:bodyPr wrap="square" rtlCol="0">
            <a:spAutoFit/>
          </a:bodyPr>
          <a:lstStyle/>
          <a:p>
            <a:pPr algn="ctr"/>
            <a:r>
              <a:rPr lang="en-US" sz="3600" dirty="0">
                <a:solidFill>
                  <a:srgbClr val="FF0000"/>
                </a:solidFill>
                <a:latin typeface="Arial Black" panose="020B0A04020102020204" pitchFamily="34" charset="0"/>
              </a:rPr>
              <a:t>HOW SOLAR POWER WORKS</a:t>
            </a:r>
            <a:endParaRPr lang="en-IN" sz="3600" dirty="0">
              <a:solidFill>
                <a:srgbClr val="FF0000"/>
              </a:solidFill>
              <a:latin typeface="Arial Black" panose="020B0A04020102020204" pitchFamily="34" charset="0"/>
            </a:endParaRPr>
          </a:p>
        </p:txBody>
      </p:sp>
      <p:sp>
        <p:nvSpPr>
          <p:cNvPr id="3" name="TextBox 2">
            <a:extLst>
              <a:ext uri="{FF2B5EF4-FFF2-40B4-BE49-F238E27FC236}">
                <a16:creationId xmlns:a16="http://schemas.microsoft.com/office/drawing/2014/main" id="{910D6A05-17F1-0E28-E35D-DEBF70773930}"/>
              </a:ext>
            </a:extLst>
          </p:cNvPr>
          <p:cNvSpPr txBox="1"/>
          <p:nvPr/>
        </p:nvSpPr>
        <p:spPr>
          <a:xfrm>
            <a:off x="335652" y="1443816"/>
            <a:ext cx="11445766" cy="4524315"/>
          </a:xfrm>
          <a:prstGeom prst="rect">
            <a:avLst/>
          </a:prstGeom>
          <a:noFill/>
        </p:spPr>
        <p:txBody>
          <a:bodyPr wrap="square" rtlCol="0">
            <a:spAutoFit/>
          </a:bodyPr>
          <a:lstStyle/>
          <a:p>
            <a:r>
              <a:rPr lang="en-US" sz="3200" dirty="0">
                <a:latin typeface="Calisto MT" panose="02040603050505030304" pitchFamily="18" charset="0"/>
              </a:rPr>
              <a:t>The sun's energy can be captured to generate electricity or heat through a system of panels or mirrors.</a:t>
            </a:r>
          </a:p>
          <a:p>
            <a:pPr marL="571500" indent="-571500">
              <a:buFont typeface="Wingdings" panose="05000000000000000000" pitchFamily="2" charset="2"/>
              <a:buChar char="q"/>
            </a:pPr>
            <a:r>
              <a:rPr lang="en-US" sz="2800" dirty="0">
                <a:latin typeface="Calisto MT" panose="02040603050505030304" pitchFamily="18" charset="0"/>
              </a:rPr>
              <a:t>Solar, or photovoltaic, cells convert sunlight directly into electricity. Most photovoltaic cells are made primarily of silicon, the material used in computer semiconductor chips, and arranged on rectangular panels</a:t>
            </a:r>
          </a:p>
          <a:p>
            <a:pPr marL="571500" indent="-571500">
              <a:buFont typeface="Wingdings" panose="05000000000000000000" pitchFamily="2" charset="2"/>
              <a:buChar char="q"/>
            </a:pPr>
            <a:r>
              <a:rPr lang="en-US" sz="2800" dirty="0">
                <a:latin typeface="Calisto MT" panose="02040603050505030304" pitchFamily="18" charset="0"/>
              </a:rPr>
              <a:t>Solar thermal collectors use heat-absorbing panels and a series of attached circulation tubes to heat water or buildings.</a:t>
            </a:r>
          </a:p>
          <a:p>
            <a:pPr marL="571500" indent="-571500">
              <a:buFont typeface="Wingdings" panose="05000000000000000000" pitchFamily="2" charset="2"/>
              <a:buChar char="q"/>
            </a:pPr>
            <a:r>
              <a:rPr lang="en-US" sz="2800" dirty="0">
                <a:latin typeface="Calisto MT" panose="02040603050505030304" pitchFamily="18" charset="0"/>
              </a:rPr>
              <a:t>The resulting DC (direct current) electricity is then sent to a power inverter for conversion to AC (alternating current).</a:t>
            </a:r>
            <a:endParaRPr lang="en-IN" sz="2800" dirty="0">
              <a:latin typeface="Calisto MT" panose="02040603050505030304" pitchFamily="18" charset="0"/>
            </a:endParaRPr>
          </a:p>
        </p:txBody>
      </p:sp>
    </p:spTree>
    <p:extLst>
      <p:ext uri="{BB962C8B-B14F-4D97-AF65-F5344CB8AC3E}">
        <p14:creationId xmlns:p14="http://schemas.microsoft.com/office/powerpoint/2010/main" val="440568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68F896-7ABB-CBBD-E51A-F08E82D6E4E5}"/>
              </a:ext>
            </a:extLst>
          </p:cNvPr>
          <p:cNvSpPr txBox="1"/>
          <p:nvPr/>
        </p:nvSpPr>
        <p:spPr>
          <a:xfrm>
            <a:off x="0" y="100208"/>
            <a:ext cx="5411244" cy="584775"/>
          </a:xfrm>
          <a:prstGeom prst="rect">
            <a:avLst/>
          </a:prstGeom>
          <a:noFill/>
        </p:spPr>
        <p:txBody>
          <a:bodyPr wrap="square" rtlCol="0">
            <a:spAutoFit/>
          </a:bodyPr>
          <a:lstStyle/>
          <a:p>
            <a:r>
              <a:rPr lang="en-US" sz="3200" b="1" dirty="0">
                <a:solidFill>
                  <a:srgbClr val="C00000"/>
                </a:solidFill>
                <a:latin typeface="Arial Black" panose="020B0A04020102020204" pitchFamily="34" charset="0"/>
              </a:rPr>
              <a:t>GEOTHERMAL ENERGY</a:t>
            </a:r>
            <a:endParaRPr lang="en-IN" sz="3200" b="1" dirty="0">
              <a:solidFill>
                <a:srgbClr val="C00000"/>
              </a:solidFill>
              <a:latin typeface="Arial Black" panose="020B0A04020102020204" pitchFamily="34" charset="0"/>
            </a:endParaRPr>
          </a:p>
        </p:txBody>
      </p:sp>
      <p:sp>
        <p:nvSpPr>
          <p:cNvPr id="7" name="TextBox 6">
            <a:extLst>
              <a:ext uri="{FF2B5EF4-FFF2-40B4-BE49-F238E27FC236}">
                <a16:creationId xmlns:a16="http://schemas.microsoft.com/office/drawing/2014/main" id="{4B28FDFD-31DD-FFD3-4B41-3F3CAE1A1C95}"/>
              </a:ext>
            </a:extLst>
          </p:cNvPr>
          <p:cNvSpPr txBox="1"/>
          <p:nvPr/>
        </p:nvSpPr>
        <p:spPr>
          <a:xfrm>
            <a:off x="6096000" y="0"/>
            <a:ext cx="5536504" cy="646331"/>
          </a:xfrm>
          <a:prstGeom prst="rect">
            <a:avLst/>
          </a:prstGeom>
          <a:noFill/>
        </p:spPr>
        <p:txBody>
          <a:bodyPr wrap="square" rtlCol="0">
            <a:spAutoFit/>
          </a:bodyPr>
          <a:lstStyle/>
          <a:p>
            <a:r>
              <a:rPr lang="en-US" sz="3600" b="1" dirty="0">
                <a:solidFill>
                  <a:srgbClr val="C00000"/>
                </a:solidFill>
                <a:latin typeface="Arial Black" panose="020B0A04020102020204" pitchFamily="34" charset="0"/>
              </a:rPr>
              <a:t>WIND ENERGY</a:t>
            </a:r>
            <a:endParaRPr lang="en-IN" sz="3600" b="1" dirty="0">
              <a:solidFill>
                <a:srgbClr val="C00000"/>
              </a:solidFill>
              <a:latin typeface="Arial Black" panose="020B0A04020102020204" pitchFamily="34" charset="0"/>
            </a:endParaRPr>
          </a:p>
        </p:txBody>
      </p:sp>
      <p:sp>
        <p:nvSpPr>
          <p:cNvPr id="17" name="TextBox 16">
            <a:extLst>
              <a:ext uri="{FF2B5EF4-FFF2-40B4-BE49-F238E27FC236}">
                <a16:creationId xmlns:a16="http://schemas.microsoft.com/office/drawing/2014/main" id="{37911A4C-3C69-B71D-68E3-2AA8C85F7E91}"/>
              </a:ext>
            </a:extLst>
          </p:cNvPr>
          <p:cNvSpPr txBox="1"/>
          <p:nvPr/>
        </p:nvSpPr>
        <p:spPr>
          <a:xfrm>
            <a:off x="100013" y="808093"/>
            <a:ext cx="5714152" cy="2677656"/>
          </a:xfrm>
          <a:prstGeom prst="rect">
            <a:avLst/>
          </a:prstGeom>
          <a:noFill/>
        </p:spPr>
        <p:txBody>
          <a:bodyPr wrap="square" rtlCol="0">
            <a:spAutoFit/>
          </a:bodyPr>
          <a:lstStyle/>
          <a:p>
            <a:pPr marL="457200" indent="-457200">
              <a:buFont typeface="Wingdings" panose="05000000000000000000" pitchFamily="2" charset="2"/>
              <a:buChar char="q"/>
            </a:pPr>
            <a:r>
              <a:rPr lang="en-US" sz="2800" dirty="0">
                <a:latin typeface="Calisto MT" panose="02040603050505030304" pitchFamily="18" charset="0"/>
              </a:rPr>
              <a:t>Geothermal energy is </a:t>
            </a:r>
            <a:r>
              <a:rPr lang="en-US" sz="2800" b="1" dirty="0">
                <a:latin typeface="Calisto MT" panose="02040603050505030304" pitchFamily="18" charset="0"/>
              </a:rPr>
              <a:t>thermal energy </a:t>
            </a:r>
            <a:r>
              <a:rPr lang="en-US" sz="2800" dirty="0">
                <a:latin typeface="Calisto MT" panose="02040603050505030304" pitchFamily="18" charset="0"/>
              </a:rPr>
              <a:t>extracted from the </a:t>
            </a:r>
            <a:r>
              <a:rPr lang="en-US" sz="2800" b="1" dirty="0">
                <a:latin typeface="Calisto MT" panose="02040603050505030304" pitchFamily="18" charset="0"/>
              </a:rPr>
              <a:t>Earth's crust.</a:t>
            </a:r>
          </a:p>
          <a:p>
            <a:pPr marL="457200" indent="-457200">
              <a:buFont typeface="Wingdings" panose="05000000000000000000" pitchFamily="2" charset="2"/>
              <a:buChar char="q"/>
            </a:pPr>
            <a:r>
              <a:rPr lang="en-US" sz="2800" dirty="0">
                <a:latin typeface="Calisto MT" panose="02040603050505030304" pitchFamily="18" charset="0"/>
              </a:rPr>
              <a:t>It combines energy from the formation of the planet and from </a:t>
            </a:r>
            <a:r>
              <a:rPr lang="en-US" sz="2800" b="1" dirty="0">
                <a:latin typeface="Calisto MT" panose="02040603050505030304" pitchFamily="18" charset="0"/>
              </a:rPr>
              <a:t>radioactive decay</a:t>
            </a:r>
            <a:r>
              <a:rPr lang="en-US" sz="2800" b="1" dirty="0"/>
              <a:t>. </a:t>
            </a:r>
            <a:endParaRPr lang="en-IN" sz="2800" b="1" dirty="0"/>
          </a:p>
        </p:txBody>
      </p:sp>
      <p:sp>
        <p:nvSpPr>
          <p:cNvPr id="18" name="TextBox 17">
            <a:extLst>
              <a:ext uri="{FF2B5EF4-FFF2-40B4-BE49-F238E27FC236}">
                <a16:creationId xmlns:a16="http://schemas.microsoft.com/office/drawing/2014/main" id="{9E2DADFE-7EE9-929C-B1FC-7B4EBC4FDAFF}"/>
              </a:ext>
            </a:extLst>
          </p:cNvPr>
          <p:cNvSpPr txBox="1"/>
          <p:nvPr/>
        </p:nvSpPr>
        <p:spPr>
          <a:xfrm>
            <a:off x="5814164" y="808093"/>
            <a:ext cx="6640595" cy="2677656"/>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atin typeface="Calisto MT" panose="02040603050505030304" pitchFamily="18" charset="0"/>
              </a:rPr>
              <a:t>Wind power</a:t>
            </a:r>
            <a:r>
              <a:rPr lang="en-US" sz="2800" dirty="0">
                <a:latin typeface="Calisto MT" panose="02040603050505030304" pitchFamily="18" charset="0"/>
              </a:rPr>
              <a:t> is the use of wind energy to generate useful work</a:t>
            </a:r>
            <a:r>
              <a:rPr lang="en-US" dirty="0">
                <a:latin typeface="Calisto MT" panose="02040603050505030304" pitchFamily="18" charset="0"/>
              </a:rPr>
              <a:t>.</a:t>
            </a:r>
          </a:p>
          <a:p>
            <a:pPr marL="457200" indent="-457200">
              <a:buFont typeface="Wingdings" panose="05000000000000000000" pitchFamily="2" charset="2"/>
              <a:buChar char="q"/>
            </a:pPr>
            <a:r>
              <a:rPr lang="en-US" sz="2800" dirty="0">
                <a:latin typeface="Calisto MT" panose="02040603050505030304" pitchFamily="18" charset="0"/>
              </a:rPr>
              <a:t>it is mostly used to generate electricity.</a:t>
            </a:r>
          </a:p>
          <a:p>
            <a:pPr marL="457200" indent="-457200">
              <a:buFont typeface="Wingdings" panose="05000000000000000000" pitchFamily="2" charset="2"/>
              <a:buChar char="q"/>
            </a:pPr>
            <a:r>
              <a:rPr lang="en-US" sz="2800" dirty="0">
                <a:latin typeface="Calisto MT" panose="02040603050505030304" pitchFamily="18" charset="0"/>
              </a:rPr>
              <a:t>Today, wind power is generated almost completely using </a:t>
            </a:r>
            <a:r>
              <a:rPr lang="en-US" sz="2800" u="sng" dirty="0">
                <a:latin typeface="Calisto MT" panose="02040603050505030304" pitchFamily="18" charset="0"/>
              </a:rPr>
              <a:t>wind turbine</a:t>
            </a:r>
          </a:p>
          <a:p>
            <a:endParaRPr lang="en-IN" sz="2800" dirty="0"/>
          </a:p>
        </p:txBody>
      </p:sp>
    </p:spTree>
    <p:extLst>
      <p:ext uri="{BB962C8B-B14F-4D97-AF65-F5344CB8AC3E}">
        <p14:creationId xmlns:p14="http://schemas.microsoft.com/office/powerpoint/2010/main" val="31888341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659748-F683-BD43-619A-17EFD0EA573C}"/>
              </a:ext>
            </a:extLst>
          </p:cNvPr>
          <p:cNvSpPr txBox="1"/>
          <p:nvPr/>
        </p:nvSpPr>
        <p:spPr>
          <a:xfrm>
            <a:off x="283779" y="181332"/>
            <a:ext cx="9490842" cy="1077218"/>
          </a:xfrm>
          <a:prstGeom prst="rect">
            <a:avLst/>
          </a:prstGeom>
          <a:noFill/>
        </p:spPr>
        <p:txBody>
          <a:bodyPr wrap="square" rtlCol="0">
            <a:spAutoFit/>
          </a:bodyPr>
          <a:lstStyle/>
          <a:p>
            <a:r>
              <a:rPr lang="en-US" sz="3200" dirty="0">
                <a:solidFill>
                  <a:srgbClr val="C00000"/>
                </a:solidFill>
                <a:latin typeface="Arial Black" panose="020B0A04020102020204" pitchFamily="34" charset="0"/>
              </a:rPr>
              <a:t>MERITS AND DEMERITS OF WIND ENERGY</a:t>
            </a:r>
            <a:endParaRPr lang="en-IN" sz="3200" dirty="0">
              <a:solidFill>
                <a:srgbClr val="C00000"/>
              </a:solidFill>
              <a:latin typeface="Arial Black" panose="020B0A04020102020204" pitchFamily="34" charset="0"/>
            </a:endParaRPr>
          </a:p>
        </p:txBody>
      </p:sp>
      <p:sp>
        <p:nvSpPr>
          <p:cNvPr id="5" name="TextBox 4">
            <a:extLst>
              <a:ext uri="{FF2B5EF4-FFF2-40B4-BE49-F238E27FC236}">
                <a16:creationId xmlns:a16="http://schemas.microsoft.com/office/drawing/2014/main" id="{89837A12-37A8-E81D-9B3D-6FC7A8982411}"/>
              </a:ext>
            </a:extLst>
          </p:cNvPr>
          <p:cNvSpPr txBox="1"/>
          <p:nvPr/>
        </p:nvSpPr>
        <p:spPr>
          <a:xfrm>
            <a:off x="283779" y="1686910"/>
            <a:ext cx="11603421" cy="3785652"/>
          </a:xfrm>
          <a:prstGeom prst="rect">
            <a:avLst/>
          </a:prstGeom>
          <a:noFill/>
        </p:spPr>
        <p:txBody>
          <a:bodyPr wrap="square" rtlCol="0">
            <a:spAutoFit/>
          </a:bodyPr>
          <a:lstStyle/>
          <a:p>
            <a:pPr marL="342900" indent="-342900">
              <a:buAutoNum type="arabicPeriod"/>
            </a:pPr>
            <a:r>
              <a:rPr lang="en-US" sz="2800" dirty="0">
                <a:latin typeface="Calisto MT" panose="02040603050505030304" pitchFamily="18" charset="0"/>
              </a:rPr>
              <a:t>It is a renewable energy available at free of cost</a:t>
            </a:r>
          </a:p>
          <a:p>
            <a:pPr marL="342900" indent="-342900">
              <a:buAutoNum type="arabicPeriod"/>
            </a:pPr>
            <a:r>
              <a:rPr lang="en-US" sz="2800" dirty="0">
                <a:latin typeface="Calisto MT" panose="02040603050505030304" pitchFamily="18" charset="0"/>
              </a:rPr>
              <a:t>Power generated is cheaper with nil recurring expenses.</a:t>
            </a:r>
          </a:p>
          <a:p>
            <a:pPr marL="342900" indent="-342900">
              <a:buAutoNum type="arabicPeriod"/>
            </a:pPr>
            <a:r>
              <a:rPr lang="en-US" sz="2800" dirty="0">
                <a:latin typeface="Calisto MT" panose="02040603050505030304" pitchFamily="18" charset="0"/>
              </a:rPr>
              <a:t>It is non-polluting and environment friendly sources of energy</a:t>
            </a:r>
          </a:p>
          <a:p>
            <a:pPr marL="342900" indent="-342900">
              <a:buAutoNum type="arabicPeriod"/>
            </a:pPr>
            <a:r>
              <a:rPr lang="en-US" sz="2800" dirty="0">
                <a:latin typeface="Calisto MT" panose="02040603050505030304" pitchFamily="18" charset="0"/>
              </a:rPr>
              <a:t>Wind mills are suitable to erect at on shore ,remote and rural areas where wind blows with required intensity.</a:t>
            </a:r>
          </a:p>
          <a:p>
            <a:endParaRPr lang="en-US" sz="2800"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IN" dirty="0"/>
          </a:p>
          <a:p>
            <a:pPr marL="342900" indent="-342900">
              <a:buAutoNum type="arabicPeriod"/>
            </a:pPr>
            <a:endParaRPr lang="en-US" dirty="0"/>
          </a:p>
        </p:txBody>
      </p:sp>
      <p:sp>
        <p:nvSpPr>
          <p:cNvPr id="7" name="TextBox 6">
            <a:extLst>
              <a:ext uri="{FF2B5EF4-FFF2-40B4-BE49-F238E27FC236}">
                <a16:creationId xmlns:a16="http://schemas.microsoft.com/office/drawing/2014/main" id="{EC80BA4F-7C58-ED87-B271-C19FC9CF8A43}"/>
              </a:ext>
            </a:extLst>
          </p:cNvPr>
          <p:cNvSpPr txBox="1"/>
          <p:nvPr/>
        </p:nvSpPr>
        <p:spPr>
          <a:xfrm>
            <a:off x="409903" y="1229710"/>
            <a:ext cx="2554014" cy="523220"/>
          </a:xfrm>
          <a:prstGeom prst="rect">
            <a:avLst/>
          </a:prstGeom>
          <a:noFill/>
        </p:spPr>
        <p:txBody>
          <a:bodyPr wrap="square" rtlCol="0">
            <a:spAutoFit/>
          </a:bodyPr>
          <a:lstStyle/>
          <a:p>
            <a:r>
              <a:rPr lang="en-US" sz="2800" b="1" dirty="0"/>
              <a:t>MERITS</a:t>
            </a:r>
            <a:endParaRPr lang="en-IN" sz="2800" b="1" dirty="0"/>
          </a:p>
        </p:txBody>
      </p:sp>
      <p:sp>
        <p:nvSpPr>
          <p:cNvPr id="8" name="TextBox 7">
            <a:extLst>
              <a:ext uri="{FF2B5EF4-FFF2-40B4-BE49-F238E27FC236}">
                <a16:creationId xmlns:a16="http://schemas.microsoft.com/office/drawing/2014/main" id="{C3A90B64-BFAA-76D1-E0E8-AAFC98E76C8E}"/>
              </a:ext>
            </a:extLst>
          </p:cNvPr>
          <p:cNvSpPr txBox="1"/>
          <p:nvPr/>
        </p:nvSpPr>
        <p:spPr>
          <a:xfrm>
            <a:off x="409903" y="4198037"/>
            <a:ext cx="2554014" cy="523220"/>
          </a:xfrm>
          <a:prstGeom prst="rect">
            <a:avLst/>
          </a:prstGeom>
          <a:noFill/>
        </p:spPr>
        <p:txBody>
          <a:bodyPr wrap="square" rtlCol="0">
            <a:spAutoFit/>
          </a:bodyPr>
          <a:lstStyle/>
          <a:p>
            <a:r>
              <a:rPr lang="en-US" sz="2800" b="1" dirty="0"/>
              <a:t>DEMERITS</a:t>
            </a:r>
            <a:endParaRPr lang="en-IN" sz="2800" b="1" dirty="0"/>
          </a:p>
        </p:txBody>
      </p:sp>
      <p:sp>
        <p:nvSpPr>
          <p:cNvPr id="9" name="TextBox 8">
            <a:extLst>
              <a:ext uri="{FF2B5EF4-FFF2-40B4-BE49-F238E27FC236}">
                <a16:creationId xmlns:a16="http://schemas.microsoft.com/office/drawing/2014/main" id="{787E9398-AC53-D170-BE05-38C448CE89EC}"/>
              </a:ext>
            </a:extLst>
          </p:cNvPr>
          <p:cNvSpPr txBox="1"/>
          <p:nvPr/>
        </p:nvSpPr>
        <p:spPr>
          <a:xfrm>
            <a:off x="304800" y="4857009"/>
            <a:ext cx="11477297" cy="1231106"/>
          </a:xfrm>
          <a:prstGeom prst="rect">
            <a:avLst/>
          </a:prstGeom>
          <a:noFill/>
        </p:spPr>
        <p:txBody>
          <a:bodyPr wrap="square" rtlCol="0">
            <a:spAutoFit/>
          </a:bodyPr>
          <a:lstStyle/>
          <a:p>
            <a:pPr marL="342900" indent="-342900">
              <a:buAutoNum type="arabicPeriod"/>
            </a:pPr>
            <a:r>
              <a:rPr lang="en-US" sz="2800" dirty="0">
                <a:latin typeface="Calisto MT" panose="02040603050505030304" pitchFamily="18" charset="0"/>
              </a:rPr>
              <a:t>Winds powers doesn’t suitable for large scale generation</a:t>
            </a:r>
          </a:p>
          <a:p>
            <a:pPr marL="342900" indent="-342900">
              <a:buAutoNum type="arabicPeriod"/>
            </a:pPr>
            <a:r>
              <a:rPr lang="en-US" sz="2800" dirty="0">
                <a:latin typeface="Calisto MT" panose="02040603050505030304" pitchFamily="18" charset="0"/>
              </a:rPr>
              <a:t>Favourable in geographic location which away from cities.</a:t>
            </a:r>
          </a:p>
          <a:p>
            <a:endParaRPr lang="en-IN" dirty="0"/>
          </a:p>
        </p:txBody>
      </p:sp>
    </p:spTree>
    <p:extLst>
      <p:ext uri="{BB962C8B-B14F-4D97-AF65-F5344CB8AC3E}">
        <p14:creationId xmlns:p14="http://schemas.microsoft.com/office/powerpoint/2010/main" val="2747998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346846-D470-01F3-8027-D85EF9783CEF}"/>
              </a:ext>
            </a:extLst>
          </p:cNvPr>
          <p:cNvSpPr txBox="1"/>
          <p:nvPr/>
        </p:nvSpPr>
        <p:spPr>
          <a:xfrm>
            <a:off x="189186" y="157655"/>
            <a:ext cx="11713780" cy="707886"/>
          </a:xfrm>
          <a:prstGeom prst="rect">
            <a:avLst/>
          </a:prstGeom>
          <a:noFill/>
        </p:spPr>
        <p:txBody>
          <a:bodyPr wrap="square" rtlCol="0">
            <a:spAutoFit/>
          </a:bodyPr>
          <a:lstStyle/>
          <a:p>
            <a:r>
              <a:rPr lang="en-US" sz="4000" b="1" dirty="0">
                <a:solidFill>
                  <a:srgbClr val="FF0000"/>
                </a:solidFill>
              </a:rPr>
              <a:t>                                </a:t>
            </a:r>
            <a:r>
              <a:rPr lang="en-US" sz="3600" b="1" dirty="0">
                <a:solidFill>
                  <a:srgbClr val="C00000"/>
                </a:solidFill>
                <a:latin typeface="Arial Black" panose="020B0A04020102020204" pitchFamily="34" charset="0"/>
              </a:rPr>
              <a:t>OCEAN ENERGY</a:t>
            </a:r>
            <a:endParaRPr lang="en-IN" sz="4000" b="1" dirty="0">
              <a:solidFill>
                <a:srgbClr val="C00000"/>
              </a:solidFill>
              <a:latin typeface="Arial Black" panose="020B0A04020102020204" pitchFamily="34" charset="0"/>
            </a:endParaRPr>
          </a:p>
        </p:txBody>
      </p:sp>
      <p:sp>
        <p:nvSpPr>
          <p:cNvPr id="4" name="TextBox 3">
            <a:extLst>
              <a:ext uri="{FF2B5EF4-FFF2-40B4-BE49-F238E27FC236}">
                <a16:creationId xmlns:a16="http://schemas.microsoft.com/office/drawing/2014/main" id="{7D1E3732-9F99-B6BA-ED0A-E07C61216209}"/>
              </a:ext>
            </a:extLst>
          </p:cNvPr>
          <p:cNvSpPr txBox="1"/>
          <p:nvPr/>
        </p:nvSpPr>
        <p:spPr>
          <a:xfrm>
            <a:off x="189186" y="865541"/>
            <a:ext cx="11540359" cy="4893647"/>
          </a:xfrm>
          <a:prstGeom prst="rect">
            <a:avLst/>
          </a:prstGeom>
          <a:noFill/>
        </p:spPr>
        <p:txBody>
          <a:bodyPr wrap="square" rtlCol="0">
            <a:spAutoFit/>
          </a:bodyPr>
          <a:lstStyle/>
          <a:p>
            <a:r>
              <a:rPr lang="en-US" sz="2800" dirty="0">
                <a:latin typeface="Calisto MT" panose="02040603050505030304" pitchFamily="18" charset="0"/>
              </a:rPr>
              <a:t>Seas and oceans are large water bodies. Seas absorb solar radiation and large amounts of solar energy are stored in the tides and waves of the ocean. Ocean energy is non-polluting in nature and suitable at a few places only</a:t>
            </a:r>
          </a:p>
          <a:p>
            <a:endParaRPr lang="en-US" sz="2800" dirty="0">
              <a:latin typeface="Calisto MT" panose="02040603050505030304" pitchFamily="18" charset="0"/>
            </a:endParaRPr>
          </a:p>
          <a:p>
            <a:pPr marL="457200" indent="-457200">
              <a:buAutoNum type="arabicParenR"/>
            </a:pPr>
            <a:r>
              <a:rPr lang="en-US" sz="2400" dirty="0">
                <a:latin typeface="Calisto MT" panose="02040603050505030304" pitchFamily="18" charset="0"/>
              </a:rPr>
              <a:t>Ocean Thermal Energy Conversion: The oceans collect and store huge quantities of solar on the surface of the water while the temperature of deepwater is very low.</a:t>
            </a:r>
          </a:p>
          <a:p>
            <a:endParaRPr lang="en-US" sz="2400" dirty="0">
              <a:latin typeface="Calisto MT" panose="02040603050505030304" pitchFamily="18" charset="0"/>
            </a:endParaRPr>
          </a:p>
          <a:p>
            <a:r>
              <a:rPr lang="en-US" sz="2400" dirty="0">
                <a:latin typeface="Calisto MT" panose="02040603050505030304" pitchFamily="18" charset="0"/>
              </a:rPr>
              <a:t>2)   Tidal energy: Tidal waves of the sea can be used to turn turbine and generate electricity. The first tidal power plant of 600 - 1000 \text{ MW} capacity is proposed to be set up at Kandla in Gulf of Kutch.</a:t>
            </a:r>
          </a:p>
          <a:p>
            <a:pPr marL="457200" indent="-457200">
              <a:buAutoNum type="arabicParenR"/>
            </a:pPr>
            <a:endParaRPr lang="en-IN" sz="2800" dirty="0"/>
          </a:p>
        </p:txBody>
      </p:sp>
    </p:spTree>
    <p:extLst>
      <p:ext uri="{BB962C8B-B14F-4D97-AF65-F5344CB8AC3E}">
        <p14:creationId xmlns:p14="http://schemas.microsoft.com/office/powerpoint/2010/main" val="27581903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930A0C-8EF3-418C-78B6-0894146798CF}"/>
              </a:ext>
            </a:extLst>
          </p:cNvPr>
          <p:cNvSpPr txBox="1"/>
          <p:nvPr/>
        </p:nvSpPr>
        <p:spPr>
          <a:xfrm>
            <a:off x="346841" y="346841"/>
            <a:ext cx="11845159" cy="646331"/>
          </a:xfrm>
          <a:prstGeom prst="rect">
            <a:avLst/>
          </a:prstGeom>
          <a:noFill/>
        </p:spPr>
        <p:txBody>
          <a:bodyPr wrap="square" rtlCol="0">
            <a:spAutoFit/>
          </a:bodyPr>
          <a:lstStyle/>
          <a:p>
            <a:r>
              <a:rPr lang="en-US" sz="3600" dirty="0">
                <a:solidFill>
                  <a:srgbClr val="C00000"/>
                </a:solidFill>
                <a:latin typeface="Arial Black" panose="020B0A04020102020204" pitchFamily="34" charset="0"/>
              </a:rPr>
              <a:t>NUCLEAR ENERGY OR ATOMIC POWER</a:t>
            </a:r>
            <a:endParaRPr lang="en-IN" sz="3600" dirty="0">
              <a:solidFill>
                <a:srgbClr val="C00000"/>
              </a:solidFill>
              <a:latin typeface="Arial Black" panose="020B0A04020102020204" pitchFamily="34" charset="0"/>
            </a:endParaRPr>
          </a:p>
        </p:txBody>
      </p:sp>
      <p:sp>
        <p:nvSpPr>
          <p:cNvPr id="3" name="TextBox 2">
            <a:extLst>
              <a:ext uri="{FF2B5EF4-FFF2-40B4-BE49-F238E27FC236}">
                <a16:creationId xmlns:a16="http://schemas.microsoft.com/office/drawing/2014/main" id="{D358D534-9981-1ED3-0F0D-94FA0455F111}"/>
              </a:ext>
            </a:extLst>
          </p:cNvPr>
          <p:cNvSpPr txBox="1"/>
          <p:nvPr/>
        </p:nvSpPr>
        <p:spPr>
          <a:xfrm>
            <a:off x="157655" y="1054727"/>
            <a:ext cx="11845159" cy="4462760"/>
          </a:xfrm>
          <a:prstGeom prst="rect">
            <a:avLst/>
          </a:prstGeom>
          <a:noFill/>
        </p:spPr>
        <p:txBody>
          <a:bodyPr wrap="square" rtlCol="0">
            <a:spAutoFit/>
          </a:bodyPr>
          <a:lstStyle/>
          <a:p>
            <a:r>
              <a:rPr lang="en-US" dirty="0"/>
              <a:t> </a:t>
            </a:r>
            <a:r>
              <a:rPr lang="en-US" sz="2800" dirty="0">
                <a:latin typeface="Calisto MT" panose="02040603050505030304" pitchFamily="18" charset="0"/>
              </a:rPr>
              <a:t>It is the energy which is trapped inside the atom. It is the tremendous energy in terms of heat is released during fission or fusion of certain radioactive elements</a:t>
            </a:r>
            <a:r>
              <a:rPr lang="en-US" sz="3200" dirty="0"/>
              <a:t>.</a:t>
            </a:r>
          </a:p>
          <a:p>
            <a:r>
              <a:rPr lang="en-US" sz="2800" dirty="0">
                <a:solidFill>
                  <a:srgbClr val="C00000"/>
                </a:solidFill>
                <a:latin typeface="Calisto MT" panose="02040603050505030304" pitchFamily="18" charset="0"/>
              </a:rPr>
              <a:t>Nuclear Fusion</a:t>
            </a:r>
            <a:r>
              <a:rPr lang="en-US" sz="2800" dirty="0">
                <a:solidFill>
                  <a:srgbClr val="FF0000"/>
                </a:solidFill>
              </a:rPr>
              <a:t>.</a:t>
            </a:r>
          </a:p>
          <a:p>
            <a:pPr marL="457200" indent="-457200">
              <a:buFont typeface="Wingdings" panose="05000000000000000000" pitchFamily="2" charset="2"/>
              <a:buChar char="§"/>
            </a:pPr>
            <a:r>
              <a:rPr lang="en-US" sz="2800" dirty="0">
                <a:latin typeface="Calisto MT" panose="02040603050505030304" pitchFamily="18" charset="0"/>
              </a:rPr>
              <a:t>The nucleus in atoms is split by fast moving neutrons and in turn a tremendous amount of energy in the form of heat, light etc is released by a chain of reactions. Uranium is used as fuel. </a:t>
            </a:r>
          </a:p>
          <a:p>
            <a:pPr marL="457200" indent="-457200">
              <a:buFont typeface="Wingdings" panose="05000000000000000000" pitchFamily="2" charset="2"/>
              <a:buChar char="§"/>
            </a:pPr>
            <a:r>
              <a:rPr lang="en-US" sz="2800" dirty="0">
                <a:latin typeface="Calisto MT" panose="02040603050505030304" pitchFamily="18" charset="0"/>
              </a:rPr>
              <a:t>The energy produced even in this process is utilized to generate electricity or else destroy normally all at once, results a tremendous explosion as in the case of Atom bomb.</a:t>
            </a:r>
            <a:endParaRPr lang="en-IN" sz="2800" dirty="0">
              <a:latin typeface="Calisto MT" panose="02040603050505030304" pitchFamily="18" charset="0"/>
            </a:endParaRPr>
          </a:p>
        </p:txBody>
      </p:sp>
    </p:spTree>
    <p:extLst>
      <p:ext uri="{BB962C8B-B14F-4D97-AF65-F5344CB8AC3E}">
        <p14:creationId xmlns:p14="http://schemas.microsoft.com/office/powerpoint/2010/main" val="16956487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82E9D9-19D6-B7F9-E024-64CD0006136D}"/>
              </a:ext>
            </a:extLst>
          </p:cNvPr>
          <p:cNvSpPr txBox="1"/>
          <p:nvPr/>
        </p:nvSpPr>
        <p:spPr>
          <a:xfrm>
            <a:off x="367861" y="369707"/>
            <a:ext cx="4840014" cy="646331"/>
          </a:xfrm>
          <a:prstGeom prst="rect">
            <a:avLst/>
          </a:prstGeom>
          <a:noFill/>
        </p:spPr>
        <p:txBody>
          <a:bodyPr wrap="square" rtlCol="0">
            <a:spAutoFit/>
          </a:bodyPr>
          <a:lstStyle/>
          <a:p>
            <a:r>
              <a:rPr lang="en-IN" sz="3600" dirty="0">
                <a:solidFill>
                  <a:srgbClr val="C00000"/>
                </a:solidFill>
                <a:latin typeface="Arial Black" panose="020B0A04020102020204" pitchFamily="34" charset="0"/>
              </a:rPr>
              <a:t>Bio mass energy</a:t>
            </a:r>
            <a:endParaRPr lang="en-IN" sz="1600" dirty="0">
              <a:solidFill>
                <a:srgbClr val="C00000"/>
              </a:solidFill>
              <a:latin typeface="Arial Black" panose="020B0A04020102020204" pitchFamily="34" charset="0"/>
            </a:endParaRPr>
          </a:p>
        </p:txBody>
      </p:sp>
      <p:sp>
        <p:nvSpPr>
          <p:cNvPr id="5" name="TextBox 4">
            <a:extLst>
              <a:ext uri="{FF2B5EF4-FFF2-40B4-BE49-F238E27FC236}">
                <a16:creationId xmlns:a16="http://schemas.microsoft.com/office/drawing/2014/main" id="{DE823D81-4F99-DC11-D3FB-653D7B3AF26A}"/>
              </a:ext>
            </a:extLst>
          </p:cNvPr>
          <p:cNvSpPr txBox="1"/>
          <p:nvPr/>
        </p:nvSpPr>
        <p:spPr>
          <a:xfrm>
            <a:off x="6385035" y="378471"/>
            <a:ext cx="5439104" cy="646331"/>
          </a:xfrm>
          <a:prstGeom prst="rect">
            <a:avLst/>
          </a:prstGeom>
          <a:noFill/>
        </p:spPr>
        <p:txBody>
          <a:bodyPr wrap="square" rtlCol="0">
            <a:spAutoFit/>
          </a:bodyPr>
          <a:lstStyle/>
          <a:p>
            <a:r>
              <a:rPr lang="en-IN" sz="3600" dirty="0">
                <a:solidFill>
                  <a:srgbClr val="C00000"/>
                </a:solidFill>
                <a:latin typeface="Arial Black" panose="020B0A04020102020204" pitchFamily="34" charset="0"/>
              </a:rPr>
              <a:t>Bio-gas</a:t>
            </a:r>
          </a:p>
        </p:txBody>
      </p:sp>
      <p:sp>
        <p:nvSpPr>
          <p:cNvPr id="6" name="TextBox 5">
            <a:extLst>
              <a:ext uri="{FF2B5EF4-FFF2-40B4-BE49-F238E27FC236}">
                <a16:creationId xmlns:a16="http://schemas.microsoft.com/office/drawing/2014/main" id="{1A80EFCE-1B4A-1203-AC05-C4DCD3E667FA}"/>
              </a:ext>
            </a:extLst>
          </p:cNvPr>
          <p:cNvSpPr txBox="1"/>
          <p:nvPr/>
        </p:nvSpPr>
        <p:spPr>
          <a:xfrm>
            <a:off x="0" y="1102023"/>
            <a:ext cx="6096000" cy="3046988"/>
          </a:xfrm>
          <a:prstGeom prst="rect">
            <a:avLst/>
          </a:prstGeom>
          <a:noFill/>
        </p:spPr>
        <p:txBody>
          <a:bodyPr wrap="square" rtlCol="0">
            <a:spAutoFit/>
          </a:bodyPr>
          <a:lstStyle/>
          <a:p>
            <a:pPr marL="285750" indent="-285750">
              <a:buFont typeface="Wingdings" panose="05000000000000000000" pitchFamily="2" charset="2"/>
              <a:buChar char="§"/>
            </a:pPr>
            <a:r>
              <a:rPr lang="en-US" sz="2400" dirty="0">
                <a:latin typeface="Calisto MT" panose="02040603050505030304" pitchFamily="18" charset="0"/>
              </a:rPr>
              <a:t>Bio-mass is an organic material from living beings or its residues.</a:t>
            </a:r>
          </a:p>
          <a:p>
            <a:pPr marL="285750" indent="-285750">
              <a:buFont typeface="Wingdings" panose="05000000000000000000" pitchFamily="2" charset="2"/>
              <a:buChar char="§"/>
            </a:pPr>
            <a:r>
              <a:rPr lang="en-US" sz="2400" dirty="0">
                <a:latin typeface="Calisto MT" panose="02040603050505030304" pitchFamily="18" charset="0"/>
              </a:rPr>
              <a:t> It is a renewable source of energy and is useful as a fuel or can be converted to generate electricity. </a:t>
            </a:r>
          </a:p>
          <a:p>
            <a:pPr marL="285750" indent="-285750">
              <a:buFont typeface="Wingdings" panose="05000000000000000000" pitchFamily="2" charset="2"/>
              <a:buChar char="§"/>
            </a:pPr>
            <a:r>
              <a:rPr lang="en-US" sz="2400" dirty="0">
                <a:latin typeface="Calisto MT" panose="02040603050505030304" pitchFamily="18" charset="0"/>
              </a:rPr>
              <a:t>The bio-mass energy sources include Wood, animal manure, sugarcane waste, agriculture crops, human and other wastes</a:t>
            </a:r>
            <a:r>
              <a:rPr lang="en-US" sz="2400" dirty="0"/>
              <a:t>.</a:t>
            </a:r>
          </a:p>
        </p:txBody>
      </p:sp>
      <p:sp>
        <p:nvSpPr>
          <p:cNvPr id="7" name="TextBox 6">
            <a:extLst>
              <a:ext uri="{FF2B5EF4-FFF2-40B4-BE49-F238E27FC236}">
                <a16:creationId xmlns:a16="http://schemas.microsoft.com/office/drawing/2014/main" id="{5C039123-C35C-C0F1-3F38-B184EB51D9B3}"/>
              </a:ext>
            </a:extLst>
          </p:cNvPr>
          <p:cNvSpPr txBox="1"/>
          <p:nvPr/>
        </p:nvSpPr>
        <p:spPr>
          <a:xfrm>
            <a:off x="6243145" y="1102023"/>
            <a:ext cx="5722883" cy="2677656"/>
          </a:xfrm>
          <a:prstGeom prst="rect">
            <a:avLst/>
          </a:prstGeom>
          <a:noFill/>
        </p:spPr>
        <p:txBody>
          <a:bodyPr wrap="square" rtlCol="0">
            <a:spAutoFit/>
          </a:bodyPr>
          <a:lstStyle/>
          <a:p>
            <a:pPr marL="285750" indent="-285750">
              <a:buFont typeface="Wingdings" panose="05000000000000000000" pitchFamily="2" charset="2"/>
              <a:buChar char="§"/>
            </a:pPr>
            <a:r>
              <a:rPr lang="en-US" sz="2400" dirty="0">
                <a:latin typeface="Calisto MT" panose="02040603050505030304" pitchFamily="18" charset="0"/>
              </a:rPr>
              <a:t>Bio-gas is a sustainable source of energy by virtue of its production from available natural organic wastes of cattle dung, human excreta, poultry waste, plant leaves, paddy husk etc.</a:t>
            </a:r>
          </a:p>
          <a:p>
            <a:pPr marL="285750" indent="-285750">
              <a:buFont typeface="Wingdings" panose="05000000000000000000" pitchFamily="2" charset="2"/>
              <a:buChar char="§"/>
            </a:pPr>
            <a:r>
              <a:rPr lang="en-US" sz="2400" dirty="0">
                <a:latin typeface="Calisto MT" panose="02040603050505030304" pitchFamily="18" charset="0"/>
              </a:rPr>
              <a:t>  Heat value of biogas can be improved by reducing its</a:t>
            </a:r>
            <a:endParaRPr lang="en-IN" sz="2400" dirty="0">
              <a:latin typeface="Calisto MT" panose="02040603050505030304" pitchFamily="18" charset="0"/>
            </a:endParaRPr>
          </a:p>
        </p:txBody>
      </p:sp>
    </p:spTree>
    <p:extLst>
      <p:ext uri="{BB962C8B-B14F-4D97-AF65-F5344CB8AC3E}">
        <p14:creationId xmlns:p14="http://schemas.microsoft.com/office/powerpoint/2010/main" val="27818739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8F8FAA-76CF-B54B-3C7C-62B37D832E34}"/>
              </a:ext>
            </a:extLst>
          </p:cNvPr>
          <p:cNvSpPr txBox="1"/>
          <p:nvPr/>
        </p:nvSpPr>
        <p:spPr>
          <a:xfrm>
            <a:off x="3114675" y="185738"/>
            <a:ext cx="9686925" cy="769441"/>
          </a:xfrm>
          <a:prstGeom prst="rect">
            <a:avLst/>
          </a:prstGeom>
          <a:noFill/>
        </p:spPr>
        <p:txBody>
          <a:bodyPr wrap="square" rtlCol="0">
            <a:spAutoFit/>
          </a:bodyPr>
          <a:lstStyle/>
          <a:p>
            <a:r>
              <a:rPr lang="en-US" sz="4400" b="1" dirty="0">
                <a:solidFill>
                  <a:srgbClr val="C00000"/>
                </a:solidFill>
                <a:latin typeface="Arial Black" panose="020B0A04020102020204" pitchFamily="34" charset="0"/>
              </a:rPr>
              <a:t>LANDRESOURCES</a:t>
            </a:r>
            <a:endParaRPr lang="en-IN" sz="4400" b="1" dirty="0">
              <a:solidFill>
                <a:srgbClr val="C00000"/>
              </a:solidFill>
              <a:latin typeface="Arial Black" panose="020B0A04020102020204" pitchFamily="34" charset="0"/>
            </a:endParaRPr>
          </a:p>
        </p:txBody>
      </p:sp>
      <p:sp>
        <p:nvSpPr>
          <p:cNvPr id="4" name="TextBox 3">
            <a:extLst>
              <a:ext uri="{FF2B5EF4-FFF2-40B4-BE49-F238E27FC236}">
                <a16:creationId xmlns:a16="http://schemas.microsoft.com/office/drawing/2014/main" id="{C79B778A-763D-C19A-DFC6-FC4ACF6A0A04}"/>
              </a:ext>
            </a:extLst>
          </p:cNvPr>
          <p:cNvSpPr txBox="1"/>
          <p:nvPr/>
        </p:nvSpPr>
        <p:spPr>
          <a:xfrm>
            <a:off x="189186" y="1016735"/>
            <a:ext cx="11619186" cy="2246769"/>
          </a:xfrm>
          <a:prstGeom prst="rect">
            <a:avLst/>
          </a:prstGeom>
          <a:noFill/>
        </p:spPr>
        <p:txBody>
          <a:bodyPr wrap="square" rtlCol="0">
            <a:spAutoFit/>
          </a:bodyPr>
          <a:lstStyle/>
          <a:p>
            <a:r>
              <a:rPr lang="en-US" sz="2800" dirty="0">
                <a:latin typeface="Calisto MT" panose="02040603050505030304" pitchFamily="18" charset="0"/>
              </a:rPr>
              <a:t>Land is a naturally occurring finite resource. It provides the base for survival of living beings. </a:t>
            </a:r>
          </a:p>
          <a:p>
            <a:r>
              <a:rPr lang="en-US" sz="2800" dirty="0">
                <a:latin typeface="Calisto MT" panose="02040603050505030304" pitchFamily="18" charset="0"/>
              </a:rPr>
              <a:t>Landforms such as hills ,valleys ,plains , river basins and wetlands includes different resources generating area that the people living in them depend on .</a:t>
            </a:r>
            <a:endParaRPr lang="en-IN" sz="2800" dirty="0">
              <a:latin typeface="Calisto MT" panose="02040603050505030304" pitchFamily="18" charset="0"/>
            </a:endParaRPr>
          </a:p>
        </p:txBody>
      </p:sp>
      <p:sp>
        <p:nvSpPr>
          <p:cNvPr id="5" name="TextBox 4">
            <a:extLst>
              <a:ext uri="{FF2B5EF4-FFF2-40B4-BE49-F238E27FC236}">
                <a16:creationId xmlns:a16="http://schemas.microsoft.com/office/drawing/2014/main" id="{6942203A-1B6F-EB28-592F-DE8670F75EB7}"/>
              </a:ext>
            </a:extLst>
          </p:cNvPr>
          <p:cNvSpPr txBox="1"/>
          <p:nvPr/>
        </p:nvSpPr>
        <p:spPr>
          <a:xfrm>
            <a:off x="286407" y="3239814"/>
            <a:ext cx="11619185" cy="1015663"/>
          </a:xfrm>
          <a:prstGeom prst="rect">
            <a:avLst/>
          </a:prstGeom>
          <a:noFill/>
        </p:spPr>
        <p:txBody>
          <a:bodyPr wrap="square" rtlCol="0">
            <a:spAutoFit/>
          </a:bodyPr>
          <a:lstStyle/>
          <a:p>
            <a:r>
              <a:rPr lang="en-US" sz="3200" b="1" dirty="0">
                <a:solidFill>
                  <a:srgbClr val="C00000"/>
                </a:solidFill>
                <a:latin typeface="Arial Black" panose="020B0A04020102020204" pitchFamily="34" charset="0"/>
              </a:rPr>
              <a:t>LAND</a:t>
            </a:r>
            <a:r>
              <a:rPr lang="en-US" sz="2800" b="1" dirty="0">
                <a:solidFill>
                  <a:srgbClr val="C00000"/>
                </a:solidFill>
                <a:latin typeface="Arial Black" panose="020B0A04020102020204" pitchFamily="34" charset="0"/>
              </a:rPr>
              <a:t> DEGRADATION AND CONTROL OF LAND DEGRADATION</a:t>
            </a:r>
            <a:endParaRPr lang="en-IN" sz="2800" b="1" dirty="0">
              <a:solidFill>
                <a:srgbClr val="C00000"/>
              </a:solidFill>
              <a:latin typeface="Arial Black" panose="020B0A04020102020204" pitchFamily="34" charset="0"/>
            </a:endParaRPr>
          </a:p>
        </p:txBody>
      </p:sp>
      <p:sp>
        <p:nvSpPr>
          <p:cNvPr id="6" name="TextBox 5">
            <a:extLst>
              <a:ext uri="{FF2B5EF4-FFF2-40B4-BE49-F238E27FC236}">
                <a16:creationId xmlns:a16="http://schemas.microsoft.com/office/drawing/2014/main" id="{9F000BF3-107F-43F9-113E-0B90FE197F03}"/>
              </a:ext>
            </a:extLst>
          </p:cNvPr>
          <p:cNvSpPr txBox="1"/>
          <p:nvPr/>
        </p:nvSpPr>
        <p:spPr>
          <a:xfrm>
            <a:off x="286407" y="4177862"/>
            <a:ext cx="11521965" cy="2092881"/>
          </a:xfrm>
          <a:prstGeom prst="rect">
            <a:avLst/>
          </a:prstGeom>
          <a:noFill/>
        </p:spPr>
        <p:txBody>
          <a:bodyPr wrap="square" rtlCol="0">
            <a:spAutoFit/>
          </a:bodyPr>
          <a:lstStyle/>
          <a:p>
            <a:r>
              <a:rPr lang="en-US" sz="2800" dirty="0">
                <a:latin typeface="Calisto MT" panose="02040603050505030304" pitchFamily="18" charset="0"/>
              </a:rPr>
              <a:t>Land degradation can be defined as any change in the land that alter its  conditions or reduces its quantity .Land degradation occur due to both natural disaster like volcanic eruption ,earthquake , heavy rain ,fir  etc or human induced activities</a:t>
            </a:r>
          </a:p>
          <a:p>
            <a:endParaRPr lang="en-IN" dirty="0"/>
          </a:p>
        </p:txBody>
      </p:sp>
    </p:spTree>
    <p:extLst>
      <p:ext uri="{BB962C8B-B14F-4D97-AF65-F5344CB8AC3E}">
        <p14:creationId xmlns:p14="http://schemas.microsoft.com/office/powerpoint/2010/main" val="15324885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BD6D66-4738-02D6-80C9-4199E1416F50}"/>
              </a:ext>
            </a:extLst>
          </p:cNvPr>
          <p:cNvSpPr txBox="1"/>
          <p:nvPr/>
        </p:nvSpPr>
        <p:spPr>
          <a:xfrm>
            <a:off x="137427" y="0"/>
            <a:ext cx="11666483" cy="6986528"/>
          </a:xfrm>
          <a:prstGeom prst="rect">
            <a:avLst/>
          </a:prstGeom>
          <a:noFill/>
        </p:spPr>
        <p:txBody>
          <a:bodyPr wrap="square" rtlCol="0">
            <a:spAutoFit/>
          </a:bodyPr>
          <a:lstStyle/>
          <a:p>
            <a:r>
              <a:rPr lang="en-US" sz="2800" dirty="0">
                <a:latin typeface="Calisto MT" panose="02040603050505030304" pitchFamily="18" charset="0"/>
              </a:rPr>
              <a:t>Land cleaning and Deforestration ; mining activity in forest area ; urban conversion ;  brings more land under cultivation ; soil pollution lead to land degradation </a:t>
            </a:r>
          </a:p>
          <a:p>
            <a:endParaRPr lang="en-US" sz="2800" dirty="0">
              <a:latin typeface="Calisto MT" panose="02040603050505030304" pitchFamily="18" charset="0"/>
            </a:endParaRPr>
          </a:p>
          <a:p>
            <a:r>
              <a:rPr lang="en-US" sz="2800" dirty="0">
                <a:latin typeface="Calisto MT" panose="02040603050505030304" pitchFamily="18" charset="0"/>
              </a:rPr>
              <a:t> The methods that are followed for the prevention of land degradation are called soil conservation methods are </a:t>
            </a:r>
          </a:p>
          <a:p>
            <a:endParaRPr lang="en-US" sz="2800" dirty="0">
              <a:latin typeface="Calisto MT" panose="02040603050505030304" pitchFamily="18" charset="0"/>
            </a:endParaRPr>
          </a:p>
          <a:p>
            <a:r>
              <a:rPr lang="en-US" sz="2800" dirty="0">
                <a:latin typeface="Calisto MT" panose="02040603050505030304" pitchFamily="18" charset="0"/>
              </a:rPr>
              <a:t> a) </a:t>
            </a:r>
            <a:r>
              <a:rPr lang="en-US" sz="2800" b="1" dirty="0">
                <a:latin typeface="Calisto MT" panose="02040603050505030304" pitchFamily="18" charset="0"/>
              </a:rPr>
              <a:t>contour farming : </a:t>
            </a:r>
            <a:r>
              <a:rPr lang="en-US" sz="2800" dirty="0">
                <a:latin typeface="Calisto MT" panose="02040603050505030304" pitchFamily="18" charset="0"/>
              </a:rPr>
              <a:t>The land </a:t>
            </a:r>
            <a:r>
              <a:rPr lang="en-IN" sz="2800" dirty="0">
                <a:latin typeface="Calisto MT" panose="02040603050505030304" pitchFamily="18" charset="0"/>
              </a:rPr>
              <a:t> is prepared with alternative furrows  and ridges at the same level .The water is caught and held in furrows and stores which reduces run off and erosion.</a:t>
            </a:r>
          </a:p>
          <a:p>
            <a:r>
              <a:rPr lang="en-IN" sz="2800" dirty="0">
                <a:latin typeface="Calisto MT" panose="02040603050505030304" pitchFamily="18" charset="0"/>
              </a:rPr>
              <a:t>b)</a:t>
            </a:r>
            <a:r>
              <a:rPr lang="en-IN" sz="2800" b="1" dirty="0">
                <a:latin typeface="Calisto MT" panose="02040603050505030304" pitchFamily="18" charset="0"/>
              </a:rPr>
              <a:t>Mulching</a:t>
            </a:r>
            <a:r>
              <a:rPr lang="en-IN" sz="2800" dirty="0">
                <a:latin typeface="Calisto MT" panose="02040603050505030304" pitchFamily="18" charset="0"/>
              </a:rPr>
              <a:t> : Stems of maize, cotton, tobacco, etc are used as a milch to reduce soil moisture ,evaporation.</a:t>
            </a:r>
          </a:p>
          <a:p>
            <a:r>
              <a:rPr lang="en-IN" sz="2800" dirty="0">
                <a:latin typeface="Calisto MT" panose="02040603050505030304" pitchFamily="18" charset="0"/>
              </a:rPr>
              <a:t>c)</a:t>
            </a:r>
            <a:r>
              <a:rPr lang="en-IN" sz="2800" b="1" dirty="0">
                <a:latin typeface="Calisto MT" panose="02040603050505030304" pitchFamily="18" charset="0"/>
              </a:rPr>
              <a:t>Crop rotation : </a:t>
            </a:r>
            <a:r>
              <a:rPr lang="en-IN" sz="2800" dirty="0">
                <a:latin typeface="Calisto MT" panose="02040603050505030304" pitchFamily="18" charset="0"/>
              </a:rPr>
              <a:t>growing crops year after depletes the nutrients and land becomes un productive</a:t>
            </a:r>
          </a:p>
          <a:p>
            <a:r>
              <a:rPr lang="en-IN" sz="2800" dirty="0">
                <a:latin typeface="Calisto MT" panose="02040603050505030304" pitchFamily="18" charset="0"/>
              </a:rPr>
              <a:t>d)</a:t>
            </a:r>
            <a:r>
              <a:rPr lang="en-IN" sz="2800" b="1" dirty="0">
                <a:latin typeface="Calisto MT" panose="02040603050505030304" pitchFamily="18" charset="0"/>
              </a:rPr>
              <a:t>Strip cropping</a:t>
            </a:r>
            <a:r>
              <a:rPr lang="en-IN" sz="2800" dirty="0">
                <a:latin typeface="Calisto MT" panose="02040603050505030304" pitchFamily="18" charset="0"/>
              </a:rPr>
              <a:t> : it consists of planning in rows or strips along contours to check flow of water</a:t>
            </a:r>
            <a:endParaRPr lang="en-US" sz="2800" dirty="0">
              <a:latin typeface="Calisto MT" panose="02040603050505030304" pitchFamily="18" charset="0"/>
            </a:endParaRPr>
          </a:p>
        </p:txBody>
      </p:sp>
    </p:spTree>
    <p:extLst>
      <p:ext uri="{BB962C8B-B14F-4D97-AF65-F5344CB8AC3E}">
        <p14:creationId xmlns:p14="http://schemas.microsoft.com/office/powerpoint/2010/main" val="5557303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CE6E37-534B-2A6C-55A8-B7C6689DD4D3}"/>
              </a:ext>
            </a:extLst>
          </p:cNvPr>
          <p:cNvSpPr txBox="1"/>
          <p:nvPr/>
        </p:nvSpPr>
        <p:spPr>
          <a:xfrm>
            <a:off x="171189" y="162838"/>
            <a:ext cx="11849622" cy="584775"/>
          </a:xfrm>
          <a:prstGeom prst="rect">
            <a:avLst/>
          </a:prstGeom>
          <a:noFill/>
        </p:spPr>
        <p:txBody>
          <a:bodyPr wrap="square" rtlCol="0">
            <a:spAutoFit/>
          </a:bodyPr>
          <a:lstStyle/>
          <a:p>
            <a:pPr algn="ctr"/>
            <a:r>
              <a:rPr lang="en-US" sz="3200" dirty="0">
                <a:solidFill>
                  <a:srgbClr val="C00000"/>
                </a:solidFill>
                <a:latin typeface="Arial Black" panose="020B0A04020102020204" pitchFamily="34" charset="0"/>
              </a:rPr>
              <a:t>LANDSLIDES AND MAN INCLUDED LAND SLIDES</a:t>
            </a:r>
            <a:endParaRPr lang="en-IN" sz="3200" dirty="0">
              <a:solidFill>
                <a:srgbClr val="C00000"/>
              </a:solidFill>
              <a:latin typeface="Arial Black" panose="020B0A04020102020204" pitchFamily="34" charset="0"/>
            </a:endParaRPr>
          </a:p>
        </p:txBody>
      </p:sp>
      <p:sp>
        <p:nvSpPr>
          <p:cNvPr id="3" name="TextBox 2">
            <a:extLst>
              <a:ext uri="{FF2B5EF4-FFF2-40B4-BE49-F238E27FC236}">
                <a16:creationId xmlns:a16="http://schemas.microsoft.com/office/drawing/2014/main" id="{E9D13D6C-1015-ADDC-15AA-71CB3BF28E61}"/>
              </a:ext>
            </a:extLst>
          </p:cNvPr>
          <p:cNvSpPr txBox="1"/>
          <p:nvPr/>
        </p:nvSpPr>
        <p:spPr>
          <a:xfrm>
            <a:off x="137786" y="870724"/>
            <a:ext cx="11711836" cy="6124754"/>
          </a:xfrm>
          <a:prstGeom prst="rect">
            <a:avLst/>
          </a:prstGeom>
          <a:noFill/>
        </p:spPr>
        <p:txBody>
          <a:bodyPr wrap="square" rtlCol="0">
            <a:spAutoFit/>
          </a:bodyPr>
          <a:lstStyle/>
          <a:p>
            <a:r>
              <a:rPr lang="en-US" sz="2800" dirty="0">
                <a:latin typeface="Calisto MT" panose="02040603050505030304" pitchFamily="18" charset="0"/>
              </a:rPr>
              <a:t>Landslides always exist on this planet and the term land slides is used to describe a wide variety of process the result a download movement of rocks under gravitational forces ,mass movement of rocks , debris and soil down a slope of land</a:t>
            </a:r>
          </a:p>
          <a:p>
            <a:pPr marL="457200" indent="-457200">
              <a:buFont typeface="Wingdings" panose="05000000000000000000" pitchFamily="2" charset="2"/>
              <a:buChar char="§"/>
            </a:pPr>
            <a:r>
              <a:rPr lang="en-US" sz="2800" dirty="0">
                <a:latin typeface="Calisto MT" panose="02040603050505030304" pitchFamily="18" charset="0"/>
              </a:rPr>
              <a:t>Landslides are primarily associated with steep slopes .surface  run-off and changes in drainage also cause for land slides.</a:t>
            </a:r>
          </a:p>
          <a:p>
            <a:pPr marL="457200" indent="-457200">
              <a:buFont typeface="Wingdings" panose="05000000000000000000" pitchFamily="2" charset="2"/>
              <a:buChar char="§"/>
            </a:pPr>
            <a:r>
              <a:rPr lang="en-US" sz="2800" b="1" dirty="0">
                <a:latin typeface="Calisto MT" panose="02040603050505030304" pitchFamily="18" charset="0"/>
              </a:rPr>
              <a:t>L</a:t>
            </a:r>
            <a:r>
              <a:rPr lang="en-US" sz="2800" dirty="0">
                <a:latin typeface="Calisto MT" panose="02040603050505030304" pitchFamily="18" charset="0"/>
              </a:rPr>
              <a:t>and slides can be in</a:t>
            </a:r>
            <a:r>
              <a:rPr lang="en-IN" sz="2800" dirty="0">
                <a:latin typeface="Calisto MT" panose="02040603050505030304" pitchFamily="18" charset="0"/>
              </a:rPr>
              <a:t>itiated by rainfall , earthquakes , volcanic activity , changes in ground water movement or any combination these factors.</a:t>
            </a:r>
          </a:p>
          <a:p>
            <a:pPr marL="457200" indent="-457200">
              <a:buFont typeface="Wingdings" panose="05000000000000000000" pitchFamily="2" charset="2"/>
              <a:buChar char="§"/>
            </a:pPr>
            <a:r>
              <a:rPr lang="en-IN" sz="2800" dirty="0">
                <a:latin typeface="Calisto MT" panose="02040603050505030304" pitchFamily="18" charset="0"/>
              </a:rPr>
              <a:t>While landslides are naturally occurring environment hazard they have recently increased frequency in certain area due to human activities.</a:t>
            </a:r>
          </a:p>
          <a:p>
            <a:r>
              <a:rPr lang="en-IN" sz="2800" dirty="0">
                <a:latin typeface="Calisto MT" panose="02040603050505030304" pitchFamily="18" charset="0"/>
              </a:rPr>
              <a:t>Simply landslides can be explained in three ways :</a:t>
            </a:r>
          </a:p>
          <a:p>
            <a:pPr marL="514350" indent="-514350">
              <a:buAutoNum type="alphaLcParenR"/>
            </a:pPr>
            <a:r>
              <a:rPr lang="en-IN" sz="2800" dirty="0">
                <a:latin typeface="Calisto MT" panose="02040603050505030304" pitchFamily="18" charset="0"/>
              </a:rPr>
              <a:t>Inhertent of rocks </a:t>
            </a:r>
          </a:p>
          <a:p>
            <a:pPr marL="514350" indent="-514350">
              <a:buAutoNum type="alphaLcParenR"/>
            </a:pPr>
            <a:r>
              <a:rPr lang="en-IN" sz="2800" dirty="0">
                <a:latin typeface="Calisto MT" panose="02040603050505030304" pitchFamily="18" charset="0"/>
              </a:rPr>
              <a:t>Due to heavy seismic or volcanic activity and </a:t>
            </a:r>
          </a:p>
          <a:p>
            <a:pPr marL="514350" indent="-514350">
              <a:buAutoNum type="alphaLcParenR"/>
            </a:pPr>
            <a:r>
              <a:rPr lang="en-IN" sz="2800" dirty="0">
                <a:latin typeface="Calisto MT" panose="02040603050505030304" pitchFamily="18" charset="0"/>
              </a:rPr>
              <a:t>Due to various environmental conditions. </a:t>
            </a:r>
            <a:endParaRPr lang="en-US" sz="2800" b="1" dirty="0">
              <a:latin typeface="Calisto MT" panose="02040603050505030304" pitchFamily="18" charset="0"/>
            </a:endParaRPr>
          </a:p>
        </p:txBody>
      </p:sp>
    </p:spTree>
    <p:extLst>
      <p:ext uri="{BB962C8B-B14F-4D97-AF65-F5344CB8AC3E}">
        <p14:creationId xmlns:p14="http://schemas.microsoft.com/office/powerpoint/2010/main" val="1211360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24908F-DC28-C8D0-15D0-DBD8B050BC41}"/>
              </a:ext>
            </a:extLst>
          </p:cNvPr>
          <p:cNvSpPr txBox="1"/>
          <p:nvPr/>
        </p:nvSpPr>
        <p:spPr>
          <a:xfrm>
            <a:off x="0" y="200416"/>
            <a:ext cx="11962356" cy="584775"/>
          </a:xfrm>
          <a:prstGeom prst="rect">
            <a:avLst/>
          </a:prstGeom>
          <a:noFill/>
        </p:spPr>
        <p:txBody>
          <a:bodyPr wrap="square" rtlCol="0">
            <a:spAutoFit/>
          </a:bodyPr>
          <a:lstStyle/>
          <a:p>
            <a:pPr algn="ctr"/>
            <a:r>
              <a:rPr lang="en-US" sz="3200" dirty="0">
                <a:solidFill>
                  <a:srgbClr val="C00000"/>
                </a:solidFill>
                <a:latin typeface="Arial Black" panose="020B0A04020102020204" pitchFamily="34" charset="0"/>
              </a:rPr>
              <a:t>SOIL EROSION AND CAUSES FOR SOIL EROSION</a:t>
            </a:r>
            <a:endParaRPr lang="en-IN" sz="3200" dirty="0">
              <a:solidFill>
                <a:srgbClr val="C00000"/>
              </a:solidFill>
              <a:latin typeface="Arial Black" panose="020B0A04020102020204" pitchFamily="34" charset="0"/>
            </a:endParaRPr>
          </a:p>
        </p:txBody>
      </p:sp>
      <p:sp>
        <p:nvSpPr>
          <p:cNvPr id="3" name="TextBox 2">
            <a:extLst>
              <a:ext uri="{FF2B5EF4-FFF2-40B4-BE49-F238E27FC236}">
                <a16:creationId xmlns:a16="http://schemas.microsoft.com/office/drawing/2014/main" id="{D4C5B72C-EC95-7D4A-44FC-3D1DE8BF3679}"/>
              </a:ext>
            </a:extLst>
          </p:cNvPr>
          <p:cNvSpPr txBox="1"/>
          <p:nvPr/>
        </p:nvSpPr>
        <p:spPr>
          <a:xfrm>
            <a:off x="137786" y="908302"/>
            <a:ext cx="11824570" cy="5693866"/>
          </a:xfrm>
          <a:prstGeom prst="rect">
            <a:avLst/>
          </a:prstGeom>
          <a:noFill/>
        </p:spPr>
        <p:txBody>
          <a:bodyPr wrap="square" rtlCol="0">
            <a:spAutoFit/>
          </a:bodyPr>
          <a:lstStyle/>
          <a:p>
            <a:r>
              <a:rPr lang="en-US" sz="2800" dirty="0">
                <a:latin typeface="Calisto MT" panose="02040603050505030304" pitchFamily="18" charset="0"/>
              </a:rPr>
              <a:t>The top layer of the earth is called as soil. Soil erosion occurs due to deforestration , overgrazing , industrialization , desertification etc.</a:t>
            </a:r>
          </a:p>
          <a:p>
            <a:endParaRPr lang="en-US" sz="2800" dirty="0">
              <a:latin typeface="Calisto MT" panose="02040603050505030304" pitchFamily="18" charset="0"/>
            </a:endParaRPr>
          </a:p>
          <a:p>
            <a:pPr marL="514350" indent="-514350">
              <a:buAutoNum type="alphaLcParenR"/>
            </a:pPr>
            <a:r>
              <a:rPr lang="en-US" sz="2800" dirty="0">
                <a:latin typeface="Calisto MT" panose="02040603050505030304" pitchFamily="18" charset="0"/>
              </a:rPr>
              <a:t>Deforestration : Mining , industrial, urban development  etc causes deforestration and leads to exposure of land to wind and rains causing soil erosion ,cutting trees leads to deforestration which turn loss organic matters.</a:t>
            </a:r>
          </a:p>
          <a:p>
            <a:pPr marL="514350" indent="-514350">
              <a:buAutoNum type="alphaLcParenR"/>
            </a:pPr>
            <a:r>
              <a:rPr lang="en-US" sz="2800" dirty="0">
                <a:latin typeface="Calisto MT" panose="02040603050505030304" pitchFamily="18" charset="0"/>
              </a:rPr>
              <a:t>Overgrazing : When sufficient amount of grass is available for the organisms usually the entire land/area may be subjected to exhaust and the land is exposed without grass and ultimately the land expose to wind/rain causing soil erosion</a:t>
            </a:r>
          </a:p>
          <a:p>
            <a:pPr marL="514350" indent="-514350">
              <a:buAutoNum type="alphaLcParenR"/>
            </a:pPr>
            <a:r>
              <a:rPr lang="en-US" sz="2800" dirty="0">
                <a:latin typeface="Calisto MT" panose="02040603050505030304" pitchFamily="18" charset="0"/>
              </a:rPr>
              <a:t>Industralization : Different process carried out by industries and mining operation causes soil pollution which leads to degradation of land .    </a:t>
            </a:r>
            <a:endParaRPr lang="en-IN" sz="2800" dirty="0">
              <a:latin typeface="Calisto MT" panose="02040603050505030304" pitchFamily="18" charset="0"/>
            </a:endParaRPr>
          </a:p>
        </p:txBody>
      </p:sp>
    </p:spTree>
    <p:extLst>
      <p:ext uri="{BB962C8B-B14F-4D97-AF65-F5344CB8AC3E}">
        <p14:creationId xmlns:p14="http://schemas.microsoft.com/office/powerpoint/2010/main" val="28635324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77BF62-0C39-1BA2-627E-46FE8E572F37}"/>
              </a:ext>
            </a:extLst>
          </p:cNvPr>
          <p:cNvSpPr txBox="1"/>
          <p:nvPr/>
        </p:nvSpPr>
        <p:spPr>
          <a:xfrm>
            <a:off x="112734" y="150312"/>
            <a:ext cx="11862148" cy="707886"/>
          </a:xfrm>
          <a:prstGeom prst="rect">
            <a:avLst/>
          </a:prstGeom>
          <a:noFill/>
        </p:spPr>
        <p:txBody>
          <a:bodyPr wrap="square" rtlCol="0">
            <a:spAutoFit/>
          </a:bodyPr>
          <a:lstStyle/>
          <a:p>
            <a:pPr algn="ctr"/>
            <a:r>
              <a:rPr lang="en-US" sz="4000" dirty="0">
                <a:solidFill>
                  <a:srgbClr val="C00000"/>
                </a:solidFill>
                <a:latin typeface="Arial Black" panose="020B0A04020102020204" pitchFamily="34" charset="0"/>
              </a:rPr>
              <a:t>DESERTIFICATION</a:t>
            </a:r>
            <a:r>
              <a:rPr lang="en-US" sz="4000" dirty="0"/>
              <a:t> </a:t>
            </a:r>
            <a:endParaRPr lang="en-IN" sz="4000" dirty="0"/>
          </a:p>
        </p:txBody>
      </p:sp>
      <p:sp>
        <p:nvSpPr>
          <p:cNvPr id="3" name="TextBox 2">
            <a:extLst>
              <a:ext uri="{FF2B5EF4-FFF2-40B4-BE49-F238E27FC236}">
                <a16:creationId xmlns:a16="http://schemas.microsoft.com/office/drawing/2014/main" id="{2EA3801F-5537-78DD-0C69-6DA78006991A}"/>
              </a:ext>
            </a:extLst>
          </p:cNvPr>
          <p:cNvSpPr txBox="1"/>
          <p:nvPr/>
        </p:nvSpPr>
        <p:spPr>
          <a:xfrm>
            <a:off x="112734" y="1014608"/>
            <a:ext cx="11862148" cy="5693866"/>
          </a:xfrm>
          <a:prstGeom prst="rect">
            <a:avLst/>
          </a:prstGeom>
          <a:noFill/>
        </p:spPr>
        <p:txBody>
          <a:bodyPr wrap="square" rtlCol="0">
            <a:spAutoFit/>
          </a:bodyPr>
          <a:lstStyle/>
          <a:p>
            <a:r>
              <a:rPr lang="en-US" sz="2800" dirty="0">
                <a:latin typeface="Calisto MT" panose="02040603050505030304" pitchFamily="18" charset="0"/>
              </a:rPr>
              <a:t>Desertification is the process which turns productive into non-productive desert as a result of poor land-management .</a:t>
            </a:r>
            <a:r>
              <a:rPr lang="en-IN" sz="2800" dirty="0">
                <a:latin typeface="Calisto MT" panose="02040603050505030304" pitchFamily="18" charset="0"/>
              </a:rPr>
              <a:t> Desertification occurs mainly in semi-arid areas bordering on deserts</a:t>
            </a:r>
          </a:p>
          <a:p>
            <a:endParaRPr lang="en-IN" sz="2800" dirty="0">
              <a:latin typeface="Calisto MT" panose="02040603050505030304" pitchFamily="18" charset="0"/>
            </a:endParaRPr>
          </a:p>
          <a:p>
            <a:r>
              <a:rPr lang="en-IN" sz="3200" b="1" dirty="0">
                <a:solidFill>
                  <a:srgbClr val="C00000"/>
                </a:solidFill>
                <a:latin typeface="Calisto MT" panose="02040603050505030304" pitchFamily="18" charset="0"/>
              </a:rPr>
              <a:t>CAUSES OF DESERTIFICATION </a:t>
            </a:r>
          </a:p>
          <a:p>
            <a:endParaRPr lang="en-IN" sz="2400" dirty="0">
              <a:latin typeface="Calisto MT" panose="02040603050505030304" pitchFamily="18" charset="0"/>
            </a:endParaRPr>
          </a:p>
          <a:p>
            <a:pPr marL="342900" indent="-342900">
              <a:buFont typeface="Wingdings" panose="05000000000000000000" pitchFamily="2" charset="2"/>
              <a:buChar char="§"/>
            </a:pPr>
            <a:r>
              <a:rPr lang="en-IN" sz="2800" dirty="0">
                <a:latin typeface="Calisto MT" panose="02040603050505030304" pitchFamily="18" charset="0"/>
              </a:rPr>
              <a:t>Destruction of vegetation in arid regions , often for fuelwood</a:t>
            </a:r>
          </a:p>
          <a:p>
            <a:pPr marL="342900" indent="-342900">
              <a:buFont typeface="Wingdings" panose="05000000000000000000" pitchFamily="2" charset="2"/>
              <a:buChar char="§"/>
            </a:pPr>
            <a:r>
              <a:rPr lang="en-IN" sz="2800" dirty="0">
                <a:latin typeface="Calisto MT" panose="02040603050505030304" pitchFamily="18" charset="0"/>
              </a:rPr>
              <a:t>Poor grazing management after accidental burning of semi-arid vegetation.</a:t>
            </a:r>
          </a:p>
          <a:p>
            <a:pPr marL="342900" indent="-342900">
              <a:buFont typeface="Wingdings" panose="05000000000000000000" pitchFamily="2" charset="2"/>
              <a:buChar char="§"/>
            </a:pPr>
            <a:r>
              <a:rPr lang="en-IN" sz="2800" dirty="0">
                <a:latin typeface="Calisto MT" panose="02040603050505030304" pitchFamily="18" charset="0"/>
              </a:rPr>
              <a:t>Incorrect</a:t>
            </a:r>
            <a:r>
              <a:rPr lang="en-IN" sz="2800" b="1" dirty="0">
                <a:latin typeface="Calisto MT" panose="02040603050505030304" pitchFamily="18" charset="0"/>
              </a:rPr>
              <a:t> </a:t>
            </a:r>
            <a:r>
              <a:rPr lang="en-IN" sz="2800" dirty="0">
                <a:latin typeface="Calisto MT" panose="02040603050505030304" pitchFamily="18" charset="0"/>
              </a:rPr>
              <a:t>irrigation</a:t>
            </a:r>
            <a:r>
              <a:rPr lang="en-IN" sz="2800" b="1" dirty="0">
                <a:latin typeface="Calisto MT" panose="02040603050505030304" pitchFamily="18" charset="0"/>
              </a:rPr>
              <a:t> </a:t>
            </a:r>
            <a:r>
              <a:rPr lang="en-IN" sz="2800" dirty="0">
                <a:latin typeface="Calisto MT" panose="02040603050505030304" pitchFamily="18" charset="0"/>
              </a:rPr>
              <a:t>practice in arid area area can cause salinization,(the buildup of salts in the soil)which can prevent plant growth.</a:t>
            </a:r>
          </a:p>
          <a:p>
            <a:pPr marL="342900" indent="-342900">
              <a:buFont typeface="Wingdings" panose="05000000000000000000" pitchFamily="2" charset="2"/>
              <a:buChar char="§"/>
            </a:pPr>
            <a:r>
              <a:rPr lang="en-IN" sz="2800" dirty="0">
                <a:latin typeface="Calisto MT" panose="02040603050505030304" pitchFamily="18" charset="0"/>
              </a:rPr>
              <a:t>Cultivation of marginal lands , i.e lands on which there is a high risk of crop failure and a very low economic return , for example ,some part of South Africa where maize is growth</a:t>
            </a:r>
            <a:endParaRPr lang="en-US" sz="2800" b="1" dirty="0">
              <a:latin typeface="Calisto MT" panose="02040603050505030304" pitchFamily="18" charset="0"/>
            </a:endParaRPr>
          </a:p>
        </p:txBody>
      </p:sp>
    </p:spTree>
    <p:extLst>
      <p:ext uri="{BB962C8B-B14F-4D97-AF65-F5344CB8AC3E}">
        <p14:creationId xmlns:p14="http://schemas.microsoft.com/office/powerpoint/2010/main" val="29897697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CBCEF8-DE69-5359-B151-99EF9088EB71}"/>
              </a:ext>
            </a:extLst>
          </p:cNvPr>
          <p:cNvSpPr txBox="1"/>
          <p:nvPr/>
        </p:nvSpPr>
        <p:spPr>
          <a:xfrm>
            <a:off x="212834" y="1074338"/>
            <a:ext cx="11414235" cy="5755422"/>
          </a:xfrm>
          <a:prstGeom prst="rect">
            <a:avLst/>
          </a:prstGeom>
          <a:noFill/>
        </p:spPr>
        <p:txBody>
          <a:bodyPr wrap="square" rtlCol="0">
            <a:spAutoFit/>
          </a:bodyPr>
          <a:lstStyle/>
          <a:p>
            <a:r>
              <a:rPr lang="en-US" sz="2800" dirty="0">
                <a:latin typeface="Calisto MT" panose="02040603050505030304" pitchFamily="18" charset="0"/>
              </a:rPr>
              <a:t>Different natural resources like forests, water, soil, food, mineral and energy resources play a vital role in the development of a nation</a:t>
            </a:r>
          </a:p>
          <a:p>
            <a:pPr marL="971550" lvl="1" indent="-514350">
              <a:buAutoNum type="alphaLcParenR"/>
            </a:pPr>
            <a:endParaRPr lang="en-US" sz="2400" dirty="0">
              <a:latin typeface="Calisto MT" panose="02040603050505030304" pitchFamily="18" charset="0"/>
            </a:endParaRPr>
          </a:p>
          <a:p>
            <a:pPr marL="971550" lvl="1" indent="-514350">
              <a:buAutoNum type="alphaLcParenR"/>
            </a:pPr>
            <a:r>
              <a:rPr lang="en-US" sz="2400" b="1" dirty="0">
                <a:latin typeface="Calisto MT" panose="02040603050505030304" pitchFamily="18" charset="0"/>
              </a:rPr>
              <a:t>Conserve Water:</a:t>
            </a:r>
          </a:p>
          <a:p>
            <a:pPr marL="457200" indent="-457200">
              <a:buAutoNum type="arabicPeriod"/>
            </a:pPr>
            <a:r>
              <a:rPr lang="en-US" sz="2400" dirty="0">
                <a:latin typeface="Calisto MT" panose="02040603050505030304" pitchFamily="18" charset="0"/>
              </a:rPr>
              <a:t>Don’t keep water taps running while brushing, shaving, washing or bathing.</a:t>
            </a:r>
          </a:p>
          <a:p>
            <a:pPr marL="457200" indent="-457200">
              <a:buAutoNum type="arabicPeriod"/>
            </a:pPr>
            <a:r>
              <a:rPr lang="en-US" sz="2400" dirty="0">
                <a:latin typeface="Calisto MT" panose="02040603050505030304" pitchFamily="18" charset="0"/>
              </a:rPr>
              <a:t>Install a system to capture rain water.</a:t>
            </a:r>
          </a:p>
          <a:p>
            <a:pPr marL="457200" indent="-457200">
              <a:buAutoNum type="arabicPeriod"/>
            </a:pPr>
            <a:r>
              <a:rPr lang="en-US" sz="2400" dirty="0">
                <a:latin typeface="Calisto MT" panose="02040603050505030304" pitchFamily="18" charset="0"/>
              </a:rPr>
              <a:t>Install water saving toilets that use not more than 6 liters per flush.</a:t>
            </a:r>
          </a:p>
          <a:p>
            <a:pPr marL="457200" indent="-457200">
              <a:buAutoNum type="arabicPeriod"/>
            </a:pPr>
            <a:endParaRPr lang="en-US" sz="2400" dirty="0">
              <a:latin typeface="Calisto MT" panose="02040603050505030304" pitchFamily="18" charset="0"/>
            </a:endParaRPr>
          </a:p>
          <a:p>
            <a:r>
              <a:rPr lang="en-US" sz="2400" b="1" dirty="0">
                <a:latin typeface="Calisto MT" panose="02040603050505030304" pitchFamily="18" charset="0"/>
              </a:rPr>
              <a:t>        b) Conserve Energy:</a:t>
            </a:r>
          </a:p>
          <a:p>
            <a:pPr marL="457200" indent="-457200">
              <a:buAutoNum type="arabicPeriod"/>
            </a:pPr>
            <a:r>
              <a:rPr lang="en-US" sz="2400" dirty="0">
                <a:latin typeface="Calisto MT" panose="02040603050505030304" pitchFamily="18" charset="0"/>
              </a:rPr>
              <a:t>Turn off lights, fans and other appliances when not in use. </a:t>
            </a:r>
          </a:p>
          <a:p>
            <a:pPr marL="457200" indent="-457200">
              <a:buAutoNum type="arabicPeriod"/>
            </a:pPr>
            <a:r>
              <a:rPr lang="en-US" sz="2400" dirty="0">
                <a:latin typeface="Calisto MT" panose="02040603050505030304" pitchFamily="18" charset="0"/>
              </a:rPr>
              <a:t>Control the use of A.C.</a:t>
            </a:r>
          </a:p>
          <a:p>
            <a:pPr marL="457200" indent="-457200">
              <a:buAutoNum type="arabicPeriod"/>
            </a:pPr>
            <a:r>
              <a:rPr lang="en-US" sz="2400" dirty="0">
                <a:latin typeface="Calisto MT" panose="02040603050505030304" pitchFamily="18" charset="0"/>
              </a:rPr>
              <a:t>Recycle and reuse glass, metals and papers.</a:t>
            </a:r>
          </a:p>
          <a:p>
            <a:pPr marL="457200" indent="-457200">
              <a:buAutoNum type="arabicPeriod"/>
            </a:pPr>
            <a:endParaRPr lang="en-US" sz="2400" dirty="0">
              <a:latin typeface="Calisto MT" panose="02040603050505030304" pitchFamily="18" charset="0"/>
            </a:endParaRPr>
          </a:p>
          <a:p>
            <a:pPr marL="457200" indent="-457200">
              <a:buAutoNum type="arabicPeriod"/>
            </a:pPr>
            <a:endParaRPr lang="en-US" sz="2400" dirty="0">
              <a:latin typeface="Calisto MT" panose="02040603050505030304" pitchFamily="18" charset="0"/>
            </a:endParaRPr>
          </a:p>
          <a:p>
            <a:pPr marL="457200" indent="-457200">
              <a:buAutoNum type="arabicPeriod"/>
            </a:pPr>
            <a:endParaRPr lang="en-IN" sz="2400" dirty="0"/>
          </a:p>
        </p:txBody>
      </p:sp>
      <p:sp>
        <p:nvSpPr>
          <p:cNvPr id="3" name="TextBox 2">
            <a:extLst>
              <a:ext uri="{FF2B5EF4-FFF2-40B4-BE49-F238E27FC236}">
                <a16:creationId xmlns:a16="http://schemas.microsoft.com/office/drawing/2014/main" id="{CCF23CC6-DDE8-30CD-77F3-0B9C2D1B5ADC}"/>
              </a:ext>
            </a:extLst>
          </p:cNvPr>
          <p:cNvSpPr txBox="1"/>
          <p:nvPr/>
        </p:nvSpPr>
        <p:spPr>
          <a:xfrm>
            <a:off x="110359" y="204952"/>
            <a:ext cx="11619186" cy="954107"/>
          </a:xfrm>
          <a:prstGeom prst="rect">
            <a:avLst/>
          </a:prstGeom>
          <a:noFill/>
        </p:spPr>
        <p:txBody>
          <a:bodyPr wrap="square" rtlCol="0">
            <a:spAutoFit/>
          </a:bodyPr>
          <a:lstStyle/>
          <a:p>
            <a:r>
              <a:rPr lang="en-US" sz="2800" dirty="0">
                <a:solidFill>
                  <a:srgbClr val="C00000"/>
                </a:solidFill>
                <a:latin typeface="Arial Black" panose="020B0A04020102020204" pitchFamily="34" charset="0"/>
              </a:rPr>
              <a:t>ROLE OF AN INDIVIDUAL CONSERVATION OF NATURAL RESOURCES</a:t>
            </a:r>
            <a:endParaRPr lang="en-IN" sz="2800" dirty="0">
              <a:solidFill>
                <a:srgbClr val="C00000"/>
              </a:solidFill>
              <a:latin typeface="Arial Black" panose="020B0A04020102020204" pitchFamily="34" charset="0"/>
            </a:endParaRPr>
          </a:p>
        </p:txBody>
      </p:sp>
    </p:spTree>
    <p:extLst>
      <p:ext uri="{BB962C8B-B14F-4D97-AF65-F5344CB8AC3E}">
        <p14:creationId xmlns:p14="http://schemas.microsoft.com/office/powerpoint/2010/main" val="2613934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80D2F1-A584-8196-3C3D-54FCA38CAAB1}"/>
              </a:ext>
            </a:extLst>
          </p:cNvPr>
          <p:cNvSpPr txBox="1"/>
          <p:nvPr/>
        </p:nvSpPr>
        <p:spPr>
          <a:xfrm>
            <a:off x="488515" y="225468"/>
            <a:ext cx="11536471" cy="646331"/>
          </a:xfrm>
          <a:prstGeom prst="rect">
            <a:avLst/>
          </a:prstGeom>
          <a:noFill/>
        </p:spPr>
        <p:txBody>
          <a:bodyPr wrap="square" rtlCol="0">
            <a:spAutoFit/>
          </a:bodyPr>
          <a:lstStyle/>
          <a:p>
            <a:r>
              <a:rPr lang="en-US" sz="3600" dirty="0">
                <a:solidFill>
                  <a:srgbClr val="C00000"/>
                </a:solidFill>
                <a:latin typeface="Arial Black" panose="020B0A04020102020204" pitchFamily="34" charset="0"/>
              </a:rPr>
              <a:t>EFFECTS OF DESERTIFICATION </a:t>
            </a:r>
            <a:endParaRPr lang="en-IN" sz="3600" dirty="0">
              <a:solidFill>
                <a:srgbClr val="C00000"/>
              </a:solidFill>
              <a:latin typeface="Arial Black" panose="020B0A04020102020204" pitchFamily="34" charset="0"/>
            </a:endParaRPr>
          </a:p>
        </p:txBody>
      </p:sp>
      <p:sp>
        <p:nvSpPr>
          <p:cNvPr id="3" name="TextBox 2">
            <a:extLst>
              <a:ext uri="{FF2B5EF4-FFF2-40B4-BE49-F238E27FC236}">
                <a16:creationId xmlns:a16="http://schemas.microsoft.com/office/drawing/2014/main" id="{6596E811-9BE4-F75F-56C0-D81D9812D8FC}"/>
              </a:ext>
            </a:extLst>
          </p:cNvPr>
          <p:cNvSpPr txBox="1"/>
          <p:nvPr/>
        </p:nvSpPr>
        <p:spPr>
          <a:xfrm>
            <a:off x="212940" y="989556"/>
            <a:ext cx="11686785" cy="5970865"/>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Calisto MT" panose="02040603050505030304" pitchFamily="18" charset="0"/>
              </a:rPr>
              <a:t>Sand and dust storms</a:t>
            </a:r>
          </a:p>
          <a:p>
            <a:pPr marL="342900" indent="-342900">
              <a:buFont typeface="Arial" panose="020B0604020202020204" pitchFamily="34" charset="0"/>
              <a:buChar char="•"/>
            </a:pPr>
            <a:r>
              <a:rPr lang="en-US" sz="2800" dirty="0">
                <a:latin typeface="Calisto MT" panose="02040603050505030304" pitchFamily="18" charset="0"/>
              </a:rPr>
              <a:t>Food insecurity</a:t>
            </a:r>
          </a:p>
          <a:p>
            <a:pPr marL="342900" indent="-342900">
              <a:buFont typeface="Arial" panose="020B0604020202020204" pitchFamily="34" charset="0"/>
              <a:buChar char="•"/>
            </a:pPr>
            <a:r>
              <a:rPr lang="en-US" sz="2800" dirty="0">
                <a:latin typeface="Calisto MT" panose="02040603050505030304" pitchFamily="18" charset="0"/>
              </a:rPr>
              <a:t>Poverty</a:t>
            </a:r>
          </a:p>
          <a:p>
            <a:pPr marL="342900" indent="-342900">
              <a:buFont typeface="Arial" panose="020B0604020202020204" pitchFamily="34" charset="0"/>
              <a:buChar char="•"/>
            </a:pPr>
            <a:r>
              <a:rPr lang="en-US" sz="2800" dirty="0">
                <a:latin typeface="Calisto MT" panose="02040603050505030304" pitchFamily="18" charset="0"/>
              </a:rPr>
              <a:t>Aggravation of existing economic, social, and environmental problems</a:t>
            </a:r>
          </a:p>
          <a:p>
            <a:pPr marL="342900" indent="-342900">
              <a:buFont typeface="Arial" panose="020B0604020202020204" pitchFamily="34" charset="0"/>
              <a:buChar char="•"/>
            </a:pPr>
            <a:r>
              <a:rPr lang="en-US" sz="2800" dirty="0">
                <a:latin typeface="Calisto MT" panose="02040603050505030304" pitchFamily="18" charset="0"/>
              </a:rPr>
              <a:t>Malnutrition from reduced food and water supplies</a:t>
            </a:r>
          </a:p>
          <a:p>
            <a:pPr marL="342900" indent="-342900">
              <a:buFont typeface="Arial" panose="020B0604020202020204" pitchFamily="34" charset="0"/>
              <a:buChar char="•"/>
            </a:pPr>
            <a:r>
              <a:rPr lang="en-US" sz="2800" dirty="0">
                <a:latin typeface="Calisto MT" panose="02040603050505030304" pitchFamily="18" charset="0"/>
              </a:rPr>
              <a:t>Water- and food-borne diseases</a:t>
            </a:r>
          </a:p>
          <a:p>
            <a:pPr marL="342900" indent="-342900">
              <a:buFont typeface="Arial" panose="020B0604020202020204" pitchFamily="34" charset="0"/>
              <a:buChar char="•"/>
            </a:pPr>
            <a:r>
              <a:rPr lang="en-US" sz="2800" dirty="0">
                <a:latin typeface="Calisto MT" panose="02040603050505030304" pitchFamily="18" charset="0"/>
              </a:rPr>
              <a:t>Respiratory diseases caused by atmosphere c dust</a:t>
            </a:r>
          </a:p>
          <a:p>
            <a:pPr marL="342900" indent="-342900">
              <a:buFont typeface="Arial" panose="020B0604020202020204" pitchFamily="34" charset="0"/>
              <a:buChar char="•"/>
            </a:pPr>
            <a:r>
              <a:rPr lang="en-US" sz="2800" dirty="0">
                <a:latin typeface="Calisto MT" panose="02040603050505030304" pitchFamily="18" charset="0"/>
              </a:rPr>
              <a:t>Spread of infectious diseases as populations migrate</a:t>
            </a:r>
          </a:p>
          <a:p>
            <a:pPr marL="342900" indent="-342900">
              <a:buFont typeface="Arial" panose="020B0604020202020204" pitchFamily="34" charset="0"/>
              <a:buChar char="•"/>
            </a:pPr>
            <a:r>
              <a:rPr lang="en-US" sz="2800" dirty="0">
                <a:latin typeface="Calisto MT" panose="02040603050505030304" pitchFamily="18" charset="0"/>
              </a:rPr>
              <a:t>Deforestation</a:t>
            </a:r>
          </a:p>
          <a:p>
            <a:pPr marL="342900" indent="-342900">
              <a:buFont typeface="Arial" panose="020B0604020202020204" pitchFamily="34" charset="0"/>
              <a:buChar char="•"/>
            </a:pPr>
            <a:r>
              <a:rPr lang="en-US" sz="2800" dirty="0">
                <a:latin typeface="Calisto MT" panose="02040603050505030304" pitchFamily="18" charset="0"/>
              </a:rPr>
              <a:t>Water and air pollution</a:t>
            </a:r>
          </a:p>
          <a:p>
            <a:pPr marL="342900" indent="-342900">
              <a:buFont typeface="Arial" panose="020B0604020202020204" pitchFamily="34" charset="0"/>
              <a:buChar char="•"/>
            </a:pPr>
            <a:r>
              <a:rPr lang="en-US" sz="2800" dirty="0">
                <a:latin typeface="Calisto MT" panose="02040603050505030304" pitchFamily="18" charset="0"/>
              </a:rPr>
              <a:t>Soil erosion</a:t>
            </a:r>
          </a:p>
          <a:p>
            <a:pPr marL="342900" indent="-342900">
              <a:buFont typeface="Arial" panose="020B0604020202020204" pitchFamily="34" charset="0"/>
              <a:buChar char="•"/>
            </a:pPr>
            <a:r>
              <a:rPr lang="en-US" sz="2800" dirty="0">
                <a:latin typeface="Calisto MT" panose="02040603050505030304" pitchFamily="18" charset="0"/>
              </a:rPr>
              <a:t>Increased dust</a:t>
            </a:r>
          </a:p>
          <a:p>
            <a:pPr marL="342900" indent="-342900">
              <a:buFont typeface="Arial" panose="020B0604020202020204" pitchFamily="34" charset="0"/>
              <a:buChar char="•"/>
            </a:pPr>
            <a:r>
              <a:rPr lang="en-US" sz="2800" dirty="0">
                <a:latin typeface="Calisto MT" panose="02040603050505030304" pitchFamily="18" charset="0"/>
              </a:rPr>
              <a:t>Greenhouse gas emissions</a:t>
            </a:r>
          </a:p>
          <a:p>
            <a:endParaRPr lang="en-IN" b="1" dirty="0"/>
          </a:p>
        </p:txBody>
      </p:sp>
      <p:sp>
        <p:nvSpPr>
          <p:cNvPr id="4" name="TextBox 3">
            <a:extLst>
              <a:ext uri="{FF2B5EF4-FFF2-40B4-BE49-F238E27FC236}">
                <a16:creationId xmlns:a16="http://schemas.microsoft.com/office/drawing/2014/main" id="{1B5B8B23-3610-4057-6FD1-BE27C252A6C4}"/>
              </a:ext>
            </a:extLst>
          </p:cNvPr>
          <p:cNvSpPr txBox="1"/>
          <p:nvPr/>
        </p:nvSpPr>
        <p:spPr>
          <a:xfrm>
            <a:off x="1177447" y="1327759"/>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29121664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8BD510-3B17-B77D-F574-8A72F95F65E3}"/>
              </a:ext>
            </a:extLst>
          </p:cNvPr>
          <p:cNvSpPr txBox="1"/>
          <p:nvPr/>
        </p:nvSpPr>
        <p:spPr>
          <a:xfrm>
            <a:off x="157655" y="0"/>
            <a:ext cx="10515600" cy="6986528"/>
          </a:xfrm>
          <a:prstGeom prst="rect">
            <a:avLst/>
          </a:prstGeom>
          <a:noFill/>
        </p:spPr>
        <p:txBody>
          <a:bodyPr wrap="square" rtlCol="0">
            <a:spAutoFit/>
          </a:bodyPr>
          <a:lstStyle/>
          <a:p>
            <a:r>
              <a:rPr lang="en-US" sz="2800" dirty="0">
                <a:solidFill>
                  <a:srgbClr val="C00000"/>
                </a:solidFill>
                <a:latin typeface="Arial Black" panose="020B0A04020102020204" pitchFamily="34" charset="0"/>
              </a:rPr>
              <a:t>Protect the Soil:</a:t>
            </a:r>
          </a:p>
          <a:p>
            <a:pPr marL="342900" indent="-342900">
              <a:buAutoNum type="arabicPeriod"/>
            </a:pPr>
            <a:r>
              <a:rPr lang="en-US" sz="2800" dirty="0">
                <a:latin typeface="Calisto MT" panose="02040603050505030304" pitchFamily="18" charset="0"/>
              </a:rPr>
              <a:t>Grow different types of ornamental plants, herbs and trees in your garden. Grow grass in the open areas which will bind the soil and prevent its erosion.</a:t>
            </a:r>
          </a:p>
          <a:p>
            <a:pPr marL="342900" indent="-342900">
              <a:buAutoNum type="arabicPeriod"/>
            </a:pPr>
            <a:r>
              <a:rPr lang="en-US" sz="2800" dirty="0">
                <a:latin typeface="Calisto MT" panose="02040603050505030304" pitchFamily="18" charset="0"/>
              </a:rPr>
              <a:t>Make compost from your kitchen waste and use it for your kitchen-garden.</a:t>
            </a:r>
          </a:p>
          <a:p>
            <a:pPr marL="342900" indent="-342900">
              <a:buAutoNum type="arabicPeriod"/>
            </a:pPr>
            <a:r>
              <a:rPr lang="en-US" sz="2800" dirty="0">
                <a:latin typeface="Calisto MT" panose="02040603050505030304" pitchFamily="18" charset="0"/>
              </a:rPr>
              <a:t>Do not irrigate the plants using a strong flow of water as it would wash off the soil.</a:t>
            </a:r>
          </a:p>
          <a:p>
            <a:pPr marL="342900" indent="-342900">
              <a:buAutoNum type="arabicPeriod"/>
            </a:pPr>
            <a:r>
              <a:rPr lang="en-US" sz="2800" dirty="0">
                <a:latin typeface="Calisto MT" panose="02040603050505030304" pitchFamily="18" charset="0"/>
              </a:rPr>
              <a:t>Better use sprinkling irrigation.</a:t>
            </a:r>
          </a:p>
          <a:p>
            <a:pPr marL="342900" indent="-342900">
              <a:buAutoNum type="arabicPeriod"/>
            </a:pPr>
            <a:endParaRPr lang="en-US" sz="2800" dirty="0"/>
          </a:p>
          <a:p>
            <a:r>
              <a:rPr lang="en-US" sz="2800" dirty="0">
                <a:solidFill>
                  <a:srgbClr val="C00000"/>
                </a:solidFill>
                <a:latin typeface="Arial Black" panose="020B0A04020102020204" pitchFamily="34" charset="0"/>
              </a:rPr>
              <a:t>Promote Sustainable Agriculture:</a:t>
            </a:r>
          </a:p>
          <a:p>
            <a:r>
              <a:rPr lang="en-US" sz="2800" dirty="0"/>
              <a:t>1</a:t>
            </a:r>
            <a:r>
              <a:rPr lang="en-US" sz="2800" dirty="0">
                <a:latin typeface="Calisto MT" panose="02040603050505030304" pitchFamily="18" charset="0"/>
              </a:rPr>
              <a:t>. Do not waste food; Take as much as you can eat.</a:t>
            </a:r>
          </a:p>
          <a:p>
            <a:r>
              <a:rPr lang="en-US" sz="2800" dirty="0">
                <a:latin typeface="Calisto MT" panose="02040603050505030304" pitchFamily="18" charset="0"/>
              </a:rPr>
              <a:t>2. Reduce the use of pesticides.</a:t>
            </a:r>
          </a:p>
          <a:p>
            <a:r>
              <a:rPr lang="en-US" sz="2800" dirty="0">
                <a:latin typeface="Calisto MT" panose="02040603050505030304" pitchFamily="18" charset="0"/>
              </a:rPr>
              <a:t>3. Fertilize your crop with organic fertilizers.</a:t>
            </a:r>
          </a:p>
          <a:p>
            <a:r>
              <a:rPr lang="en-US" sz="2800" dirty="0">
                <a:latin typeface="Calisto MT" panose="02040603050505030304" pitchFamily="18" charset="0"/>
              </a:rPr>
              <a:t>4. Use drip irrigation.</a:t>
            </a:r>
          </a:p>
          <a:p>
            <a:r>
              <a:rPr lang="en-US" sz="2800" dirty="0">
                <a:latin typeface="Calisto MT" panose="02040603050505030304" pitchFamily="18" charset="0"/>
              </a:rPr>
              <a:t>5. Eat local and seasonal vegetables</a:t>
            </a:r>
            <a:r>
              <a:rPr lang="en-US" sz="2800" dirty="0"/>
              <a:t>.</a:t>
            </a:r>
          </a:p>
        </p:txBody>
      </p:sp>
    </p:spTree>
    <p:extLst>
      <p:ext uri="{BB962C8B-B14F-4D97-AF65-F5344CB8AC3E}">
        <p14:creationId xmlns:p14="http://schemas.microsoft.com/office/powerpoint/2010/main" val="484822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524</TotalTime>
  <Words>7601</Words>
  <Application>Microsoft Office PowerPoint</Application>
  <PresentationFormat>Widescreen</PresentationFormat>
  <Paragraphs>591</Paragraphs>
  <Slides>76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76</vt:i4>
      </vt:variant>
    </vt:vector>
  </HeadingPairs>
  <TitlesOfParts>
    <vt:vector size="86" baseType="lpstr">
      <vt:lpstr>Arial</vt:lpstr>
      <vt:lpstr>Arial Black</vt:lpstr>
      <vt:lpstr>Arial Rounded MT Bold</vt:lpstr>
      <vt:lpstr>Bodoni MT Black</vt:lpstr>
      <vt:lpstr>Calibri</vt:lpstr>
      <vt:lpstr>Calibri Light</vt:lpstr>
      <vt:lpstr>Calisto MT</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FOREST  RESOURCES</vt:lpstr>
      <vt:lpstr>FOREST RESOURCES </vt:lpstr>
      <vt:lpstr>USES OF FORESTS :</vt:lpstr>
      <vt:lpstr>PowerPoint Presentation</vt:lpstr>
      <vt:lpstr>OVER EXPLOITATION OF FORESTS</vt:lpstr>
      <vt:lpstr>DEFORESTATION : </vt:lpstr>
      <vt:lpstr>PowerPoint Presentation</vt:lpstr>
      <vt:lpstr>PowerPoint Presentation</vt:lpstr>
      <vt:lpstr>DAMS AND OTHER EFFECTS ON FOREST AND TRIBAL PEOPLE </vt:lpstr>
      <vt:lpstr>WATER  RESOURCES </vt:lpstr>
      <vt:lpstr>WATER RESOURCES :</vt:lpstr>
      <vt:lpstr>OVER UTILIZATION OF GROUND WATER AND SURFACE WATER :</vt:lpstr>
      <vt:lpstr>PowerPoint Presentation</vt:lpstr>
      <vt:lpstr>USES OF WATER RESOURCES :</vt:lpstr>
      <vt:lpstr> FLOOD</vt:lpstr>
      <vt:lpstr>CONFLICTS OVER WATER</vt:lpstr>
      <vt:lpstr>DAMS BENEFITS AND PROBLEMS </vt:lpstr>
      <vt:lpstr>DAMS BENEFITS AND PROBLEMS</vt:lpstr>
      <vt:lpstr>DAMS BENEFITS AND PROBLEMS</vt:lpstr>
      <vt:lpstr>PowerPoint Presentation</vt:lpstr>
      <vt:lpstr>MINERAL RESOURCES</vt:lpstr>
      <vt:lpstr>MINERAL RESOURCES </vt:lpstr>
      <vt:lpstr>USES OF MINERALS </vt:lpstr>
      <vt:lpstr>MINING AND ITS PROCESS:</vt:lpstr>
      <vt:lpstr>TYPES OF MINING </vt:lpstr>
      <vt:lpstr>SURFACE MINING </vt:lpstr>
      <vt:lpstr>UNDERGROUND MINING </vt:lpstr>
      <vt:lpstr>PowerPoint Presentation</vt:lpstr>
      <vt:lpstr>ENVIRONMENTAL EFFECTS </vt:lpstr>
      <vt:lpstr>Environmental effects </vt:lpstr>
      <vt:lpstr>FOOD RESOURCES </vt:lpstr>
      <vt:lpstr>DEFINITION OF FOOD RESOURCES</vt:lpstr>
      <vt:lpstr>WORLD FOOD PROBLEMS</vt:lpstr>
      <vt:lpstr>CHANGES CAUSED BY AGRICULTURE</vt:lpstr>
      <vt:lpstr>PowerPoint Presentation</vt:lpstr>
      <vt:lpstr>MODERN AND INDUSTRIALIZED FARMING</vt:lpstr>
      <vt:lpstr>PowerPoint Presentation</vt:lpstr>
      <vt:lpstr>PROBLEMS WITH MODERN FARMING</vt:lpstr>
      <vt:lpstr>WATER LOGGING</vt:lpstr>
      <vt:lpstr>SALINITY</vt:lpstr>
      <vt:lpstr>CHANGES CAUSED BY OVERGAZING</vt:lpstr>
      <vt:lpstr>ENERGY RESOURCES </vt:lpstr>
      <vt:lpstr>PowerPoint Presentation</vt:lpstr>
      <vt:lpstr>GROWING ENERGY NEEDS</vt:lpstr>
      <vt:lpstr>USES OF ENERGY</vt:lpstr>
      <vt:lpstr>TYPES OF ENERGY </vt:lpstr>
      <vt:lpstr>NON-RENEWABLE ENERGY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Sindhu Shree</dc:creator>
  <cp:lastModifiedBy>shreyas mamatha</cp:lastModifiedBy>
  <cp:revision>4</cp:revision>
  <dcterms:created xsi:type="dcterms:W3CDTF">2025-10-07T13:08:51Z</dcterms:created>
  <dcterms:modified xsi:type="dcterms:W3CDTF">2025-10-14T15:41:21Z</dcterms:modified>
</cp:coreProperties>
</file>